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13478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78640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33508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06039" y="122136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83279" y="23477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221657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59" y="268946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92231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6574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69479" y="79691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121133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23960" y="18405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10896" y="115216"/>
            <a:ext cx="777240" cy="13483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88136" y="115216"/>
            <a:ext cx="777240" cy="5486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65376" y="158712"/>
            <a:ext cx="777239" cy="1137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42615" y="158712"/>
            <a:ext cx="777240" cy="112639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19855" y="258233"/>
            <a:ext cx="777241" cy="1311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97096" y="258233"/>
            <a:ext cx="777239" cy="47289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74335" y="128807"/>
            <a:ext cx="777241" cy="176715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51576" y="128807"/>
            <a:ext cx="777240" cy="73514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28816" y="116267"/>
            <a:ext cx="777239" cy="86054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055" y="116267"/>
            <a:ext cx="777241" cy="4144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83296" y="157709"/>
            <a:ext cx="777240" cy="6292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0896" y="170084"/>
            <a:ext cx="1554480" cy="79970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170084"/>
            <a:ext cx="1554479" cy="101267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97096" y="128807"/>
            <a:ext cx="1554480" cy="129426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51576" y="116267"/>
            <a:ext cx="1554479" cy="12540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06055" y="116267"/>
            <a:ext cx="1554481" cy="104364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-149960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19" y="6175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-136369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-107467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585216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98932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12648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26364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53796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114800" y="2743200"/>
            <a:ext cx="914400" cy="54864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0" y="2377440"/>
            <a:ext cx="137160" cy="137160"/>
          </a:xfrm>
          <a:prstGeom prst="rect">
            <a:avLst/>
          </a:prstGeom>
          <a:solidFill>
            <a:srgbClr val="00D9FF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0" y="2377440"/>
            <a:ext cx="137160" cy="137160"/>
          </a:xfrm>
          <a:prstGeom prst="rect">
            <a:avLst/>
          </a:prstGeom>
          <a:solidFill>
            <a:srgbClr val="00D9FF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0" y="3108960"/>
            <a:ext cx="137160" cy="137160"/>
          </a:xfrm>
          <a:prstGeom prst="rect">
            <a:avLst/>
          </a:prstGeom>
          <a:solidFill>
            <a:srgbClr val="00D9FF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46320" y="3108960"/>
            <a:ext cx="137160" cy="137160"/>
          </a:xfrm>
          <a:prstGeom prst="rect">
            <a:avLst/>
          </a:prstGeom>
          <a:solidFill>
            <a:srgbClr val="00D9FF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20" y="2606040"/>
            <a:ext cx="18288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39" y="219456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D9FF"/>
                </a:solidFill>
                <a:latin typeface="Consolas"/>
              </a:defRPr>
            </a:pPr>
            <a:r>
              <a:t>ROTOR-1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219456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D9FF"/>
                </a:solidFill>
                <a:latin typeface="Consolas"/>
              </a:defRPr>
            </a:pPr>
            <a:r>
              <a:t>ROTOR-2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338328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D9FF"/>
                </a:solidFill>
                <a:latin typeface="Consolas"/>
              </a:defRPr>
            </a:pPr>
            <a:r>
              <a:t>ROTOR-3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3383280"/>
            <a:ext cx="457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00D9FF"/>
                </a:solidFill>
                <a:latin typeface="Consolas"/>
              </a:defRPr>
            </a:pPr>
            <a:r>
              <a:t>ROTOR-4</a:t>
            </a:r>
          </a:p>
        </p:txBody>
      </p:sp>
      <p:sp>
        <p:nvSpPr>
          <p:cNvPr id="50" name="Smiley Face 49"/>
          <p:cNvSpPr/>
          <p:nvPr/>
        </p:nvSpPr>
        <p:spPr>
          <a:xfrm>
            <a:off x="3474720" y="1097280"/>
            <a:ext cx="2194560" cy="1097280"/>
          </a:xfrm>
          <a:prstGeom prst="smileyFace">
            <a:avLst/>
          </a:prstGeom>
          <a:solidFill>
            <a:srgbClr val="004D66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CLOUD</a:t>
            </a:r>
          </a:p>
          <a:p>
            <a:pPr algn="ctr">
              <a:defRPr sz="800">
                <a:solidFill>
                  <a:srgbClr val="00D9FF"/>
                </a:solidFill>
                <a:latin typeface="Courier New"/>
              </a:defRPr>
            </a:pPr>
            <a:r>
              <a:t>01010110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297680" y="2194560"/>
            <a:ext cx="0" cy="548640"/>
          </a:xfrm>
          <a:prstGeom prst="line">
            <a:avLst/>
          </a:prstGeom>
          <a:ln w="19050">
            <a:solidFill>
              <a:srgbClr val="00D9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0" y="2194560"/>
            <a:ext cx="0" cy="548640"/>
          </a:xfrm>
          <a:prstGeom prst="line">
            <a:avLst/>
          </a:prstGeom>
          <a:ln w="19050">
            <a:solidFill>
              <a:srgbClr val="00D9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846320" y="2194560"/>
            <a:ext cx="0" cy="548640"/>
          </a:xfrm>
          <a:prstGeom prst="line">
            <a:avLst/>
          </a:prstGeom>
          <a:ln w="19050">
            <a:solidFill>
              <a:srgbClr val="00D9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57200" y="4754880"/>
            <a:ext cx="548640" cy="16459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94944" y="466344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88720" y="4389120"/>
            <a:ext cx="457200" cy="20116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80744" y="429768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8800" y="5029200"/>
            <a:ext cx="365760" cy="13716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75104" y="493776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0" y="4572000"/>
            <a:ext cx="640080" cy="18288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41464" y="448056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0960" y="4846320"/>
            <a:ext cx="457200" cy="155448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72984" y="475488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12480" y="5120640"/>
            <a:ext cx="365760" cy="128016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58784" y="5029200"/>
            <a:ext cx="73152" cy="73152"/>
          </a:xfrm>
          <a:prstGeom prst="ellipse">
            <a:avLst/>
          </a:prstGeom>
          <a:solidFill>
            <a:srgbClr val="00D9FF"/>
          </a:solidFill>
          <a:ln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731520" y="4389120"/>
            <a:ext cx="685800" cy="365760"/>
          </a:xfrm>
          <a:prstGeom prst="line">
            <a:avLst/>
          </a:prstGeom>
          <a:ln w="1270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417320" y="4389120"/>
            <a:ext cx="594360" cy="640080"/>
          </a:xfrm>
          <a:prstGeom prst="line">
            <a:avLst/>
          </a:prstGeom>
          <a:ln w="1270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178040" y="4572000"/>
            <a:ext cx="731520" cy="274320"/>
          </a:xfrm>
          <a:prstGeom prst="line">
            <a:avLst/>
          </a:prstGeom>
          <a:ln w="1270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909560" y="4846320"/>
            <a:ext cx="685800" cy="274320"/>
          </a:xfrm>
          <a:prstGeom prst="line">
            <a:avLst/>
          </a:prstGeom>
          <a:ln w="1270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371600" y="3291840"/>
            <a:ext cx="2926080" cy="1737360"/>
          </a:xfrm>
          <a:prstGeom prst="bentConnector3">
            <a:avLst/>
          </a:prstGeom>
          <a:ln w="1524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846320" y="3291840"/>
            <a:ext cx="2926080" cy="2011680"/>
          </a:xfrm>
          <a:prstGeom prst="bentConnector3">
            <a:avLst/>
          </a:prstGeom>
          <a:ln w="1524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SkyMind: بهینه‌سازی تخلیه محاسباتی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در شبکه‌های پهپادی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D9FF"/>
                </a:solidFill>
              </a:defRPr>
            </a:pPr>
            <a:r>
              <a:t>رویکردی نوین با استفاده از یادگیری تقویتی چندعامله (MADDPG)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0" y="6309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دفاع پایان‌نامه کارشناسی ارشد | [نام دانشجو]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13478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78640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33508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06039" y="122136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83279" y="23477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221657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59" y="268946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92231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6574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69479" y="79691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121133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23960" y="184055"/>
            <a:ext cx="73152" cy="7315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10896" y="115216"/>
            <a:ext cx="777240" cy="13483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88136" y="115216"/>
            <a:ext cx="777240" cy="5486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65376" y="158712"/>
            <a:ext cx="777239" cy="1137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42615" y="158712"/>
            <a:ext cx="777240" cy="112639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19855" y="258233"/>
            <a:ext cx="777241" cy="13118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97096" y="258233"/>
            <a:ext cx="777239" cy="47289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74335" y="128807"/>
            <a:ext cx="777241" cy="176715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51576" y="128807"/>
            <a:ext cx="777240" cy="73514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28816" y="116267"/>
            <a:ext cx="777239" cy="86054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055" y="116267"/>
            <a:ext cx="777241" cy="4144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83296" y="157709"/>
            <a:ext cx="777240" cy="62922"/>
          </a:xfrm>
          <a:prstGeom prst="line">
            <a:avLst/>
          </a:prstGeom>
          <a:ln w="1016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0896" y="170084"/>
            <a:ext cx="1554480" cy="79970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170084"/>
            <a:ext cx="1554479" cy="101267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97096" y="128807"/>
            <a:ext cx="1554480" cy="129426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51576" y="116267"/>
            <a:ext cx="1554479" cy="12540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06055" y="116267"/>
            <a:ext cx="1554481" cy="104364"/>
          </a:xfrm>
          <a:prstGeom prst="line">
            <a:avLst/>
          </a:prstGeom>
          <a:ln w="635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-149960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19" y="6175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-136369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-107467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00D9FF"/>
                </a:solidFill>
                <a:latin typeface="Consolas"/>
              </a:defRPr>
            </a:pPr>
            <a:r>
              <a:t>NODE-10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585216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98932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12648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26364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537960"/>
            <a:ext cx="9144000" cy="0"/>
          </a:xfrm>
          <a:prstGeom prst="line">
            <a:avLst/>
          </a:prstGeom>
          <a:ln w="889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انگیزه تحقیق: شکاف میان داده و منابع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960120"/>
            <a:ext cx="5486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🔹 چالش اصلی: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• رشد انفجاری داده‌های IoT (44 → 175 زتابایت)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• نیاز به پاسخ آنی (10–50 میلی‌ثانیه)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• محدودیت منابع پهپادها (باتری، پردازش)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🔹 راه‌حل پیشنهادی: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استفاده از پهپادها به عنوان سرورهای لبه متحرک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 با بهینه‌سازی هوشمند توسط MADDPG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