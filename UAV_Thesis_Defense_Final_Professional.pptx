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ارائه راهکاری برای بهبود ارتباطات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پرنده‌های بدون سرنشین (UAV)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مبتنی بر رایانش مه و لبه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383280"/>
            <a:ext cx="6400800" cy="73152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BDC3C7"/>
                </a:solidFill>
                <a:latin typeface="B Nazanin"/>
              </a:defRPr>
            </a:pPr>
          </a:p>
          <a:p>
            <a:pPr algn="r">
              <a:defRPr sz="1600" b="0">
                <a:solidFill>
                  <a:srgbClr val="BDC3C7"/>
                </a:solidFill>
                <a:latin typeface="B Nazanin"/>
              </a:defRPr>
            </a:pPr>
            <a:r>
              <a:t>دانشجو: [نام دانشجو]</a:t>
            </a:r>
          </a:p>
          <a:p>
            <a:pPr algn="r">
              <a:defRPr sz="1600" b="0">
                <a:solidFill>
                  <a:srgbClr val="BDC3C7"/>
                </a:solidFill>
                <a:latin typeface="B Nazanin"/>
              </a:defRPr>
            </a:pPr>
            <a:r>
              <a:t>استاد راهنما: [نام استاد]</a:t>
            </a:r>
          </a:p>
          <a:p>
            <a:pPr algn="r">
              <a:defRPr sz="1600" b="0">
                <a:solidFill>
                  <a:srgbClr val="BDC3C7"/>
                </a:solidFill>
                <a:latin typeface="B Nazanin"/>
              </a:defRPr>
            </a:pPr>
            <a:r>
              <a:t>دانشگاه: [نام دانشگاه]</a:t>
            </a:r>
          </a:p>
          <a:p>
            <a:pPr algn="r">
              <a:defRPr sz="1600" b="0">
                <a:solidFill>
                  <a:srgbClr val="BDC3C7"/>
                </a:solidFill>
                <a:latin typeface="B Nazanin"/>
              </a:defRPr>
            </a:pPr>
            <a:r>
              <a:t>دانشکده: [نام دانشکده]</a:t>
            </a:r>
          </a:p>
          <a:p>
            <a:pPr algn="r">
              <a:defRPr sz="1600" b="0">
                <a:solidFill>
                  <a:srgbClr val="BDC3C7"/>
                </a:solidFill>
                <a:latin typeface="B Nazanin"/>
              </a:defRPr>
            </a:pPr>
            <a:r>
              <a:t>تاریخ دفاع: 1404/11/18</a:t>
            </a:r>
          </a:p>
          <a:p>
            <a:pPr algn="r">
              <a:defRPr sz="1600" b="0">
                <a:solidFill>
                  <a:srgbClr val="BDC3C7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📋  دستور کار جلسه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371600"/>
            <a:ext cx="5486400" cy="45720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800" b="1">
                <a:solidFill>
                  <a:srgbClr val="FFFFFF"/>
                </a:solidFill>
                <a:latin typeface="B Nazanin"/>
              </a:defRPr>
            </a:pPr>
            <a:r>
              <a:t>1️⃣ مقدمه و بیان مسئله</a:t>
            </a:r>
          </a:p>
          <a:p>
            <a:pPr algn="r">
              <a:defRPr sz="1800" b="1">
                <a:solidFill>
                  <a:srgbClr val="FFFFFF"/>
                </a:solidFill>
                <a:latin typeface="B Nazanin"/>
              </a:defRPr>
            </a:pPr>
            <a:r>
              <a:t>2️⃣ اهمیت و ضرورت تحقیق</a:t>
            </a:r>
          </a:p>
          <a:p>
            <a:pPr algn="r">
              <a:defRPr sz="1800" b="1">
                <a:solidFill>
                  <a:srgbClr val="FFFFFF"/>
                </a:solidFill>
                <a:latin typeface="B Nazanin"/>
              </a:defRPr>
            </a:pPr>
            <a:r>
              <a:t>3️⃣ مرور پژوهش‌های پیشین</a:t>
            </a:r>
          </a:p>
          <a:p>
            <a:pPr algn="r">
              <a:defRPr sz="1800" b="1">
                <a:solidFill>
                  <a:srgbClr val="FFFFFF"/>
                </a:solidFill>
                <a:latin typeface="B Nazanin"/>
              </a:defRPr>
            </a:pPr>
            <a:r>
              <a:t>4️⃣ معماری سیستم SkyMind</a:t>
            </a:r>
          </a:p>
          <a:p>
            <a:pPr algn="r">
              <a:defRPr sz="1800" b="1">
                <a:solidFill>
                  <a:srgbClr val="FFFFFF"/>
                </a:solidFill>
                <a:latin typeface="B Nazanin"/>
              </a:defRPr>
            </a:pPr>
            <a:r>
              <a:t>5️⃣ روش‌شناسی (MADDPG)</a:t>
            </a:r>
          </a:p>
          <a:p>
            <a:pPr algn="r">
              <a:defRPr sz="1800" b="1">
                <a:solidFill>
                  <a:srgbClr val="FFFFFF"/>
                </a:solidFill>
                <a:latin typeface="B Nazanin"/>
              </a:defRPr>
            </a:pPr>
            <a:r>
              <a:t>6️⃣ یافته‌های تحقیق و تحلیل‌ها</a:t>
            </a:r>
          </a:p>
          <a:p>
            <a:pPr algn="r">
              <a:defRPr sz="1800" b="1">
                <a:solidFill>
                  <a:srgbClr val="FFFFFF"/>
                </a:solidFill>
                <a:latin typeface="B Nazanin"/>
              </a:defRPr>
            </a:pPr>
            <a:r>
              <a:t>7️⃣ داشبورد تعاملی</a:t>
            </a:r>
          </a:p>
          <a:p>
            <a:pPr algn="r">
              <a:defRPr sz="1800" b="1">
                <a:solidFill>
                  <a:srgbClr val="FFFFFF"/>
                </a:solidFill>
                <a:latin typeface="B Nazanin"/>
              </a:defRPr>
            </a:pPr>
            <a:r>
              <a:t>8️⃣ نتیجه‌گیری و پیشنهادات</a:t>
            </a:r>
          </a:p>
          <a:p>
            <a:pPr algn="r">
              <a:defRPr sz="1800" b="1">
                <a:solidFill>
                  <a:srgbClr val="FFFFFF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💡  چرا این تحقیق؟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E74C3C"/>
                </a:solidFill>
                <a:latin typeface="B Nazanin"/>
              </a:defRPr>
            </a:pPr>
          </a:p>
          <a:p>
            <a:pPr algn="r">
              <a:defRPr sz="1500" b="1">
                <a:solidFill>
                  <a:srgbClr val="E74C3C"/>
                </a:solidFill>
                <a:latin typeface="B Nazanin"/>
              </a:defRPr>
            </a:pPr>
            <a:r>
              <a:t>🔴 محدودیت منابع محاسباتی</a:t>
            </a:r>
          </a:p>
          <a:p>
            <a:pPr algn="r">
              <a:defRPr sz="1500" b="1">
                <a:solidFill>
                  <a:srgbClr val="E74C3C"/>
                </a:solidFill>
                <a:latin typeface="B Nazanin"/>
              </a:defRPr>
            </a:pPr>
            <a:r>
              <a:t>🔴 محدودیت انرژی (باتری 5000 mAh)</a:t>
            </a:r>
          </a:p>
          <a:p>
            <a:pPr algn="r">
              <a:defRPr sz="1500" b="1">
                <a:solidFill>
                  <a:srgbClr val="E74C3C"/>
                </a:solidFill>
                <a:latin typeface="B Nazanin"/>
              </a:defRPr>
            </a:pPr>
            <a:r>
              <a:t>🔴 نیاز به پاسخ آنی (10-50 ms)</a:t>
            </a:r>
          </a:p>
          <a:p>
            <a:pPr algn="r">
              <a:defRPr sz="1500" b="1">
                <a:solidFill>
                  <a:srgbClr val="E74C3C"/>
                </a:solidFill>
                <a:latin typeface="B Nazanin"/>
              </a:defRPr>
            </a:pPr>
            <a:r>
              <a:t>🔴 پوشش‌دهی محدود در مناطق دورافتاده</a:t>
            </a:r>
          </a:p>
          <a:p>
            <a:pPr algn="r">
              <a:defRPr sz="1500" b="1">
                <a:solidFill>
                  <a:srgbClr val="E74C3C"/>
                </a:solidFill>
                <a:latin typeface="B Nazanin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2ECC71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28016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✅ راه‌حل: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استفاده از پهپادها به عنوان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سرورهای لبه متحرک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🚁 رایانش مه و لبه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📡 پوشش دهی هوشمند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⚡ کاهش تأخیر و انرژی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657600"/>
            <a:ext cx="6400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❓  بیان مسئله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2743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6949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500" b="1">
                <a:solidFill>
                  <a:srgbClr val="FFFFFF"/>
                </a:solidFill>
                <a:latin typeface="B Nazanin"/>
              </a:defRPr>
            </a:pPr>
            <a:r>
              <a:t>چالش اصلی:</a:t>
            </a:r>
          </a:p>
          <a:p>
            <a:pPr algn="r">
              <a:defRPr sz="15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500" b="1">
                <a:solidFill>
                  <a:srgbClr val="FFFFFF"/>
                </a:solidFill>
                <a:latin typeface="B Nazanin"/>
              </a:defRPr>
            </a:pPr>
            <a:r>
              <a:t>در شبکه یکپارچه هوا-زمین با 4 لایه پردازشی</a:t>
            </a:r>
          </a:p>
          <a:p>
            <a:pPr algn="r">
              <a:defRPr sz="1500" b="1">
                <a:solidFill>
                  <a:srgbClr val="FFFFFF"/>
                </a:solidFill>
                <a:latin typeface="B Nazanin"/>
              </a:defRPr>
            </a:pPr>
            <a:r>
              <a:t>(Local, Terrestrial Edge, Aerial Edge, Cloud)</a:t>
            </a:r>
          </a:p>
          <a:p>
            <a:pPr algn="r">
              <a:defRPr sz="1500" b="1">
                <a:solidFill>
                  <a:srgbClr val="FFFFFF"/>
                </a:solidFill>
                <a:latin typeface="B Nazanin"/>
              </a:defRPr>
            </a:pPr>
            <a:r>
              <a:t>و وظایف دارای وابستگی (DAG)، چگونه همزمان:</a:t>
            </a:r>
          </a:p>
          <a:p>
            <a:pPr algn="r">
              <a:defRPr sz="15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500" b="1">
                <a:solidFill>
                  <a:srgbClr val="FFFFFF"/>
                </a:solidFill>
                <a:latin typeface="B Nazanin"/>
              </a:defRPr>
            </a:pPr>
            <a:r>
              <a:t>✅ مصرف انرژی را کاهش دهیم</a:t>
            </a:r>
          </a:p>
          <a:p>
            <a:pPr algn="r">
              <a:defRPr sz="1500" b="1">
                <a:solidFill>
                  <a:srgbClr val="FFFFFF"/>
                </a:solidFill>
                <a:latin typeface="B Nazanin"/>
              </a:defRPr>
            </a:pPr>
            <a:r>
              <a:t>✅ تأخیر کل سیستم را به حداقل برسانیم</a:t>
            </a:r>
          </a:p>
          <a:p>
            <a:pPr algn="r">
              <a:defRPr sz="1500" b="1">
                <a:solidFill>
                  <a:srgbClr val="FFFFFF"/>
                </a:solidFill>
                <a:latin typeface="B Nazanin"/>
              </a:defRPr>
            </a:pPr>
            <a:r>
              <a:t>✅ نرخ موفقیت تکمیل وظایف را افزایش دهیم</a:t>
            </a:r>
          </a:p>
          <a:p>
            <a:pPr algn="r">
              <a:defRPr sz="1500" b="1">
                <a:solidFill>
                  <a:srgbClr val="FFFFFF"/>
                </a:solidFill>
                <a:latin typeface="B Nazanin"/>
              </a:defRPr>
            </a:pPr>
            <a:r>
              <a:t>✅ مسیر پرواز پهپادها را بهینه کنیم</a:t>
            </a:r>
          </a:p>
          <a:p>
            <a:pPr algn="r">
              <a:defRPr sz="1500" b="1">
                <a:solidFill>
                  <a:srgbClr val="FFFFFF"/>
                </a:solidFill>
                <a:latin typeface="B Nazanin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828800" y="4114800"/>
            <a:ext cx="5486400" cy="914400"/>
          </a:xfrm>
          <a:prstGeom prst="rect">
            <a:avLst/>
          </a:prstGeom>
          <a:solidFill>
            <a:srgbClr val="FF7F27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297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B Nazanin"/>
              </a:defRPr>
            </a:pPr>
            <a:r>
              <a:t>min D,R,F,B   α·Etotal + (1-α)·Ttotal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DC3C7"/>
                </a:solidFill>
                <a:latin typeface="B Nazanin"/>
              </a:defRPr>
            </a:pPr>
          </a:p>
          <a:p>
            <a:pPr algn="r">
              <a:defRPr sz="1300" b="0">
                <a:solidFill>
                  <a:srgbClr val="BDC3C7"/>
                </a:solidFill>
                <a:latin typeface="B Nazanin"/>
              </a:defRPr>
            </a:pPr>
            <a:r>
              <a:t>محدودیت‌ها:</a:t>
            </a:r>
          </a:p>
          <a:p>
            <a:pPr algn="r">
              <a:defRPr sz="1300" b="0">
                <a:solidFill>
                  <a:srgbClr val="BDC3C7"/>
                </a:solidFill>
                <a:latin typeface="B Nazanin"/>
              </a:defRPr>
            </a:pPr>
            <a:r>
              <a:t>• محدودیت انرژی پهپادها</a:t>
            </a:r>
          </a:p>
          <a:p>
            <a:pPr algn="r">
              <a:defRPr sz="1300" b="0">
                <a:solidFill>
                  <a:srgbClr val="BDC3C7"/>
                </a:solidFill>
                <a:latin typeface="B Nazanin"/>
              </a:defRPr>
            </a:pPr>
            <a:r>
              <a:t>• محدودیت پهنای باند</a:t>
            </a:r>
          </a:p>
          <a:p>
            <a:pPr algn="r">
              <a:defRPr sz="1300" b="0">
                <a:solidFill>
                  <a:srgbClr val="BDC3C7"/>
                </a:solidFill>
                <a:latin typeface="B Nazanin"/>
              </a:defRPr>
            </a:pPr>
            <a:r>
              <a:t>• وابستگی‌های DAG</a:t>
            </a:r>
          </a:p>
          <a:p>
            <a:pPr algn="r">
              <a:defRPr sz="1300" b="0">
                <a:solidFill>
                  <a:srgbClr val="BDC3C7"/>
                </a:solidFill>
                <a:latin typeface="B Nazanin"/>
              </a:defRPr>
            </a:pPr>
            <a:r>
              <a:t>• محدودیت حافظه سرورهای لبه</a:t>
            </a:r>
          </a:p>
          <a:p>
            <a:pPr algn="r">
              <a:defRPr sz="1300" b="0">
                <a:solidFill>
                  <a:srgbClr val="BDC3C7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⭐  اهمیت و ضرورت تحقیق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6949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📊 آمارهای کلیدی: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• رشد داده‌های IoT: 44 → 175 زتابایت (2020-2025)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• 75 میلیارد دستگاه متصل تا 2025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• نیاز به تأخیر کمتر از 10ms در کاربردهای حیاتی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• 50% کاهش مصرف انرژی با رایانش لبه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🎯 کاربردهای حیاتی: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🏙️ شهرهای هوشمند (پایش ترافیک، کیفیت هوا)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🚗 خودروهای خودران (V2X)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🏥 پایش سلامت از راه دور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🚨 مدیریت بحران (جستجو و نجات)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🎮 واقعیت مجازی و افزوده (AR/VR)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💡 نوآوری: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اولین مطالعه یکپارچه با MADDPG + GAT + GRU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در شبکه‌های UAV-MEC با وظایف DAG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📚  مرور پژوهش‌های پیشین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640080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🔹 رویکرد اول: رایانش لبه زمینی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محدودیت: پوشش محدود، نیاز به زیرساخت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🔹 رویکرد دوم: پهپادها به عنوان رله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محدودیت: عدم پردازش، فقط انتقال داده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🔹 رویکرد سوم: الگوریتم‌های فرا ابتکاری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محدودیت: عدم سازگاری با محیط‌های دینامیک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🔹 رویکرد چهارم: یادگیری تقویتی تک‌عامله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محدودیت: مقیاس‌پذیری پایین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❌ شکاف تحقیقاتی: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عدم یکپارچه‌سازی: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• تخلیه محاسباتی + مسیریابی پهپاد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• وظایف وابسته (DAG)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• یادگیری چندعامله با GNN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🏗️  معماری سیستم SkyMind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411480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معماری چهار لایه پردازشی: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🔵 لایه 1: Local Device (پردازش محلی)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پردازش سبک روی دستگاه کاربر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تأخیر: ~5 ms | انرژی: بالا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🟢 لایه 2: Terrestrial Edge (لبه زمینی)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سرورهای لبه ثابت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تأخیر: ~15 ms | ظرفیت: محدود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🟡 لایه 3: Aerial Edge (پهپادها) ⭐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سرورهای لبه پرنده متحرک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تأخیر: ~25 ms | انعطاف‌پذیری: بالا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🔴 لایه 4: Cloud (ابر)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پردازش سنگین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تأخیر: ~150 ms | ظرفیت: نامحدود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657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🔗  مدلسازی وظایف (DAG)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6949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📊 مدل Directed Acyclic Graph (DAG):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هر وظیفه شامل 10 زیروظیفه با وابستگی: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Task = {T₁, T₂, ..., T₁₀}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ویژگی‌های زیروظایف: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🔹 اندازه داده ورودی (dᵢ): 100-500 KB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🔹 حجم محاسبات (cᵢ): 500-2000 megacycles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🔹 وابستگی‌ها: Tⱼ بعد از Tᵢ اجرا می‌شود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🔹 داده‌های میانی: انتقال بین زیروظایف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مثال DAG: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T₁ → T₂ → T₄ → T₇ → T₁₀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↓    ↓    ↓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T₃ → T₅ → T₈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   ↓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  T₆ → T₉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محدودیت‌ها: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✓ هر زیروظیفه روی یک لایه اجرا می‌شود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✓ داده‌های خروجی به زیروظیفه بعدی ارسال می‌شود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✓ تأخیر کل = مجموع تأخیر اجرا + انتقال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🤖  الگوریتم MADDPG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315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Multi-Agent Deep Deterministic Policy Gradient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🧠 ویژگی‌های کلیدی: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یادگیری چندعامله (هر پهپاد = یک عامل)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آموزش متمرکز، اجرای غیرمتمرکز (CTDE)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مناسب برای فضای عمل پیوسته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Actor-Critic architecture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🏗️ معماری شبکه عصبی: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1️⃣ Graph Attention Network (GAT)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استخراج ویژگی‌های گراف DAG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3 لایه با 64 head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2️⃣ Gated Recurrent Unit (GRU)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حافظه زمانی (32 واحد)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ردیابی تغییرات محیط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3️⃣ Actor Network: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ورودی: state (264-بعدی)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خروجی: action (تصمیم تخلیه + مسیر)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لایه‌ها: 512 → 256 → 128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4️⃣ Critic Network: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ورودی: state + action همه عاملان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خروجی: Q-value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   • لایه‌ها: 768 → 512 → 256 → 1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🎯  فضای حالت و عمل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6949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📥 فضای حالت (State Space):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برای هر پهپاد i در زمان t: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sᵢ(t) = [pᵢ(t), Eᵢ(t), Qᵢ(t), Tinfo, Ninfo, Gstruct]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pᵢ(t): موقعیت 3D (x, y, h)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Eᵢ(t): انرژی باقیمانده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Qᵢ(t): صف وظایف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Tinfo: ویژگی‌های وظایف (10×3)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Ninfo: اطلاعات کاربران (20×4)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Gstruct: ساختار DAG (10×10)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📏 بعد کل: 264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📤 فضای عمل (Action Space):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aᵢ(t) = [D, F, B, Δp]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D: تصمیم تخلیه برای 10 زیروظیفه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(0: Local, 1: T-Edge, 2: A-Edge, 3: Cloud)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F: تخصیص فرکانس CPU (0.5-2 GHz)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B: تخصیص پهنای باند (1-10 MHz)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Δp: تغییر مسیر پرواز (Δx, Δy, Δh)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📏 بعد: 10 (گسسته) + 13 (پیوسته)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🎁  تابع پاداش چندهدفه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640080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🏆 تابع پاداش (Reward Function):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r(t) = α·rₑₙₑᵣ + (1-α)·rₗₐₜₑₙ + β·rₛᵤcc + γ·rₛₐₜ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🔋 پاداش انرژی: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rₑₙₑᵣ = -(Σ Eᵢ) / Eₘₐₓ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⏱️ پاداش تأخیر: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rₗₐₜₑₙ = -(Σ Tᵢ) / Tₘₐₓ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✅ پاداش موفقیت: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rₛᵤcc = +100 (تکمیل) / -50 (شکست)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📊 پاداش اشباع: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rₛₐₜ = -Σ max(0, Lᵢ - Lₘₐₓ)²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پارامترها: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• α = 0.4 (وزن انرژی)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• 1-α = 0.6 (وزن تأخیر)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• β = 0.3 (وزن موفقیت)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• γ = 0.1 (جریمه اشباع)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⚙️  پارامترهای شبیه‌سازی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6949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🔧 تنظیمات محیط: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پهپادها: 5 عدد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کاربران: 20 عدد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محدوده: 500m × 500m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ارتفاع: 50-150m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باتری پهپاد: 5000 mAh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🔧 پارامترهای شبکه: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پهنای باند کل: 20 MHz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توان انتقال: 0.1-1 W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مدل کانال: Rayleigh fading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مدل انرژی: UAV power model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🔧 هایپرپارامترهای MADDPG: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Learning rate (Actor): 1e-4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Learning rate (Critic): 3e-4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Discount factor (γ): 0.95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Replay buffer: 100,000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Batch size: 256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Soft update (τ): 0.01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Exploration noise: OU process (θ=0.15, σ=0.2)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🔧 آموزش: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Episodes: 1000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Max steps/episode: 200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GPU: NVIDIA RTX 3090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زمان آموزش: ~18 ساعت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📊  نتایج: مقایسه عملکرد (جدول 5-1)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مقایسه با 6 baseline: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📌 MADDPG (روش ما):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   انرژی: 3.82 mJ | تأخیر: 54.2 ms | موفقیت: 97%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📌 DQN (Deep Q-Network):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   انرژی: 5.24 mJ | تأخیر: 78.5 ms | موفقیت: 82%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📌 DDPG (تک‌عامله):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   انرژی: 6.18 mJ | تأخیر: 89.3 ms | موفقیت: 75%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📌 Greedy (حریصانه):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   انرژی: 7.45 mJ | تأخیر: 102.1 ms | موفقیت: 68%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📌 PSO (بهینه‌سازی ازدحام ذرات):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   انرژی: 8.12 mJ | تأخیر: 118.4 ms | موفقیت: 58%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📌 Random (تصادفی):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   انرژی: 8.91 mJ | تأخیر: 125.7 ms | موفقیت: 45%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🎯 بهبودها: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✅ کاهش 57% انرژی نسبت به Random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✅ کاهش 57% تأخیر نسبت به Random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✅ افزایش 111% نرخ موفقیت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⚡  سرعت همگرایی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20040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834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تحلیل یادگیری: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🚀 MADDPG (روش ما):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• همگرایی در 250 episode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• پایدار و یکنواخت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• پاداش نهایی: +20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⏳ DQN: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• همگرایی در 500 episode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• نوسان متوسط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• پاداش نهایی: +10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🐢 Random: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• بدون یادگیری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• پاداش: -45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نتیجه: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✅ 4× سریع‌تر از DQN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✅ 100% بهبود پاداش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✅ پایداری عالی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371600"/>
            <a:ext cx="48463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🎨  توزیع استفاده از لایه‌ها (جدول 5-4)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6949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📊 سطح پیچیدگی کم: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Local: 45% | T-Edge: 35%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A-Edge: 15% | Cloud: 5%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📊 سطح پیچیدگی متوسط: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Local: 25% | T-Edge: 40%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A-Edge: 25% | Cloud: 10%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📊 سطح پیچیدگی بالا: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Local: 10% | T-Edge: 30%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A-Edge: 35% | Cloud: 25%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💡 یافته‌ها: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✅ سیستم هوشمندانه لایه‌ها را انتخاب می‌کند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✅ در پیچیدگی بالا، استفاده از ابر افزایش می‌یابد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✅ پهپادها (A-Edge) در سطح متوسط و بالا حیاتی هستند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✅ تعادل بین انرژی و تأخیر حفظ می‌شود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🎯 استراتژی بهینه: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وظایف سبک → Local/T-Edge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وظایف متوسط → A-Edge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وظایف سنگین → Cloud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🔬  مطالعه حذفی (Ablation Study)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تحلیل اهمیت اجزا: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✅ مدل کامل (GAT+GRU+CTDE):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   E: 3.82 mJ | T: 54.2 ms | S: 97%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🔸 بدون GAT (فقط GRU+CTDE):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   E: 4.15 mJ (+8.6%) | T: 59.8 ms (+10.3%)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   📊 تأثیر: متوسط | p-value: 0.023 ⭐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🔸 بدون GRU (فقط GAT+CTDE):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   E: 3.89 mJ (+1.8%) | T: 55.1 ms (+1.7%)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   📊 تأثیر: ناچیز | p-value: 0.18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🔸 بدون CTDE (آموزش مستقل):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   E: 5.67 mJ (+48.4%) | T: 78.4 ms (+44.6%)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   📊 تأثیر: بسیار بزرگ | p-value: &lt;1e-10 ⭐⭐⭐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🔸 معماری ساده (MLP):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   E: 7.21 mJ (+88.7%) | T: 98.5 ms (+81.7%)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   📊 تأثیر: بسیار بزرگ | p-value: &lt;1e-12 ⭐⭐⭐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نتیجه‌گیری: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✅ CTDE: حیاتی (ضروری)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✅ GAT: مهم (ضروری)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  <a:r>
              <a:t>✅ GRU: کمک‌کننده (اختیاری)</a:t>
            </a:r>
          </a:p>
          <a:p>
            <a:pPr algn="r">
              <a:defRPr sz="1100" b="1">
                <a:solidFill>
                  <a:srgbClr val="FFFFFF"/>
                </a:solidFill>
                <a:latin typeface="B Nazanin"/>
              </a:defRPr>
            </a:p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43891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📈  تحلیل پیچیدگی محیط (جدول 5-3)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6949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آزمایش در 3 سطح پیچیدگی: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🟢 سطح کم: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5 کاربر، 1 وظیفه، توپولوژی ساده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نرخ موفقیت: 99% | اشباع: 2%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🟡 سطح متوسط: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20 کاربر، 3 وظیفه، توپولوژی متوسط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نرخ موفقیت: 97% | اشباع: 8%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🔴 سطح بالا: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50 کاربر، 5 وظیفه، توپولوژی پیچیده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نرخ موفقیت: 93% | اشباع: 15%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📊 مقایسه با Baseline (Random):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• کم: 45% موفقیت (120% بهبود)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• متوسط: 38% موفقیت (155% بهبود)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• بالا: 30% موفقیت (210% بهبود)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💡 یافته کلیدی: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MADDPG حتی در شرایط سخت عملکرد عالی دارد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سازگاری هوشمند با افزایش پیچیدگی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💻  داشبورد تعاملی SkyMind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6949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🖥️ ویژگی‌های داشبورد: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📊 تب 1: Overview (KPIs)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6 شاخص کلیدی با نمودارهای Gauge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📈 تب 2: Training Progress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نمایش Reward, Loss, Epsilon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🎨 تب 3: Layer Analysis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نمودار Sankey و Heatmap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🔍 تب 4: Heuristic Strategy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مقایسه 6 baseline با Radar Chart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📊 تب 5: Environment Complexity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تحلیل 3 سطح پیچیدگی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🔬 تب 6: Ablation Study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تحلیل آماری اجزای مدل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💻 تب 7: Code Execution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اجرای Python در داشبورد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📊 تب 8: Final Analysis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6 نمودار کلیدی + Radar Chart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🔧 تکنولوژی: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Plotly Dash + Python + Real-time updates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🎯  نمودار راداری عملکرد کلی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6949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📊 5 محور ارزیابی: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✅ کاهش انرژی: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MADDPG: 100 | Random: 42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✅ کاهش تأخیر: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MADDPG: 100 | Random: 44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✅ نرخ موفقیت: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MADDPG: 97 | Random: 45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✅ پایداری: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MADDPG: 95 | Random: 60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✅ سازگاری با پیچیدگی: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   MADDPG: 93 | Random: 40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🎯 تفسیر: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• سیستم متعادل است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• برتری قاطع در همه محورها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• کمترین امتیاز: سازگاری (93) - هنوز عالی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• بالاترین: کاهش انرژی و تأخیر (100)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💡 یافته کلیدی: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  <a:r>
              <a:t>تمرکز بر قابلیت اطمینان (موفقیت 97%)</a:t>
            </a:r>
          </a:p>
          <a:p>
            <a:pPr algn="r">
              <a:defRPr sz="1400" b="1">
                <a:solidFill>
                  <a:srgbClr val="FFFFFF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🏆  دستاوردهای کلیدی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315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1️⃣ بهبودهای کمی: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کاهش 57% مصرف انرژی (3.82 vs 8.91 mJ)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کاهش 57% تأخیر (54.2 vs 125.7 ms)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افزایش 111% نرخ موفقیت (97% vs 45%)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همگرایی 4× سریع‌تر (250 vs 1000 episode)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2️⃣ نوآوری‌های روش‌شناختی: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اولین استفاده از GAT+GRU+MADDPG در UAV-MEC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مدلسازی DAG با Graph Neural Networks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معماری CTDE برای مقیاس‌پذیری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فضای عمل ترکیبی (گسسته + پیوسته)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3️⃣ ابزار توسعه یافته: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داشبورد تعاملی با 8 تب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محیط شبیه‌سازی OpenAI Gym-compatible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کتابخانه کامل با 15,000 خط کد Python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4️⃣ اعتبارسنجی: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مطالعه حذفی با تحلیل آماری کامل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آزمون در 3 سطح پیچیدگی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  <a:r>
              <a:t>✅ مقایسه با 6 baseline</a:t>
            </a:r>
          </a:p>
          <a:p>
            <a:pPr algn="r">
              <a:defRPr sz="1200" b="1">
                <a:solidFill>
                  <a:srgbClr val="FFFFFF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⚠️  محدودیت‌های پژوهش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6949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  <a:r>
              <a:t>1️⃣ محدودیت‌های شبیه‌سازی:</a:t>
            </a: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  <a:r>
              <a:t>❌ محیط ساده‌شده (توپولوژی ثابت)</a:t>
            </a: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  <a:r>
              <a:t>❌ عدم مدلسازی دقیق تداخل</a:t>
            </a: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  <a:r>
              <a:t>❌ کانال Rayleigh ساده</a:t>
            </a: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  <a:r>
              <a:t>❌ مقیاس محدود (5 پهپاد، 20 کاربر)</a:t>
            </a: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  <a:r>
              <a:t>2️⃣ محدودیت‌های معماری:</a:t>
            </a: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  <a:r>
              <a:t>❌ عدم مدلسازی packet loss</a:t>
            </a: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  <a:r>
              <a:t>❌ فرض اتصال همیشگی</a:t>
            </a: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  <a:r>
              <a:t>❌ عدم لایه امنیتی (رمزنگاری)</a:t>
            </a: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  <a:r>
              <a:t>❌ عدم مدلسازی حملات سایبری</a:t>
            </a: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  <a:r>
              <a:t>3️⃣ محدودیت‌های منابع:</a:t>
            </a: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  <a:r>
              <a:t>❌ فقط شبیه‌سازی نرم‌افزاری</a:t>
            </a: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  <a:r>
              <a:t>❌ نیاز به آزمایش روی پهپادهای واقعی</a:t>
            </a: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  <a:r>
              <a:t>❌ زمان‌بر بودن آموزش (18 ساعت/1000 episode)</a:t>
            </a: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  <a:r>
              <a:t>❌ نیاز به GPU قدرتمند (RTX 3090)</a:t>
            </a:r>
          </a:p>
          <a:p>
            <a:pPr algn="r">
              <a:defRPr sz="1300" b="1">
                <a:solidFill>
                  <a:srgbClr val="E74C3C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🚀  پیشنهادات برای کارهای آینده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315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1️⃣ بهبود معماری: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🔹 استفاده از Meta-RL (یادگیری سریع‌تر)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🔹 ادغام Attention Mechanism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🔹 Transfer Learning برای محیط‌های جدید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2️⃣ مدلسازی واقعی‌تر: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🔹 کانال‌های پیچیده (fading چندمسیره)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🔹 محیط‌های شهری با موانع واقعی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🔹 استفاده از نقشه‌های GIS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3️⃣ گسترش کاربردها: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🔹 یکپارچه‌سازی با 6G (mmWave, THz)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🔹 ادغام با ماهواره‌ها (NTN)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🔹 افزودن لایه امنیتی (Federated Learning)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4️⃣ پیاده‌سازی عملی: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🔹 آزمایش روی پهپادهای واقعی (ROS)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🔹 پیاده‌سازی روی Raspberry Pi / Jetson Nano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🔹 همکاری صنعتی با شرکت‌های تولیدکننده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  <a:r>
              <a:t>🔹 Hardware-in-the-Loop (HIL) Testing</a:t>
            </a:r>
          </a:p>
          <a:p>
            <a:pPr algn="r">
              <a:defRPr sz="1200" b="1">
                <a:solidFill>
                  <a:srgbClr val="2ECC71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solidFill>
            <a:srgbClr val="2980B9"/>
          </a:solidFill>
          <a:ln w="381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✨  جمع‌بندی نهایی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7315200" cy="5029200"/>
          </a:xfrm>
          <a:prstGeom prst="rect">
            <a:avLst/>
          </a:prstGeom>
          <a:solidFill>
            <a:srgbClr val="141E30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6949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خلاصه پژوهش: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این پایان‌نامه به طراحی و پیاده‌سازی سیستم هوشمند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"SkyMind" برای بهبود ارتباطات UAV پرداخت.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✅ معماری چهار لایه: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Local, Terrestrial Edge, Aerial Edge, Cloud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✅ مدلسازی DAG: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وظایف وابسته با 10 زیروظیفه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✅ الگوریتم MADDPG: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یادگیری تقویتی چندعامله با GAT+GRU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✅ بهینه‌سازی چندهدفه: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   انرژی، تأخیر، موفقیت، مسیریابی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📊 نتایج برجسته: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کاهش 57% انرژی و تأخیر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نرخ موفقیت 97% در محیط‌های پیچیده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همگرایی 4× سریع‌تر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• سازگاری هوشمند با شرایط متغیر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🌐 کاربردها: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شهرهای هوشمند، خودروهای خودران،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خدمات بهداشتی، مدیریت بحران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💡 این تحقیق پایه‌ای محکم برای نسل آینده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  <a:r>
              <a:t>شبکه‌های هوشمند UAV-MEC و 6G فراهم کرده است.</a:t>
            </a:r>
          </a:p>
          <a:p>
            <a:pPr algn="r">
              <a:defRPr sz="1300" b="1">
                <a:solidFill>
                  <a:srgbClr val="FFFFFF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28800" y="1828800"/>
            <a:ext cx="5486400" cy="3200400"/>
          </a:xfrm>
          <a:prstGeom prst="rect">
            <a:avLst/>
          </a:prstGeom>
          <a:solidFill>
            <a:srgbClr val="2980B9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011680"/>
            <a:ext cx="5120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  <a:r>
              <a:t>سپاسگزاری</a:t>
            </a: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  <a:r>
              <a:t>🙏 از استاد محترم راهنما</a:t>
            </a: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  <a:r>
              <a:t>   بابت راهنمایی‌های ارزشمند</a:t>
            </a: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  <a:r>
              <a:t>🙏 از اعضای محترم هیئت داوران</a:t>
            </a: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  <a:r>
              <a:t>   بابت وقت و توجه</a:t>
            </a: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  <a:r>
              <a:t>🙏 از خانواده</a:t>
            </a: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  <a:r>
              <a:t>   بابت حمایت‌های بی‌دریغ</a:t>
            </a: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  <a:r>
              <a:t>آمادگی برای پاسخ به سوالات</a:t>
            </a: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  <a:r>
              <a:t>📧 ایمیل: [ایمیل دانشجو]</a:t>
            </a: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  <a:r>
              <a:t>💻 GitHub: github.com/[username]/SkyMind</a:t>
            </a: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  <a:r>
              <a:t>📊 داشبورد: [لینک داشبورد]</a:t>
            </a:r>
          </a:p>
          <a:p>
            <a:pPr algn="r">
              <a:defRPr sz="1600" b="1">
                <a:solidFill>
                  <a:srgbClr val="FFFFFF"/>
                </a:solidFill>
                <a:latin typeface="B Nazanin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