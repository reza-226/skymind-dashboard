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94944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517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517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903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3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903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7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ارائه راهکاری برای بهبود ارتباطات پرنده‌های بدون سرنشین (UAV)</a:t>
            </a:r>
            <a:br/>
            <a:r>
              <a:t>مبتنی بر رایانش مه و لبه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383280"/>
            <a:ext cx="4572000" cy="18288"/>
          </a:xfrm>
          <a:prstGeom prst="rect">
            <a:avLst/>
          </a:prstGeom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6576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دانشجو: [نام دانشجو]</a:t>
            </a:r>
          </a:p>
          <a:p>
            <a:pPr algn="r">
              <a:defRPr sz="1800">
                <a:solidFill>
                  <a:srgbClr val="FFFFFF"/>
                </a:solidFill>
              </a:defRPr>
            </a:pPr>
            <a:r>
              <a:t>استاد راهنما: [نام استاد]</a:t>
            </a:r>
          </a:p>
          <a:p>
            <a:pPr algn="r">
              <a:defRPr sz="1800">
                <a:solidFill>
                  <a:srgbClr val="FFFFFF"/>
                </a:solidFill>
              </a:defRPr>
            </a:pPr>
            <a:r>
              <a:t>دانشگاه: [نام دانشگاه]</a:t>
            </a:r>
          </a:p>
          <a:p>
            <a:pPr algn="r">
              <a:defRPr sz="1800">
                <a:solidFill>
                  <a:srgbClr val="FFFFFF"/>
                </a:solidFill>
              </a:defRPr>
            </a:pPr>
            <a:r>
              <a:t>دانشکده: [نام دانشکده]</a:t>
            </a:r>
          </a:p>
          <a:p>
            <a:pPr algn="r">
              <a:defRPr sz="1800">
                <a:solidFill>
                  <a:srgbClr val="FFFFFF"/>
                </a:solidFill>
              </a:defRPr>
            </a:pPr>
            <a:r>
              <a:t>تاریخ دفاع: ۱۴۰۴/۱۱/۱۸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94944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517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517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903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3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903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7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انگیزه و چالش‌ها: شکاف میان داده و منابع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9FF"/>
                </a:solidFill>
              </a:defRPr>
            </a:pPr>
            <a:r>
              <a:t>📊 انفجار داده IoT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860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رشد داده‌ها: 44 زتابایت (2020) → 175 زتابایت (2025)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نیاز به پاسخ آنی (10–50 میلی‌ثانیه)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1097280"/>
            <a:ext cx="18288" cy="4114800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⚠️ فقر منابع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22860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باتری محدود پهپاد (5000 میلی‌آمپر)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محدودیت پوشش در مناطق بحرانی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9FF"/>
                </a:solidFill>
              </a:defRPr>
            </a:pPr>
            <a:r>
              <a:t>💡 راه‌حل: استفاده از پهپادها به عنوان سرورهای لبه متحرک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94944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517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517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903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3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903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7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🎯 اهداف تحقیق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🔹 هدف اصلی: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طراحی سیستم بهینه‌سازی تخلیه محاسباتی برای شبکه‌های پهپادی با استفاده از یادگیری تقویتی عمیق چندعاملی (MADRL)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🔹 اهداف فرعی: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1️⃣ کاهش تأخیر پردازش وظایف در شبکه‌های پهپادی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2️⃣ بهینه‌سازی مصرف انرژی پهپادها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3️⃣ افزایش نرخ موفقیت انجام وظایف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4️⃣ تضمین انصاف در دسترسی به منابع محاسباتی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94944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517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517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903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3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903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7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🏗️ معماری سیستم پیشنهادی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9FF"/>
                </a:solidFill>
              </a:defRPr>
            </a:pPr>
            <a:r>
              <a:t>🌐 لایه کاربر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011680"/>
            <a:ext cx="2286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دستگاه‌های IoT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تولید وظایف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ارسال درخواست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9FF"/>
                </a:solidFill>
              </a:defRPr>
            </a:pPr>
            <a:r>
              <a:t>🚁 لایه پهپاد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011680"/>
            <a:ext cx="2286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سرورهای لبه متحرک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پردازش محلی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مدیریت منابع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9FF"/>
                </a:solidFill>
              </a:defRPr>
            </a:pPr>
            <a:r>
              <a:t>☁️ لایه ابر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011680"/>
            <a:ext cx="2286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پردازش سنگین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قدرت محاسباتی نامحدود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تأخیر بالاتر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94944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517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517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903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3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903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7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📊 نتایج کلیدی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1828800"/>
            <a:ext cx="1828800" cy="2286000"/>
          </a:xfrm>
          <a:prstGeom prst="rect">
            <a:avLst/>
          </a:prstGeom>
          <a:solidFill>
            <a:srgbClr val="1A294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26517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9FF"/>
                </a:solidFill>
              </a:defRPr>
            </a:pPr>
            <a:r>
              <a:t>45.2%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291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کاهش تأخیر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1828800"/>
            <a:ext cx="1828800" cy="2286000"/>
          </a:xfrm>
          <a:prstGeom prst="rect">
            <a:avLst/>
          </a:prstGeom>
          <a:solidFill>
            <a:srgbClr val="1A294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26517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9FF"/>
                </a:solidFill>
              </a:defRPr>
            </a:pPr>
            <a:r>
              <a:t>38.7%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3291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بهبود مصرف انرژی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1828800"/>
            <a:ext cx="1828800" cy="2286000"/>
          </a:xfrm>
          <a:prstGeom prst="rect">
            <a:avLst/>
          </a:prstGeom>
          <a:solidFill>
            <a:srgbClr val="1A294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26517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9FF"/>
                </a:solidFill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3291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نرخ موفقیت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1828800"/>
            <a:ext cx="1828800" cy="2286000"/>
          </a:xfrm>
          <a:prstGeom prst="rect">
            <a:avLst/>
          </a:prstGeom>
          <a:solidFill>
            <a:srgbClr val="1A294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⚖️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26517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9FF"/>
                </a:solidFill>
              </a:defRPr>
            </a:pPr>
            <a:r>
              <a:t>0.88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3291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ضریب انصاف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949440"/>
            <a:ext cx="9144000" cy="45720"/>
          </a:xfrm>
          <a:prstGeom prst="rect">
            <a:avLst/>
          </a:prstGeom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517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517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903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3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903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79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9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9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45720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18872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1920240"/>
            <a:ext cx="73152" cy="73152"/>
          </a:xfrm>
          <a:prstGeom prst="ellipse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✅ نتیجه‌گیری و پیشنهادات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🔹 دستاوردها: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ارائه معماری نوین MADRL-CTDE برای شبکه‌های پهپادی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بهبود قابل‌توجه در تأخیر، انرژی و انصاف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اعتبارسنجی کامل در محیط شبیه‌سازی واقع‌گرایانه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🔹 کاربردهای عملی: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امداد و نجات در بلایای طبیعی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نظارت هوشمند شهری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کشاورزی دقیق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🔹 تحقیقات آینده: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یکپارچگی با شبکه‌های 5G/6G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بهینه‌سازی مسیر پرواز پهپادها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امنیت و حریم خصوصی داده‌ها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