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بهینه‌سازی تخلیه محاسباتی در شبکه پهپادها</a:t>
            </a:r>
          </a:p>
          <a:p>
            <a:r>
              <a:t>با استفاده از یادگیری تقویتی چند عاملی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دانشجو: [نام شما]</a:t>
            </a:r>
          </a:p>
          <a:p>
            <a:r>
              <a:t>استاد راهنما: [نام استاد]</a:t>
            </a:r>
          </a:p>
          <a:p/>
          <a:p>
            <a:r>
              <a:t>بهمن ۱۴۰۴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🗂️ فهرست مطالب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۱. مقدمه و بیان مسئله</a:t>
            </a:r>
          </a:p>
          <a:p>
            <a:pPr>
              <a:defRPr sz="2000"/>
            </a:pPr>
            <a:r>
              <a:t>۲. مروری بر ادبیات و پیشینه تحقیق</a:t>
            </a:r>
          </a:p>
          <a:p>
            <a:pPr>
              <a:defRPr sz="2000"/>
            </a:pPr>
            <a:r>
              <a:t>۳. روش‌شناسی و معماری پیشنهادی</a:t>
            </a:r>
          </a:p>
          <a:p>
            <a:pPr>
              <a:defRPr sz="2000"/>
            </a:pPr>
            <a:r>
              <a:t>۴. فرمول‌بندی ریاضی و الگوریتم MADDPG</a:t>
            </a:r>
          </a:p>
          <a:p>
            <a:pPr>
              <a:defRPr sz="2000"/>
            </a:pPr>
            <a:r>
              <a:t>۵. نتایج شبیه‌سازی و ارزیابی</a:t>
            </a:r>
          </a:p>
          <a:p>
            <a:pPr>
              <a:defRPr sz="2000"/>
            </a:pPr>
            <a:r>
              <a:t>۶. نتیجه‌گیری و کارهای آینده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🎯 بیان مسئله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چالش‌های اصلی:</a:t>
            </a:r>
          </a:p>
          <a:p>
            <a:pPr>
              <a:defRPr sz="1800"/>
            </a:pPr>
            <a:r>
              <a:t>• محدودیت انرژی باتری پهپادها</a:t>
            </a:r>
          </a:p>
          <a:p>
            <a:pPr>
              <a:defRPr sz="1800"/>
            </a:pPr>
            <a:r>
              <a:t>• منابع محاسباتی محدود در پهپادهای کوچک</a:t>
            </a:r>
          </a:p>
          <a:p>
            <a:pPr>
              <a:defRPr sz="1800"/>
            </a:pPr>
            <a:r>
              <a:t>• تأخیر بالا در ارتباطات بی‌سیم</a:t>
            </a:r>
          </a:p>
          <a:p>
            <a:pPr>
              <a:defRPr sz="1800"/>
            </a:pPr>
            <a:r>
              <a:t>• نیاز به تصمیم‌گیری هوشمند برای تخلیه محاسباتی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💡 انگیزه و اهمیت تحقیق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چرا این موضوع مهم است؟</a:t>
            </a:r>
          </a:p>
          <a:p>
            <a:pPr>
              <a:defRPr sz="1800"/>
            </a:pPr>
            <a:r>
              <a:t>✓ رشد سریع کاربردهای پهپادی (نظارت، امداد، کشاورزی)</a:t>
            </a:r>
          </a:p>
          <a:p>
            <a:pPr>
              <a:defRPr sz="1800"/>
            </a:pPr>
            <a:r>
              <a:t>✓ نیاز به پردازش داده‌های حجیم در لبه شبکه</a:t>
            </a:r>
          </a:p>
          <a:p>
            <a:pPr>
              <a:defRPr sz="1800"/>
            </a:pPr>
            <a:r>
              <a:t>✓ کاهش بار سرورهای مرکزی</a:t>
            </a:r>
          </a:p>
          <a:p>
            <a:pPr>
              <a:defRPr sz="1800"/>
            </a:pPr>
            <a:r>
              <a:t>✓ بهبود عمر باتری و پایداری عملیات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🎓 اهداف تحقیق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🔹 هدف اصلی:</a:t>
            </a:r>
          </a:p>
          <a:p>
            <a:pPr lvl="1">
              <a:defRPr sz="1600"/>
            </a:pPr>
            <a:r>
              <a:t>طراحی سیستم هوشمند برای انتخاب بهینه لایه پردازش (Local/UAV/Ground) به منظور کاهش مصرف انرژی و تأخیر</a:t>
            </a:r>
          </a:p>
          <a:p/>
          <a:p>
            <a:r>
              <a:t>🔹 اهداف فرعی:</a:t>
            </a:r>
          </a:p>
          <a:p>
            <a:pPr lvl="1">
              <a:defRPr sz="1600"/>
            </a:pPr>
            <a:r>
              <a:t>فرمول‌بندی مسئله به صورت MINLP</a:t>
            </a:r>
          </a:p>
          <a:p>
            <a:pPr lvl="1">
              <a:defRPr sz="1600"/>
            </a:pPr>
            <a:r>
              <a:t>پیاده‌سازی الگوریتم MADDPG</a:t>
            </a:r>
          </a:p>
          <a:p>
            <a:pPr lvl="1">
              <a:defRPr sz="1600"/>
            </a:pPr>
            <a:r>
              <a:t>ارزیابی در سناریوهای مختلف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🏗️ معماری سیستم پیشنهادی: سه لایه پردازش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📱 لایه ۱: پردازش محلی (Local Processing)</a:t>
            </a:r>
          </a:p>
          <a:p>
            <a:r>
              <a:t>• پردازش در خود پهپاد | • کمترین تأخیر | • مصرف انرژی بالا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🛸 لایه ۲: تخلیه به پهپاد همسایه (UAV Offloading)</a:t>
            </a:r>
          </a:p>
          <a:p>
            <a:r>
              <a:t>• توزیع بار | • همکاری بین پهپادها | • تعادل انرژی-تأخیر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🖥️ لایه ۳: تخلیه به سرور زمینی (Ground Server)</a:t>
            </a:r>
          </a:p>
          <a:p>
            <a:r>
              <a:t>• منابع قدرتمند | • تأخیر ارتباطی بالا | • صرفه‌جویی انرژی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486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[دیاگرام معماری را اینجا قرار دهید]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🤖 الگوریتم MADDPG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Multi-Agent Deep Deterministic Policy Gradient</a:t>
            </a:r>
          </a:p>
          <a:p>
            <a:pPr>
              <a:defRPr sz="1700"/>
            </a:pPr>
            <a:r>
              <a:t>🔸 یادگیری تقویتی عمیق برای محیط‌های چند عاملی</a:t>
            </a:r>
          </a:p>
          <a:p>
            <a:pPr>
              <a:defRPr sz="1700"/>
            </a:pPr>
            <a:r>
              <a:t>🔸 معماری Actor-Critic: Actor برای تصمیم‌گیری، Critic برای ارزیابی</a:t>
            </a:r>
          </a:p>
          <a:p>
            <a:pPr>
              <a:defRPr sz="1700"/>
            </a:pPr>
            <a:r>
              <a:t>🔸 Centralized Training, Decentralized Execution</a:t>
            </a:r>
          </a:p>
          <a:p>
            <a:pPr>
              <a:defRPr sz="1700"/>
            </a:pPr>
            <a:r>
              <a:t>🔸 استفاده از Target Networks برای پایداری آموزش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📊 فضای حالت و عمل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🔹 فضای حالت (State Space):</a:t>
            </a:r>
          </a:p>
          <a:p>
            <a:pPr lvl="1">
              <a:defRPr sz="1500"/>
            </a:pPr>
            <a:r>
              <a:t>موقعیت پهپاد (x, y)</a:t>
            </a:r>
          </a:p>
          <a:p>
            <a:pPr lvl="1">
              <a:defRPr sz="1500"/>
            </a:pPr>
            <a:r>
              <a:t>انرژی باقیمانده باتری</a:t>
            </a:r>
          </a:p>
          <a:p>
            <a:pPr lvl="1">
              <a:defRPr sz="1500"/>
            </a:pPr>
            <a:r>
              <a:t>صف وظایف و اطلاعات DAG</a:t>
            </a:r>
          </a:p>
          <a:p>
            <a:pPr lvl="1">
              <a:defRPr sz="1500"/>
            </a:pPr>
            <a:r>
              <a:t>وضعیت کانال ارتباطی</a:t>
            </a:r>
          </a:p>
          <a:p/>
          <a:p>
            <a:r>
              <a:t>🔹 فضای عمل (Action Space):</a:t>
            </a:r>
          </a:p>
          <a:p>
            <a:pPr lvl="1">
              <a:defRPr sz="1500"/>
            </a:pPr>
            <a:r>
              <a:t>بردار حرکت (vx, vy)</a:t>
            </a:r>
          </a:p>
          <a:p>
            <a:pPr lvl="1">
              <a:defRPr sz="1500"/>
            </a:pPr>
            <a:r>
              <a:t>تصمیم تخلیه: Local / UAV / Ground</a:t>
            </a:r>
          </a:p>
          <a:p>
            <a:pPr lvl="1">
              <a:defRPr sz="1500"/>
            </a:pPr>
            <a:r>
              <a:t>تخصیص منابع محاسباتی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🎁 تابع پاداش (Reward Function)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پاداش = پاداش‌های مثبت - جریمه‌ها</a:t>
            </a:r>
          </a:p>
          <a:p>
            <a:br/>
            <a:pPr>
              <a:defRPr sz="1800" b="1"/>
            </a:pPr>
            <a:r>
              <a:t>✅ پاداش‌های مثبت:</a:t>
            </a:r>
          </a:p>
          <a:p>
            <a:pPr lvl="1">
              <a:defRPr sz="1500"/>
            </a:pPr>
            <a:r>
              <a:t>  • صرفه‌جویی در انرژی</a:t>
            </a:r>
          </a:p>
          <a:p>
            <a:pPr lvl="1">
              <a:defRPr sz="1500"/>
            </a:pPr>
            <a:r>
              <a:t>  • کاهش تأخیر</a:t>
            </a:r>
          </a:p>
          <a:p>
            <a:pPr lvl="1">
              <a:defRPr sz="1500"/>
            </a:pPr>
            <a:r>
              <a:t>  • تکمیل موفق وظایف</a:t>
            </a:r>
          </a:p>
          <a:p>
            <a:br/>
            <a:pPr>
              <a:defRPr sz="1800" b="1"/>
            </a:pPr>
            <a:r>
              <a:t>❌ جریمه‌ها:</a:t>
            </a:r>
          </a:p>
          <a:p>
            <a:pPr lvl="1">
              <a:defRPr sz="1500"/>
            </a:pPr>
            <a:r>
              <a:t>  • نقض QoS</a:t>
            </a:r>
          </a:p>
          <a:p>
            <a:pPr lvl="1">
              <a:defRPr sz="1500"/>
            </a:pPr>
            <a:r>
              <a:t>  • تخلیه کامل باتری</a:t>
            </a:r>
          </a:p>
          <a:p>
            <a:pPr lvl="1">
              <a:defRPr sz="1500"/>
            </a:pPr>
            <a:r>
              <a:t>  • برخورد با موانع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🧠 معماری شبکه عصبی 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ورودی: حالت محلی پهپاد (موقعیت، انرژی، صف)</a:t>
            </a:r>
          </a:p>
          <a:p>
            <a:r>
              <a:t>لایه پنهان 1: 256 نورون + ReLU</a:t>
            </a:r>
          </a:p>
          <a:p>
            <a:r>
              <a:t>لایه پنهان 2: 128 نورون + ReLU</a:t>
            </a:r>
          </a:p>
          <a:p>
            <a:r>
              <a:t>خروجی: عمل قطعی (تصمیم تخلیه)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[شکل 3-3: دیاگرام معماری Actor را اینجا قرار دهید]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🧠 معماری شبکه عصبی Critic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ورودی: حالت کلی + اعمال همه عاملان</a:t>
            </a:r>
          </a:p>
          <a:p>
            <a:r>
              <a:t>لایه پنهان 1: 512 نورون + ReLU</a:t>
            </a:r>
          </a:p>
          <a:p>
            <a:r>
              <a:t>لایه پنهان 2: 256 نورون + ReLU</a:t>
            </a:r>
          </a:p>
          <a:p>
            <a:r>
              <a:t>خروجی: Q-value (ارزش عمل)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[شکل 3-4: دیاگرام معماری Critic را اینجا قرار دهید]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⚙️ الگوریتم آموزش MADDPG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500"/>
            </a:pPr>
            <a:r>
              <a:t>۱. مقداردهی اولیه: Actor, Critic, Target Networks</a:t>
            </a:r>
          </a:p>
          <a:p>
            <a:pPr>
              <a:defRPr sz="1500"/>
            </a:pPr>
            <a:r>
              <a:t>۲. برای هر اپیزود:</a:t>
            </a:r>
          </a:p>
          <a:p>
            <a:pPr lvl="1">
              <a:defRPr sz="1500"/>
            </a:pPr>
            <a:r>
              <a:t>   • دریافت حالت اولیه از محیط</a:t>
            </a:r>
          </a:p>
          <a:p>
            <a:pPr lvl="1">
              <a:defRPr sz="1500"/>
            </a:pPr>
            <a:r>
              <a:t>   • انتخاب عمل با اکتشاف (ε-greedy)</a:t>
            </a:r>
          </a:p>
          <a:p>
            <a:pPr lvl="1">
              <a:defRPr sz="1500"/>
            </a:pPr>
            <a:r>
              <a:t>   • اجرای عمل و دریافت پاداش</a:t>
            </a:r>
          </a:p>
          <a:p>
            <a:pPr lvl="1">
              <a:defRPr sz="1500"/>
            </a:pPr>
            <a:r>
              <a:t>   • ذخیره تجربه در Replay Buffer</a:t>
            </a:r>
          </a:p>
          <a:p>
            <a:pPr>
              <a:defRPr sz="1500"/>
            </a:pPr>
            <a:r>
              <a:t>۳. نمونه‌برداری تصادفی از Buffer</a:t>
            </a:r>
          </a:p>
          <a:p>
            <a:pPr>
              <a:defRPr sz="1500"/>
            </a:pPr>
            <a:r>
              <a:t>۴. به‌روزرسانی Critic با TD-error</a:t>
            </a:r>
          </a:p>
          <a:p>
            <a:pPr>
              <a:defRPr sz="1500"/>
            </a:pPr>
            <a:r>
              <a:t>۵. به‌روزرسانی Actor با Policy Gradient</a:t>
            </a:r>
          </a:p>
          <a:p>
            <a:pPr>
              <a:defRPr sz="1500"/>
            </a:pPr>
            <a:r>
              <a:t>۶. Soft Update برای Target Networks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🔧 پارامترهای شبیه‌سازی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🔹 محیط: 2D Grid با موانع تصادفی</a:t>
            </a:r>
          </a:p>
          <a:p>
            <a:pPr>
              <a:defRPr sz="1600"/>
            </a:pPr>
            <a:r>
              <a:t>🔹 تعداد پهپادها: 4-8 عامل</a:t>
            </a:r>
          </a:p>
          <a:p>
            <a:pPr>
              <a:defRPr sz="1600"/>
            </a:pPr>
            <a:r>
              <a:t>🔹 تعداد سرورهای زمینی: 2-3 سرور</a:t>
            </a:r>
          </a:p>
          <a:p>
            <a:pPr>
              <a:defRPr sz="1600"/>
            </a:pPr>
            <a:r>
              <a:t>🔹 ظرفیت باتری: 1000 mAh</a:t>
            </a:r>
          </a:p>
          <a:p>
            <a:pPr>
              <a:defRPr sz="1600"/>
            </a:pPr>
            <a:r>
              <a:t>🔹 Learning Rate: 0.001 (Actor), 0.002 (Critic)</a:t>
            </a:r>
          </a:p>
          <a:p>
            <a:pPr>
              <a:defRPr sz="1600"/>
            </a:pPr>
            <a:r>
              <a:t>🔹 Discount Factor (γ): 0.99</a:t>
            </a:r>
          </a:p>
          <a:p>
            <a:pPr>
              <a:defRPr sz="1600"/>
            </a:pPr>
            <a:r>
              <a:t>🔹 Replay Buffer: 100,000 تجربه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🎬 سناریوهای ارزیابی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📍 سناریو ۱: محیط بدون مانع (Baseline)</a:t>
            </a:r>
          </a:p>
          <a:p>
            <a:pPr>
              <a:defRPr sz="1800"/>
            </a:pPr>
            <a:r>
              <a:t>📍 سناریو ۲: محیط با موانع محدود</a:t>
            </a:r>
          </a:p>
          <a:p>
            <a:pPr>
              <a:defRPr sz="1800"/>
            </a:pPr>
            <a:r>
              <a:t>📍 سناریو ۳: محیط پرتراکم</a:t>
            </a:r>
          </a:p>
          <a:p>
            <a:pPr>
              <a:defRPr sz="1800"/>
            </a:pPr>
            <a:r>
              <a:t>📍 سناریو ۴: تعداد متغیر پهپادها</a:t>
            </a:r>
          </a:p>
          <a:p/>
          <a:p>
            <a:br/>
            <a:pPr>
              <a:defRPr b="1" sz="1800"/>
            </a:pPr>
            <a:r>
              <a:t>🔍 مقایسه با Baseline‌ها:</a:t>
            </a:r>
          </a:p>
          <a:p>
            <a:pPr lvl="1">
              <a:defRPr sz="1500"/>
            </a:pPr>
            <a:r>
              <a:t>  • Random</a:t>
            </a:r>
          </a:p>
          <a:p>
            <a:pPr lvl="1">
              <a:defRPr sz="1500"/>
            </a:pPr>
            <a:r>
              <a:t>  • Always Local</a:t>
            </a:r>
          </a:p>
          <a:p>
            <a:pPr lvl="1">
              <a:defRPr sz="1500"/>
            </a:pPr>
            <a:r>
              <a:t>  • Always UAV</a:t>
            </a:r>
          </a:p>
          <a:p>
            <a:pPr lvl="1">
              <a:defRPr sz="1500"/>
            </a:pPr>
            <a:r>
              <a:t>  • Always Ground</a:t>
            </a:r>
          </a:p>
          <a:p>
            <a:pPr lvl="1">
              <a:defRPr sz="1500"/>
            </a:pPr>
            <a:r>
              <a:t>  • Greedy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📊 نتایج: مقایسه کارایی انرژی (جدول 5-1)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✅ بهترین: MADDPG با 3.82 mJ</a:t>
            </a:r>
          </a:p>
          <a:p>
            <a:r>
              <a:t>❌ بدترین: Always Local با 9.45 mJ</a:t>
            </a:r>
          </a:p>
          <a:p>
            <a:r>
              <a:t>🎯 کاهش 59% مصرف انرژی نسبت به Always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64008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[نمودار میله‌ای افقی مقایسه مصرف باتری]</a:t>
            </a:r>
          </a:p>
          <a:p/>
          <a:p>
            <a:r>
              <a:t>MADDPG: 3.82 mJ ████████░░</a:t>
            </a:r>
          </a:p>
          <a:p>
            <a:r>
              <a:t>Random: 9.12 mJ ██████████</a:t>
            </a:r>
          </a:p>
          <a:p>
            <a:r>
              <a:t>Always Local: 9.45 mJ ██████████</a:t>
            </a:r>
          </a:p>
          <a:p>
            <a:r>
              <a:t>Always UAV: 7.28 mJ █████████░</a:t>
            </a:r>
          </a:p>
          <a:p>
            <a:r>
              <a:t>Always Ground: 5.91 mJ ████████░░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⏱️ نتایج: تحلیل اجزای تأخیر (جدول 5-2)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🎯 کاهش 62% تأخیر کل</a:t>
            </a:r>
          </a:p>
          <a:p>
            <a:r>
              <a:t>⚡ کاهش 78% تأخیر صف (از 46.4% به 23.2%)</a:t>
            </a:r>
          </a:p>
          <a:p>
            <a:r>
              <a:t>🚀 بهبود قابل توجه در مدیریت منابع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64008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[نمودار Stacked Bar Chart - سه مؤلفه تأخیر]</a:t>
            </a:r>
          </a:p>
          <a:p/>
          <a:p>
            <a:r>
              <a:t>🟦 تأخیر انتقال</a:t>
            </a:r>
          </a:p>
          <a:p>
            <a:r>
              <a:t>🟧 تأخیر صف</a:t>
            </a:r>
          </a:p>
          <a:p>
            <a:r>
              <a:t>🟩 تأخیر پردازش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✅ نتایج: نرخ موفقیت وظایف (جدول 5-3)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🏆 MADDPG: 94.2% نرخ موفقیت</a:t>
            </a:r>
          </a:p>
          <a:p>
            <a:r>
              <a:t>📈 افزایش 18% نسبت به روش تصادفی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64008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[نمودار مقایسه نرخ موفقیت]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🌍 تأثیر پیچیدگی محیط (جدول 5-4)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🔍 با افزایش تعداد موانع:</a:t>
            </a:r>
          </a:p>
          <a:p>
            <a:r>
              <a:t>  • مصرف انرژی افزایش می‌یابد</a:t>
            </a:r>
          </a:p>
          <a:p>
            <a:r>
              <a:t>  • MADDPG همچنان برتری خود را حفظ می‌کند</a:t>
            </a:r>
          </a:p>
          <a:p>
            <a:r>
              <a:t>  • سازگاری هوشمند با محیط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646464"/>
                </a:solidFill>
              </a:defRPr>
            </a:pPr>
            <a:r>
              <a:t>[نمودار خطی تغییرات با افزایش موانع]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🔬 مطالعه حذفی - Ablation Study (جدول 5-6)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هدف: اثبات اهمیت هر مؤلفه طراحی</a:t>
            </a:r>
          </a:p>
          <a:p/>
          <a:p>
            <a:r>
              <a:t>آزمایش‌ها:</a:t>
            </a:r>
          </a:p>
          <a:p>
            <a:r>
              <a:t>  🔸 بدون آگاهی از انرژی</a:t>
            </a:r>
          </a:p>
          <a:p>
            <a:r>
              <a:t>  🔸 بدون اطلاعات DAG</a:t>
            </a:r>
          </a:p>
          <a:p>
            <a:r>
              <a:t>  🔸 بدون همکاری بین پهپادها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646464"/>
                </a:solidFill>
              </a:defRPr>
            </a:pPr>
            <a:r>
              <a:t>[نمودار Waterfall یا مقایسه واریانت‌ها]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📊 داشبورد تحلیل جامع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ابزار تحلیل پیشرفته با ۸ تب تخصصی:</a:t>
            </a:r>
          </a:p>
          <a:p>
            <a:pPr>
              <a:defRPr sz="1800"/>
            </a:pPr>
            <a:r>
              <a:t>۱. خلاصه عملکرد</a:t>
            </a:r>
          </a:p>
          <a:p>
            <a:pPr>
              <a:defRPr sz="1800"/>
            </a:pPr>
            <a:r>
              <a:t>۲. تحلیل انرژی</a:t>
            </a:r>
          </a:p>
          <a:p>
            <a:pPr>
              <a:defRPr sz="1800"/>
            </a:pPr>
            <a:r>
              <a:t>۳. تحلیل تأخیر</a:t>
            </a:r>
          </a:p>
          <a:p>
            <a:pPr>
              <a:defRPr sz="1800"/>
            </a:pPr>
            <a:r>
              <a:t>۴. نمودارهای مقایسه‌ای</a:t>
            </a:r>
          </a:p>
          <a:p>
            <a:pPr>
              <a:defRPr sz="1800"/>
            </a:pPr>
            <a:r>
              <a:t>۵. تحلیل پیچیدگی</a:t>
            </a:r>
          </a:p>
          <a:p>
            <a:pPr>
              <a:defRPr sz="1800"/>
            </a:pPr>
            <a:r>
              <a:t>۶. مطالعه حذفی</a:t>
            </a:r>
          </a:p>
          <a:p>
            <a:pPr>
              <a:defRPr sz="1800"/>
            </a:pPr>
            <a:r>
              <a:t>۷. اجرای کد تعاملی</a:t>
            </a:r>
          </a:p>
          <a:p>
            <a:pPr>
              <a:defRPr sz="1800"/>
            </a:pPr>
            <a:r>
              <a:t>۸. تحلیل نهایی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🏆 دستاوردهای کلیدی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کاهش ۵۹٪ مصرف انرژی نسبت به روش‌های سنتی</a:t>
            </a:r>
          </a:p>
          <a:p>
            <a:pPr>
              <a:defRPr sz="1800"/>
            </a:pPr>
            <a:r>
              <a:t>✅ کاهش ۶۲٪ تأخیر کل</a:t>
            </a:r>
          </a:p>
          <a:p>
            <a:pPr>
              <a:defRPr sz="1800"/>
            </a:pPr>
            <a:r>
              <a:t>✅ افزایش ۱۸٪ نرخ موفقیت در تکمیل وظایف</a:t>
            </a:r>
          </a:p>
          <a:p>
            <a:pPr>
              <a:defRPr sz="1800"/>
            </a:pPr>
            <a:r>
              <a:t>✅ سازگاری هوشمند با پیچیدگی محیط</a:t>
            </a:r>
          </a:p>
          <a:p>
            <a:pPr>
              <a:defRPr sz="1800"/>
            </a:pPr>
            <a:r>
              <a:t>✅ معماری مقیاس‌پذیر برای شبکه‌های بزرگ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⚠️ محدودیت‌های پژوهش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🔸 مقیاس شبیه‌سازی محدود (4-8 پهپاد)</a:t>
            </a:r>
          </a:p>
          <a:p>
            <a:pPr>
              <a:defRPr sz="1800"/>
            </a:pPr>
            <a:r>
              <a:t>🔸 مدل‌سازی ساده‌شده کانال ارتباطی</a:t>
            </a:r>
          </a:p>
          <a:p>
            <a:pPr>
              <a:defRPr sz="1800"/>
            </a:pPr>
            <a:r>
              <a:t>🔸 عدم در نظر گرفتن شرایط آب و هوایی</a:t>
            </a:r>
          </a:p>
          <a:p>
            <a:pPr>
              <a:defRPr sz="1800"/>
            </a:pPr>
            <a:r>
              <a:t>🔸 نیاز به محاسبات سنگین برای آموزش</a:t>
            </a:r>
          </a:p>
          <a:p>
            <a:pPr>
              <a:defRPr sz="1800"/>
            </a:pPr>
            <a:r>
              <a:t>🔸 عدم پیاده‌سازی روی سخت‌افزار واقعی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🚀 پیشنهادات برای تحقیقات آینده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💡 افزایش مقیاس به صدها پهپاد</a:t>
            </a:r>
          </a:p>
          <a:p>
            <a:pPr>
              <a:defRPr sz="1700"/>
            </a:pPr>
            <a:r>
              <a:t>💡 ترکیب با یادگیری فدرال (Federated Learning)</a:t>
            </a:r>
          </a:p>
          <a:p>
            <a:pPr>
              <a:defRPr sz="1700"/>
            </a:pPr>
            <a:r>
              <a:t>💡 پیاده‌سازی روی پلتفرم‌های واقعی</a:t>
            </a:r>
          </a:p>
          <a:p>
            <a:pPr>
              <a:defRPr sz="1700"/>
            </a:pPr>
            <a:r>
              <a:t>💡 بهبود مدل کانال با در نظر گرفتن تداخل</a:t>
            </a:r>
          </a:p>
          <a:p>
            <a:pPr>
              <a:defRPr sz="1700"/>
            </a:pPr>
            <a:r>
              <a:t>💡 افزودن سناریوهای امنیتی و دفاعی</a:t>
            </a:r>
          </a:p>
          <a:p>
            <a:pPr>
              <a:defRPr sz="1700"/>
            </a:pPr>
            <a:r>
              <a:t>💡 استفاده از الگوریتم‌های جدیدتر (PPO, SAC)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📝 نتیجه‌گیری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🎯 خلاصه:</a:t>
            </a:r>
          </a:p>
          <a:p>
            <a:pPr lvl="1">
              <a:defRPr sz="1600"/>
            </a:pPr>
            <a:r>
              <a:t>این پژوهش یک سیستم هوشمند برای تخلیه محاسباتی در شبکه پهپادها ارائه داد که با استفاده از MADDPG، مصرف انرژی و تأخیر را به طور قابل توجهی کاهش می‌دهد.</a:t>
            </a:r>
          </a:p>
          <a:p/>
          <a:p>
            <a:r>
              <a:t>🔬 سهم علمی:</a:t>
            </a:r>
          </a:p>
          <a:p>
            <a:pPr lvl="1">
              <a:defRPr sz="1500"/>
            </a:pPr>
            <a:r>
              <a:t>فرمول‌بندی جامع مسئله MINLP</a:t>
            </a:r>
          </a:p>
          <a:p>
            <a:pPr lvl="1">
              <a:defRPr sz="1500"/>
            </a:pPr>
            <a:r>
              <a:t>پیاده‌سازی موفق MADDPG در محیط پهپادی</a:t>
            </a:r>
          </a:p>
          <a:p>
            <a:pPr lvl="1">
              <a:defRPr sz="1500"/>
            </a:pPr>
            <a:r>
              <a:t>ارائه داشبورد تحلیل جامع</a:t>
            </a:r>
          </a:p>
          <a:p/>
          <a:p>
            <a:r>
              <a:t>💼 کاربردهای عملی:</a:t>
            </a:r>
          </a:p>
          <a:p>
            <a:pPr lvl="1">
              <a:defRPr sz="1500"/>
            </a:pPr>
            <a:r>
              <a:t>عملیات امداد و نجات</a:t>
            </a:r>
          </a:p>
          <a:p>
            <a:pPr lvl="1">
              <a:defRPr sz="1500"/>
            </a:pPr>
            <a:r>
              <a:t>نظارت هوشمند شهری</a:t>
            </a:r>
          </a:p>
          <a:p>
            <a:pPr lvl="1">
              <a:defRPr sz="1500"/>
            </a:pPr>
            <a:r>
              <a:t>کشاورزی دقیق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با تشکر از توجه شما</a:t>
            </a:r>
          </a:p>
          <a:p/>
          <a:p>
            <a:r>
              <a:t>🙋 آماده پاسخگویی به سوالات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