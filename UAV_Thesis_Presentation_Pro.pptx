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0" cy="6858000"/>
          </a:xfrm>
          <a:prstGeom prst="rect">
            <a:avLst/>
          </a:prstGeom>
          <a:solidFill>
            <a:srgbClr val="0C14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8" cy="6858000"/>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 y="0"/>
            <a:ext cx="54864" cy="6858000"/>
          </a:xfrm>
          <a:prstGeom prst="rect">
            <a:avLst/>
          </a:prstGeom>
          <a:solidFill>
            <a:srgbClr val="006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64592" y="0"/>
            <a:ext cx="36576" cy="6858000"/>
          </a:xfrm>
          <a:prstGeom prst="rect">
            <a:avLst/>
          </a:prstGeom>
          <a:solidFill>
            <a:srgbClr val="00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778240" y="274319"/>
            <a:ext cx="1645920" cy="1645920"/>
          </a:xfrm>
          <a:prstGeom prst="ellipse">
            <a:avLst/>
          </a:prstGeom>
          <a:solidFill>
            <a:srgbClr val="005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46920" y="2514600"/>
            <a:ext cx="2286000" cy="2286000"/>
          </a:xfrm>
          <a:prstGeom prst="ellipse">
            <a:avLst/>
          </a:prstGeom>
          <a:solidFill>
            <a:srgbClr val="0032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680960" y="5394960"/>
            <a:ext cx="1097280" cy="1097280"/>
          </a:xfrm>
          <a:prstGeom prst="ellipse">
            <a:avLst/>
          </a:prstGeom>
          <a:solidFill>
            <a:srgbClr val="146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320040"/>
            <a:ext cx="3474720" cy="365760"/>
          </a:xfrm>
          <a:prstGeom prst="rect">
            <a:avLst/>
          </a:prstGeom>
          <a:solidFill>
            <a:srgbClr val="0064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29184"/>
            <a:ext cx="3383280" cy="347472"/>
          </a:xfrm>
          <a:prstGeom prst="rect">
            <a:avLst/>
          </a:prstGeom>
          <a:noFill/>
        </p:spPr>
        <p:txBody>
          <a:bodyPr wrap="square">
            <a:spAutoFit/>
          </a:bodyPr>
          <a:lstStyle/>
          <a:p>
            <a:pPr algn="l"/>
            <a:r>
              <a:rPr sz="1100" b="0" i="0">
                <a:solidFill>
                  <a:srgbClr val="FFFFFF"/>
                </a:solidFill>
              </a:rPr>
              <a:t>پایان‌نامه کارشناسی ارشد  |  مهندسی کامپیوتر</a:t>
            </a:r>
          </a:p>
        </p:txBody>
      </p:sp>
      <p:sp>
        <p:nvSpPr>
          <p:cNvPr id="12" name="TextBox 11"/>
          <p:cNvSpPr txBox="1"/>
          <p:nvPr/>
        </p:nvSpPr>
        <p:spPr>
          <a:xfrm>
            <a:off x="457200" y="914400"/>
            <a:ext cx="8686800" cy="1005840"/>
          </a:xfrm>
          <a:prstGeom prst="rect">
            <a:avLst/>
          </a:prstGeom>
          <a:noFill/>
        </p:spPr>
        <p:txBody>
          <a:bodyPr wrap="square">
            <a:spAutoFit/>
          </a:bodyPr>
          <a:lstStyle/>
          <a:p>
            <a:pPr algn="l"/>
            <a:r>
              <a:rPr sz="4400" b="1" i="0">
                <a:solidFill>
                  <a:srgbClr val="FFFFFF"/>
                </a:solidFill>
              </a:rPr>
              <a:t>بهینه‌سازی تخلیه محاسباتی</a:t>
            </a:r>
          </a:p>
        </p:txBody>
      </p:sp>
      <p:sp>
        <p:nvSpPr>
          <p:cNvPr id="13" name="TextBox 12"/>
          <p:cNvSpPr txBox="1"/>
          <p:nvPr/>
        </p:nvSpPr>
        <p:spPr>
          <a:xfrm>
            <a:off x="457200" y="1783080"/>
            <a:ext cx="8686800" cy="914400"/>
          </a:xfrm>
          <a:prstGeom prst="rect">
            <a:avLst/>
          </a:prstGeom>
          <a:noFill/>
        </p:spPr>
        <p:txBody>
          <a:bodyPr wrap="square">
            <a:spAutoFit/>
          </a:bodyPr>
          <a:lstStyle/>
          <a:p>
            <a:pPr algn="l"/>
            <a:r>
              <a:rPr sz="3800" b="1" i="0">
                <a:solidFill>
                  <a:srgbClr val="00E6D2"/>
                </a:solidFill>
              </a:rPr>
              <a:t>در شبکه پهپادهای هوشمند</a:t>
            </a:r>
          </a:p>
        </p:txBody>
      </p:sp>
      <p:sp>
        <p:nvSpPr>
          <p:cNvPr id="14" name="TextBox 13"/>
          <p:cNvSpPr txBox="1"/>
          <p:nvPr/>
        </p:nvSpPr>
        <p:spPr>
          <a:xfrm>
            <a:off x="457200" y="2606040"/>
            <a:ext cx="9144000" cy="640080"/>
          </a:xfrm>
          <a:prstGeom prst="rect">
            <a:avLst/>
          </a:prstGeom>
          <a:noFill/>
        </p:spPr>
        <p:txBody>
          <a:bodyPr wrap="square">
            <a:spAutoFit/>
          </a:bodyPr>
          <a:lstStyle/>
          <a:p>
            <a:pPr algn="l"/>
            <a:r>
              <a:rPr sz="2000" b="0" i="1">
                <a:solidFill>
                  <a:srgbClr val="C8D2E6"/>
                </a:solidFill>
              </a:rPr>
              <a:t>با استفاده از یادگیری تقویتی چند عاملی  (MADDPG)</a:t>
            </a:r>
          </a:p>
        </p:txBody>
      </p:sp>
      <p:sp>
        <p:nvSpPr>
          <p:cNvPr id="15" name="Rectangle 14"/>
          <p:cNvSpPr/>
          <p:nvPr/>
        </p:nvSpPr>
        <p:spPr>
          <a:xfrm>
            <a:off x="411480" y="3383280"/>
            <a:ext cx="5943600" cy="36576"/>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566160"/>
            <a:ext cx="5486400" cy="1645920"/>
          </a:xfrm>
          <a:prstGeom prst="rect">
            <a:avLst/>
          </a:prstGeom>
          <a:noFill/>
        </p:spPr>
        <p:txBody>
          <a:bodyPr wrap="square">
            <a:spAutoFit/>
          </a:bodyPr>
          <a:lstStyle/>
          <a:p>
            <a:pPr algn="l"/>
            <a:r>
              <a:rPr sz="1600" b="1" i="0">
                <a:solidFill>
                  <a:srgbClr val="FFFFFF"/>
                </a:solidFill>
              </a:rPr>
              <a:t>👤  دانشجو: [نام و نام خانوادگی]</a:t>
            </a:r>
          </a:p>
          <a:p>
            <a:pPr algn="l"/>
            <a:r>
              <a:rPr sz="1500" b="0" i="0">
                <a:solidFill>
                  <a:srgbClr val="C8D2E6"/>
                </a:solidFill>
              </a:rPr>
              <a:t>🎓  استاد راهنما: [نام استاد]</a:t>
            </a:r>
          </a:p>
          <a:p>
            <a:pPr algn="l"/>
            <a:r>
              <a:rPr sz="1400" b="0" i="0">
                <a:solidFill>
                  <a:srgbClr val="788CAA"/>
                </a:solidFill>
              </a:rPr>
              <a:t>📅  بهمن ۱۴۰۴</a:t>
            </a:r>
          </a:p>
        </p:txBody>
      </p:sp>
      <p:sp>
        <p:nvSpPr>
          <p:cNvPr id="17" name="TextBox 16"/>
          <p:cNvSpPr txBox="1"/>
          <p:nvPr/>
        </p:nvSpPr>
        <p:spPr>
          <a:xfrm>
            <a:off x="8961120" y="6035040"/>
            <a:ext cx="2743200" cy="640080"/>
          </a:xfrm>
          <a:prstGeom prst="rect">
            <a:avLst/>
          </a:prstGeom>
          <a:noFill/>
        </p:spPr>
        <p:txBody>
          <a:bodyPr wrap="square">
            <a:spAutoFit/>
          </a:bodyPr>
          <a:lstStyle/>
          <a:p>
            <a:pPr algn="r"/>
            <a:r>
              <a:rPr sz="2200" b="1" i="0">
                <a:solidFill>
                  <a:srgbClr val="00A2FF"/>
                </a:solidFill>
              </a:rPr>
              <a:t>✈  SkyMind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45720"/>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188720"/>
          </a:xfrm>
          <a:prstGeom prst="rect">
            <a:avLst/>
          </a:prstGeom>
          <a:solidFill>
            <a:srgbClr val="00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9144000" cy="731520"/>
          </a:xfrm>
          <a:prstGeom prst="rect">
            <a:avLst/>
          </a:prstGeom>
          <a:noFill/>
        </p:spPr>
        <p:txBody>
          <a:bodyPr wrap="square">
            <a:spAutoFit/>
          </a:bodyPr>
          <a:lstStyle/>
          <a:p>
            <a:pPr algn="l"/>
            <a:r>
              <a:rPr sz="3000" b="1" i="0">
                <a:solidFill>
                  <a:srgbClr val="FFFFFF"/>
                </a:solidFill>
              </a:rPr>
              <a:t>📋  فهرست مطالب</a:t>
            </a:r>
          </a:p>
        </p:txBody>
      </p:sp>
      <p:sp>
        <p:nvSpPr>
          <p:cNvPr id="6" name="TextBox 5"/>
          <p:cNvSpPr txBox="1"/>
          <p:nvPr/>
        </p:nvSpPr>
        <p:spPr>
          <a:xfrm>
            <a:off x="228600" y="749808"/>
            <a:ext cx="9144000" cy="365760"/>
          </a:xfrm>
          <a:prstGeom prst="rect">
            <a:avLst/>
          </a:prstGeom>
          <a:noFill/>
        </p:spPr>
        <p:txBody>
          <a:bodyPr wrap="square">
            <a:spAutoFit/>
          </a:bodyPr>
          <a:lstStyle/>
          <a:p>
            <a:pPr algn="l"/>
            <a:r>
              <a:rPr sz="1300" b="0" i="1">
                <a:solidFill>
                  <a:srgbClr val="00E6D2"/>
                </a:solidFill>
              </a:rPr>
              <a:t>ساختار ارائه</a:t>
            </a:r>
          </a:p>
        </p:txBody>
      </p:sp>
      <p:sp>
        <p:nvSpPr>
          <p:cNvPr id="7" name="Rectangle 6"/>
          <p:cNvSpPr/>
          <p:nvPr/>
        </p:nvSpPr>
        <p:spPr>
          <a:xfrm>
            <a:off x="365760" y="1417320"/>
            <a:ext cx="3566160" cy="20116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417320"/>
            <a:ext cx="3566160" cy="64008"/>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527048"/>
            <a:ext cx="731520" cy="822960"/>
          </a:xfrm>
          <a:prstGeom prst="rect">
            <a:avLst/>
          </a:prstGeom>
          <a:noFill/>
        </p:spPr>
        <p:txBody>
          <a:bodyPr wrap="square">
            <a:spAutoFit/>
          </a:bodyPr>
          <a:lstStyle/>
          <a:p>
            <a:pPr algn="l"/>
            <a:r>
              <a:rPr sz="3600" b="1" i="0">
                <a:solidFill>
                  <a:srgbClr val="00A2FF"/>
                </a:solidFill>
              </a:rPr>
              <a:t>۱</a:t>
            </a:r>
          </a:p>
        </p:txBody>
      </p:sp>
      <p:sp>
        <p:nvSpPr>
          <p:cNvPr id="10" name="TextBox 9"/>
          <p:cNvSpPr txBox="1"/>
          <p:nvPr/>
        </p:nvSpPr>
        <p:spPr>
          <a:xfrm>
            <a:off x="548640" y="2240280"/>
            <a:ext cx="3200400" cy="1005840"/>
          </a:xfrm>
          <a:prstGeom prst="rect">
            <a:avLst/>
          </a:prstGeom>
          <a:noFill/>
        </p:spPr>
        <p:txBody>
          <a:bodyPr wrap="square">
            <a:spAutoFit/>
          </a:bodyPr>
          <a:lstStyle/>
          <a:p>
            <a:pPr algn="l"/>
            <a:r>
              <a:rPr sz="1500" b="0" i="0">
                <a:solidFill>
                  <a:srgbClr val="FFFFFF"/>
                </a:solidFill>
              </a:rPr>
              <a:t>مقدمه و بیان مسئله</a:t>
            </a:r>
          </a:p>
        </p:txBody>
      </p:sp>
      <p:sp>
        <p:nvSpPr>
          <p:cNvPr id="11" name="Rectangle 10"/>
          <p:cNvSpPr/>
          <p:nvPr/>
        </p:nvSpPr>
        <p:spPr>
          <a:xfrm>
            <a:off x="4297680" y="1417320"/>
            <a:ext cx="3566160" cy="20116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1417320"/>
            <a:ext cx="3566160" cy="64008"/>
          </a:xfrm>
          <a:prstGeom prst="rect">
            <a:avLst/>
          </a:prstGeom>
          <a:solidFill>
            <a:srgbClr val="00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34840" y="1527048"/>
            <a:ext cx="731520" cy="822960"/>
          </a:xfrm>
          <a:prstGeom prst="rect">
            <a:avLst/>
          </a:prstGeom>
          <a:noFill/>
        </p:spPr>
        <p:txBody>
          <a:bodyPr wrap="square">
            <a:spAutoFit/>
          </a:bodyPr>
          <a:lstStyle/>
          <a:p>
            <a:pPr algn="l"/>
            <a:r>
              <a:rPr sz="3600" b="1" i="0">
                <a:solidFill>
                  <a:srgbClr val="00E6D2"/>
                </a:solidFill>
              </a:rPr>
              <a:t>۲</a:t>
            </a:r>
          </a:p>
        </p:txBody>
      </p:sp>
      <p:sp>
        <p:nvSpPr>
          <p:cNvPr id="14" name="TextBox 13"/>
          <p:cNvSpPr txBox="1"/>
          <p:nvPr/>
        </p:nvSpPr>
        <p:spPr>
          <a:xfrm>
            <a:off x="4480560" y="2240280"/>
            <a:ext cx="3200400" cy="1005840"/>
          </a:xfrm>
          <a:prstGeom prst="rect">
            <a:avLst/>
          </a:prstGeom>
          <a:noFill/>
        </p:spPr>
        <p:txBody>
          <a:bodyPr wrap="square">
            <a:spAutoFit/>
          </a:bodyPr>
          <a:lstStyle/>
          <a:p>
            <a:pPr algn="l"/>
            <a:r>
              <a:rPr sz="1500" b="0" i="0">
                <a:solidFill>
                  <a:srgbClr val="FFFFFF"/>
                </a:solidFill>
              </a:rPr>
              <a:t>مروری بر ادبیات و پیشینه</a:t>
            </a:r>
          </a:p>
        </p:txBody>
      </p:sp>
      <p:sp>
        <p:nvSpPr>
          <p:cNvPr id="15" name="Rectangle 14"/>
          <p:cNvSpPr/>
          <p:nvPr/>
        </p:nvSpPr>
        <p:spPr>
          <a:xfrm>
            <a:off x="8229600" y="1417320"/>
            <a:ext cx="3566160" cy="20116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0" y="1417320"/>
            <a:ext cx="3566160" cy="64008"/>
          </a:xfrm>
          <a:prstGeom prst="rect">
            <a:avLst/>
          </a:prstGeom>
          <a:solidFill>
            <a:srgbClr val="8A2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6760" y="1527048"/>
            <a:ext cx="731520" cy="822960"/>
          </a:xfrm>
          <a:prstGeom prst="rect">
            <a:avLst/>
          </a:prstGeom>
          <a:noFill/>
        </p:spPr>
        <p:txBody>
          <a:bodyPr wrap="square">
            <a:spAutoFit/>
          </a:bodyPr>
          <a:lstStyle/>
          <a:p>
            <a:pPr algn="l"/>
            <a:r>
              <a:rPr sz="3600" b="1" i="0">
                <a:solidFill>
                  <a:srgbClr val="8A2BE2"/>
                </a:solidFill>
              </a:rPr>
              <a:t>۳</a:t>
            </a:r>
          </a:p>
        </p:txBody>
      </p:sp>
      <p:sp>
        <p:nvSpPr>
          <p:cNvPr id="18" name="TextBox 17"/>
          <p:cNvSpPr txBox="1"/>
          <p:nvPr/>
        </p:nvSpPr>
        <p:spPr>
          <a:xfrm>
            <a:off x="8412480" y="2240280"/>
            <a:ext cx="3200400" cy="1005840"/>
          </a:xfrm>
          <a:prstGeom prst="rect">
            <a:avLst/>
          </a:prstGeom>
          <a:noFill/>
        </p:spPr>
        <p:txBody>
          <a:bodyPr wrap="square">
            <a:spAutoFit/>
          </a:bodyPr>
          <a:lstStyle/>
          <a:p>
            <a:pPr algn="l"/>
            <a:r>
              <a:rPr sz="1500" b="0" i="0">
                <a:solidFill>
                  <a:srgbClr val="FFFFFF"/>
                </a:solidFill>
              </a:rPr>
              <a:t>معماری و روش‌شناسی پیشنهادی</a:t>
            </a:r>
          </a:p>
        </p:txBody>
      </p:sp>
      <p:sp>
        <p:nvSpPr>
          <p:cNvPr id="19" name="Rectangle 18"/>
          <p:cNvSpPr/>
          <p:nvPr/>
        </p:nvSpPr>
        <p:spPr>
          <a:xfrm>
            <a:off x="365760" y="3657600"/>
            <a:ext cx="3566160" cy="20116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3657600"/>
            <a:ext cx="3566160"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3767328"/>
            <a:ext cx="731520" cy="822960"/>
          </a:xfrm>
          <a:prstGeom prst="rect">
            <a:avLst/>
          </a:prstGeom>
          <a:noFill/>
        </p:spPr>
        <p:txBody>
          <a:bodyPr wrap="square">
            <a:spAutoFit/>
          </a:bodyPr>
          <a:lstStyle/>
          <a:p>
            <a:pPr algn="l"/>
            <a:r>
              <a:rPr sz="3600" b="1" i="0">
                <a:solidFill>
                  <a:srgbClr val="FF8C00"/>
                </a:solidFill>
              </a:rPr>
              <a:t>۴</a:t>
            </a:r>
          </a:p>
        </p:txBody>
      </p:sp>
      <p:sp>
        <p:nvSpPr>
          <p:cNvPr id="22" name="TextBox 21"/>
          <p:cNvSpPr txBox="1"/>
          <p:nvPr/>
        </p:nvSpPr>
        <p:spPr>
          <a:xfrm>
            <a:off x="548640" y="4480560"/>
            <a:ext cx="3200400" cy="1005840"/>
          </a:xfrm>
          <a:prstGeom prst="rect">
            <a:avLst/>
          </a:prstGeom>
          <a:noFill/>
        </p:spPr>
        <p:txBody>
          <a:bodyPr wrap="square">
            <a:spAutoFit/>
          </a:bodyPr>
          <a:lstStyle/>
          <a:p>
            <a:pPr algn="l"/>
            <a:r>
              <a:rPr sz="1500" b="0" i="0">
                <a:solidFill>
                  <a:srgbClr val="FFFFFF"/>
                </a:solidFill>
              </a:rPr>
              <a:t>فرمول‌بندی و الگوریتم MADDPG</a:t>
            </a:r>
          </a:p>
        </p:txBody>
      </p:sp>
      <p:sp>
        <p:nvSpPr>
          <p:cNvPr id="23" name="Rectangle 22"/>
          <p:cNvSpPr/>
          <p:nvPr/>
        </p:nvSpPr>
        <p:spPr>
          <a:xfrm>
            <a:off x="4297680" y="3657600"/>
            <a:ext cx="3566160" cy="20116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97680" y="3657600"/>
            <a:ext cx="3566160" cy="64008"/>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34840" y="3767328"/>
            <a:ext cx="731520" cy="822960"/>
          </a:xfrm>
          <a:prstGeom prst="rect">
            <a:avLst/>
          </a:prstGeom>
          <a:noFill/>
        </p:spPr>
        <p:txBody>
          <a:bodyPr wrap="square">
            <a:spAutoFit/>
          </a:bodyPr>
          <a:lstStyle/>
          <a:p>
            <a:pPr algn="l"/>
            <a:r>
              <a:rPr sz="3600" b="1" i="0">
                <a:solidFill>
                  <a:srgbClr val="39FF14"/>
                </a:solidFill>
              </a:rPr>
              <a:t>۵</a:t>
            </a:r>
          </a:p>
        </p:txBody>
      </p:sp>
      <p:sp>
        <p:nvSpPr>
          <p:cNvPr id="26" name="TextBox 25"/>
          <p:cNvSpPr txBox="1"/>
          <p:nvPr/>
        </p:nvSpPr>
        <p:spPr>
          <a:xfrm>
            <a:off x="4480560" y="4480560"/>
            <a:ext cx="3200400" cy="1005840"/>
          </a:xfrm>
          <a:prstGeom prst="rect">
            <a:avLst/>
          </a:prstGeom>
          <a:noFill/>
        </p:spPr>
        <p:txBody>
          <a:bodyPr wrap="square">
            <a:spAutoFit/>
          </a:bodyPr>
          <a:lstStyle/>
          <a:p>
            <a:pPr algn="l"/>
            <a:r>
              <a:rPr sz="1500" b="0" i="0">
                <a:solidFill>
                  <a:srgbClr val="FFFFFF"/>
                </a:solidFill>
              </a:rPr>
              <a:t>نتایج شبیه‌سازی و ارزیابی</a:t>
            </a:r>
          </a:p>
        </p:txBody>
      </p:sp>
      <p:sp>
        <p:nvSpPr>
          <p:cNvPr id="27" name="Rectangle 26"/>
          <p:cNvSpPr/>
          <p:nvPr/>
        </p:nvSpPr>
        <p:spPr>
          <a:xfrm>
            <a:off x="8229600" y="3657600"/>
            <a:ext cx="3566160" cy="20116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29600" y="3657600"/>
            <a:ext cx="3566160" cy="6400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66760" y="3767328"/>
            <a:ext cx="731520" cy="822960"/>
          </a:xfrm>
          <a:prstGeom prst="rect">
            <a:avLst/>
          </a:prstGeom>
          <a:noFill/>
        </p:spPr>
        <p:txBody>
          <a:bodyPr wrap="square">
            <a:spAutoFit/>
          </a:bodyPr>
          <a:lstStyle/>
          <a:p>
            <a:pPr algn="l"/>
            <a:r>
              <a:rPr sz="3600" b="1" i="0">
                <a:solidFill>
                  <a:srgbClr val="FFD700"/>
                </a:solidFill>
              </a:rPr>
              <a:t>۶</a:t>
            </a:r>
          </a:p>
        </p:txBody>
      </p:sp>
      <p:sp>
        <p:nvSpPr>
          <p:cNvPr id="30" name="TextBox 29"/>
          <p:cNvSpPr txBox="1"/>
          <p:nvPr/>
        </p:nvSpPr>
        <p:spPr>
          <a:xfrm>
            <a:off x="8412480" y="4480560"/>
            <a:ext cx="3200400" cy="1005840"/>
          </a:xfrm>
          <a:prstGeom prst="rect">
            <a:avLst/>
          </a:prstGeom>
          <a:noFill/>
        </p:spPr>
        <p:txBody>
          <a:bodyPr wrap="square">
            <a:spAutoFit/>
          </a:bodyPr>
          <a:lstStyle/>
          <a:p>
            <a:pPr algn="l"/>
            <a:r>
              <a:rPr sz="1500" b="0" i="0">
                <a:solidFill>
                  <a:srgbClr val="FFFFFF"/>
                </a:solidFill>
              </a:rPr>
              <a:t>نتیجه‌گیری و کارهای آینده</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45720"/>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188720"/>
          </a:xfrm>
          <a:prstGeom prst="rect">
            <a:avLst/>
          </a:prstGeom>
          <a:solidFill>
            <a:srgbClr val="00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9144000" cy="731520"/>
          </a:xfrm>
          <a:prstGeom prst="rect">
            <a:avLst/>
          </a:prstGeom>
          <a:noFill/>
        </p:spPr>
        <p:txBody>
          <a:bodyPr wrap="square">
            <a:spAutoFit/>
          </a:bodyPr>
          <a:lstStyle/>
          <a:p>
            <a:pPr algn="l"/>
            <a:r>
              <a:rPr sz="3000" b="1" i="0">
                <a:solidFill>
                  <a:srgbClr val="FFFFFF"/>
                </a:solidFill>
              </a:rPr>
              <a:t>🎯  بیان مسئله</a:t>
            </a:r>
          </a:p>
        </p:txBody>
      </p:sp>
      <p:sp>
        <p:nvSpPr>
          <p:cNvPr id="6" name="TextBox 5"/>
          <p:cNvSpPr txBox="1"/>
          <p:nvPr/>
        </p:nvSpPr>
        <p:spPr>
          <a:xfrm>
            <a:off x="228600" y="749808"/>
            <a:ext cx="9144000" cy="365760"/>
          </a:xfrm>
          <a:prstGeom prst="rect">
            <a:avLst/>
          </a:prstGeom>
          <a:noFill/>
        </p:spPr>
        <p:txBody>
          <a:bodyPr wrap="square">
            <a:spAutoFit/>
          </a:bodyPr>
          <a:lstStyle/>
          <a:p>
            <a:pPr algn="l"/>
            <a:r>
              <a:rPr sz="1300" b="0" i="1">
                <a:solidFill>
                  <a:srgbClr val="00E6D2"/>
                </a:solidFill>
              </a:rPr>
              <a:t>چرا این تحقیق ضروری است؟</a:t>
            </a:r>
          </a:p>
        </p:txBody>
      </p:sp>
      <p:sp>
        <p:nvSpPr>
          <p:cNvPr id="7" name="Rectangle 6"/>
          <p:cNvSpPr/>
          <p:nvPr/>
        </p:nvSpPr>
        <p:spPr>
          <a:xfrm>
            <a:off x="320040" y="1371600"/>
            <a:ext cx="5486400" cy="512064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371600"/>
            <a:ext cx="5486400"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36192"/>
            <a:ext cx="5212080" cy="4892040"/>
          </a:xfrm>
          <a:prstGeom prst="rect">
            <a:avLst/>
          </a:prstGeom>
          <a:noFill/>
        </p:spPr>
        <p:txBody>
          <a:bodyPr wrap="square">
            <a:spAutoFit/>
          </a:bodyPr>
          <a:lstStyle/>
          <a:p>
            <a:pPr algn="l"/>
            <a:r>
              <a:rPr sz="1800" b="1" i="0">
                <a:solidFill>
                  <a:srgbClr val="FF8C00"/>
                </a:solidFill>
              </a:rPr>
              <a:t>⚡ چالش‌های اصلی</a:t>
            </a:r>
          </a:p>
          <a:p>
            <a:pPr algn="l"/>
            <a:r>
              <a:rPr sz="1500" b="0" i="0">
                <a:solidFill>
                  <a:srgbClr val="C8D2E6"/>
                </a:solidFill>
              </a:rPr>
              <a:t>  🔋  محدودیت شدید انرژی باتری پهپادها</a:t>
            </a:r>
          </a:p>
          <a:p>
            <a:pPr algn="l"/>
            <a:r>
              <a:rPr sz="1500" b="0" i="0">
                <a:solidFill>
                  <a:srgbClr val="C8D2E6"/>
                </a:solidFill>
              </a:rPr>
              <a:t>  💻  منابع محاسباتی ناکافی در پهپادهای کوچک</a:t>
            </a:r>
          </a:p>
          <a:p>
            <a:pPr algn="l"/>
            <a:r>
              <a:rPr sz="1500" b="0" i="0">
                <a:solidFill>
                  <a:srgbClr val="C8D2E6"/>
                </a:solidFill>
              </a:rPr>
              <a:t>  📡  تأخیر بالا در ارتباطات بی‌سیم</a:t>
            </a:r>
          </a:p>
          <a:p>
            <a:pPr algn="l"/>
            <a:r>
              <a:rPr sz="1500" b="0" i="0">
                <a:solidFill>
                  <a:srgbClr val="C8D2E6"/>
                </a:solidFill>
              </a:rPr>
              <a:t>  🌐  نیاز به تصمیم‌گیری هوشمند real-time</a:t>
            </a:r>
          </a:p>
          <a:p>
            <a:pPr algn="l"/>
            <a:r>
              <a:rPr sz="1500" b="0" i="0">
                <a:solidFill>
                  <a:srgbClr val="C8D2E6"/>
                </a:solidFill>
              </a:rPr>
              <a:t>  🔄  توزیع بهینه بار محاسباتی بین لایه‌ها</a:t>
            </a:r>
          </a:p>
        </p:txBody>
      </p:sp>
      <p:sp>
        <p:nvSpPr>
          <p:cNvPr id="10" name="Rectangle 9"/>
          <p:cNvSpPr/>
          <p:nvPr/>
        </p:nvSpPr>
        <p:spPr>
          <a:xfrm>
            <a:off x="6126480" y="1371600"/>
            <a:ext cx="5486400" cy="512064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0" y="1371600"/>
            <a:ext cx="5486400" cy="54864"/>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1536192"/>
            <a:ext cx="5212080" cy="4892040"/>
          </a:xfrm>
          <a:prstGeom prst="rect">
            <a:avLst/>
          </a:prstGeom>
          <a:noFill/>
        </p:spPr>
        <p:txBody>
          <a:bodyPr wrap="square">
            <a:spAutoFit/>
          </a:bodyPr>
          <a:lstStyle/>
          <a:p>
            <a:pPr algn="l"/>
            <a:r>
              <a:rPr sz="1800" b="1" i="0">
                <a:solidFill>
                  <a:srgbClr val="39FF14"/>
                </a:solidFill>
              </a:rPr>
              <a:t>✅ راه‌حل پیشنهادی</a:t>
            </a:r>
          </a:p>
          <a:p>
            <a:pPr algn="l"/>
            <a:r>
              <a:rPr sz="1500" b="0" i="0">
                <a:solidFill>
                  <a:srgbClr val="C8D2E6"/>
                </a:solidFill>
              </a:rPr>
              <a:t>  🤖  یادگیری تقویتی چند عاملی (MADDPG)</a:t>
            </a:r>
          </a:p>
          <a:p>
            <a:pPr algn="l"/>
            <a:r>
              <a:rPr sz="1500" b="0" i="0">
                <a:solidFill>
                  <a:srgbClr val="C8D2E6"/>
                </a:solidFill>
              </a:rPr>
              <a:t>  🏗️  معماری سه‌لایه پردازش</a:t>
            </a:r>
          </a:p>
          <a:p>
            <a:pPr algn="l"/>
            <a:r>
              <a:rPr sz="1500" b="0" i="0">
                <a:solidFill>
                  <a:srgbClr val="C8D2E6"/>
                </a:solidFill>
              </a:rPr>
              <a:t>  🧠  تصمیم‌گیری توزیع‌شده هوشمند</a:t>
            </a:r>
          </a:p>
          <a:p>
            <a:pPr algn="l"/>
            <a:r>
              <a:rPr sz="1500" b="0" i="0">
                <a:solidFill>
                  <a:srgbClr val="C8D2E6"/>
                </a:solidFill>
              </a:rPr>
              <a:t>  📊  بهینه‌سازی همزمان انرژی و تأخیر</a:t>
            </a:r>
          </a:p>
          <a:p>
            <a:pPr algn="l"/>
            <a:r>
              <a:rPr sz="1500" b="0" i="0">
                <a:solidFill>
                  <a:srgbClr val="C8D2E6"/>
                </a:solidFill>
              </a:rPr>
              <a:t>  🔬  فرمول‌بندی به‌صورت MINLP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45720"/>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188720"/>
          </a:xfrm>
          <a:prstGeom prst="rect">
            <a:avLst/>
          </a:prstGeom>
          <a:solidFill>
            <a:srgbClr val="00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9144000" cy="731520"/>
          </a:xfrm>
          <a:prstGeom prst="rect">
            <a:avLst/>
          </a:prstGeom>
          <a:noFill/>
        </p:spPr>
        <p:txBody>
          <a:bodyPr wrap="square">
            <a:spAutoFit/>
          </a:bodyPr>
          <a:lstStyle/>
          <a:p>
            <a:pPr algn="l"/>
            <a:r>
              <a:rPr sz="3000" b="1" i="0">
                <a:solidFill>
                  <a:srgbClr val="FFFFFF"/>
                </a:solidFill>
              </a:rPr>
              <a:t>🎓  اهداف تحقیق</a:t>
            </a:r>
          </a:p>
        </p:txBody>
      </p:sp>
      <p:sp>
        <p:nvSpPr>
          <p:cNvPr id="6" name="TextBox 5"/>
          <p:cNvSpPr txBox="1"/>
          <p:nvPr/>
        </p:nvSpPr>
        <p:spPr>
          <a:xfrm>
            <a:off x="228600" y="749808"/>
            <a:ext cx="9144000" cy="365760"/>
          </a:xfrm>
          <a:prstGeom prst="rect">
            <a:avLst/>
          </a:prstGeom>
          <a:noFill/>
        </p:spPr>
        <p:txBody>
          <a:bodyPr wrap="square">
            <a:spAutoFit/>
          </a:bodyPr>
          <a:lstStyle/>
          <a:p>
            <a:pPr algn="l"/>
            <a:r>
              <a:rPr sz="1300" b="0" i="1">
                <a:solidFill>
                  <a:srgbClr val="00E6D2"/>
                </a:solidFill>
              </a:rPr>
              <a:t>هدف اصلی و اهداف فرعی</a:t>
            </a:r>
          </a:p>
        </p:txBody>
      </p:sp>
      <p:sp>
        <p:nvSpPr>
          <p:cNvPr id="7" name="Rectangle 6"/>
          <p:cNvSpPr/>
          <p:nvPr/>
        </p:nvSpPr>
        <p:spPr>
          <a:xfrm>
            <a:off x="320040" y="1371600"/>
            <a:ext cx="11521440" cy="164592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371600"/>
            <a:ext cx="11521440" cy="6400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63040"/>
            <a:ext cx="3657600" cy="457200"/>
          </a:xfrm>
          <a:prstGeom prst="rect">
            <a:avLst/>
          </a:prstGeom>
          <a:noFill/>
        </p:spPr>
        <p:txBody>
          <a:bodyPr wrap="square">
            <a:spAutoFit/>
          </a:bodyPr>
          <a:lstStyle/>
          <a:p>
            <a:pPr algn="l"/>
            <a:r>
              <a:rPr sz="1800" b="1" i="0">
                <a:solidFill>
                  <a:srgbClr val="FFD700"/>
                </a:solidFill>
              </a:rPr>
              <a:t>🏆  هدف اصلی</a:t>
            </a:r>
          </a:p>
        </p:txBody>
      </p:sp>
      <p:sp>
        <p:nvSpPr>
          <p:cNvPr id="10" name="TextBox 9"/>
          <p:cNvSpPr txBox="1"/>
          <p:nvPr/>
        </p:nvSpPr>
        <p:spPr>
          <a:xfrm>
            <a:off x="502920" y="1874519"/>
            <a:ext cx="11155680" cy="914400"/>
          </a:xfrm>
          <a:prstGeom prst="rect">
            <a:avLst/>
          </a:prstGeom>
          <a:noFill/>
        </p:spPr>
        <p:txBody>
          <a:bodyPr wrap="square">
            <a:spAutoFit/>
          </a:bodyPr>
          <a:lstStyle/>
          <a:p>
            <a:pPr algn="l"/>
            <a:r>
              <a:rPr sz="1600" b="0" i="0">
                <a:solidFill>
                  <a:srgbClr val="FFFFFF"/>
                </a:solidFill>
              </a:rPr>
              <a:t>طراحی سیستم هوشمند SkyMind برای انتخاب بهینه لایه پردازش (Local / UAV / Ground)
به‌منظور کاهش همزمان مصرف انرژی و تأخیر در شبکه‌های پهپادی</a:t>
            </a:r>
          </a:p>
        </p:txBody>
      </p:sp>
      <p:sp>
        <p:nvSpPr>
          <p:cNvPr id="11" name="Rectangle 10"/>
          <p:cNvSpPr/>
          <p:nvPr/>
        </p:nvSpPr>
        <p:spPr>
          <a:xfrm>
            <a:off x="320040" y="3291840"/>
            <a:ext cx="2788920" cy="29260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3291840"/>
            <a:ext cx="2788920" cy="54864"/>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79" y="3383280"/>
            <a:ext cx="457200" cy="457200"/>
          </a:xfrm>
          <a:prstGeom prst="rect">
            <a:avLst/>
          </a:prstGeom>
          <a:noFill/>
        </p:spPr>
        <p:txBody>
          <a:bodyPr wrap="square">
            <a:spAutoFit/>
          </a:bodyPr>
          <a:lstStyle/>
          <a:p>
            <a:pPr algn="l"/>
            <a:r>
              <a:rPr sz="2400" b="0" i="0">
                <a:solidFill>
                  <a:srgbClr val="FFFFFF"/>
                </a:solidFill>
              </a:rPr>
              <a:t>🔹</a:t>
            </a:r>
          </a:p>
        </p:txBody>
      </p:sp>
      <p:sp>
        <p:nvSpPr>
          <p:cNvPr id="14" name="TextBox 13"/>
          <p:cNvSpPr txBox="1"/>
          <p:nvPr/>
        </p:nvSpPr>
        <p:spPr>
          <a:xfrm>
            <a:off x="411479" y="3794760"/>
            <a:ext cx="2560320" cy="457200"/>
          </a:xfrm>
          <a:prstGeom prst="rect">
            <a:avLst/>
          </a:prstGeom>
          <a:noFill/>
        </p:spPr>
        <p:txBody>
          <a:bodyPr wrap="square">
            <a:spAutoFit/>
          </a:bodyPr>
          <a:lstStyle/>
          <a:p>
            <a:pPr algn="l"/>
            <a:r>
              <a:rPr sz="1600" b="1" i="0">
                <a:solidFill>
                  <a:srgbClr val="00A2FF"/>
                </a:solidFill>
              </a:rPr>
              <a:t>فرمول‌بندی مسئله</a:t>
            </a:r>
          </a:p>
        </p:txBody>
      </p:sp>
      <p:sp>
        <p:nvSpPr>
          <p:cNvPr id="15" name="TextBox 14"/>
          <p:cNvSpPr txBox="1"/>
          <p:nvPr/>
        </p:nvSpPr>
        <p:spPr>
          <a:xfrm>
            <a:off x="411479" y="4251960"/>
            <a:ext cx="2606040" cy="1737360"/>
          </a:xfrm>
          <a:prstGeom prst="rect">
            <a:avLst/>
          </a:prstGeom>
          <a:noFill/>
        </p:spPr>
        <p:txBody>
          <a:bodyPr wrap="square">
            <a:spAutoFit/>
          </a:bodyPr>
          <a:lstStyle/>
          <a:p>
            <a:pPr algn="l"/>
            <a:r>
              <a:rPr sz="1300" b="0" i="0">
                <a:solidFill>
                  <a:srgbClr val="C8D2E6"/>
                </a:solidFill>
              </a:rPr>
              <a:t>تبدیل به MDP با تابع هدف چندمنظوره</a:t>
            </a:r>
          </a:p>
        </p:txBody>
      </p:sp>
      <p:sp>
        <p:nvSpPr>
          <p:cNvPr id="16" name="Rectangle 15"/>
          <p:cNvSpPr/>
          <p:nvPr/>
        </p:nvSpPr>
        <p:spPr>
          <a:xfrm>
            <a:off x="3291840" y="3291840"/>
            <a:ext cx="2788920" cy="29260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91840" y="3291840"/>
            <a:ext cx="2788920" cy="54864"/>
          </a:xfrm>
          <a:prstGeom prst="rect">
            <a:avLst/>
          </a:prstGeom>
          <a:solidFill>
            <a:srgbClr val="00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83280" y="3383280"/>
            <a:ext cx="457200" cy="457200"/>
          </a:xfrm>
          <a:prstGeom prst="rect">
            <a:avLst/>
          </a:prstGeom>
          <a:noFill/>
        </p:spPr>
        <p:txBody>
          <a:bodyPr wrap="square">
            <a:spAutoFit/>
          </a:bodyPr>
          <a:lstStyle/>
          <a:p>
            <a:pPr algn="l"/>
            <a:r>
              <a:rPr sz="2400" b="0" i="0">
                <a:solidFill>
                  <a:srgbClr val="FFFFFF"/>
                </a:solidFill>
              </a:rPr>
              <a:t>🔸</a:t>
            </a:r>
          </a:p>
        </p:txBody>
      </p:sp>
      <p:sp>
        <p:nvSpPr>
          <p:cNvPr id="19" name="TextBox 18"/>
          <p:cNvSpPr txBox="1"/>
          <p:nvPr/>
        </p:nvSpPr>
        <p:spPr>
          <a:xfrm>
            <a:off x="3383280" y="3794760"/>
            <a:ext cx="2560320" cy="457200"/>
          </a:xfrm>
          <a:prstGeom prst="rect">
            <a:avLst/>
          </a:prstGeom>
          <a:noFill/>
        </p:spPr>
        <p:txBody>
          <a:bodyPr wrap="square">
            <a:spAutoFit/>
          </a:bodyPr>
          <a:lstStyle/>
          <a:p>
            <a:pPr algn="l"/>
            <a:r>
              <a:rPr sz="1600" b="1" i="0">
                <a:solidFill>
                  <a:srgbClr val="00E6D2"/>
                </a:solidFill>
              </a:rPr>
              <a:t>پیاده‌سازی MADDPG</a:t>
            </a:r>
          </a:p>
        </p:txBody>
      </p:sp>
      <p:sp>
        <p:nvSpPr>
          <p:cNvPr id="20" name="TextBox 19"/>
          <p:cNvSpPr txBox="1"/>
          <p:nvPr/>
        </p:nvSpPr>
        <p:spPr>
          <a:xfrm>
            <a:off x="3383280" y="4251960"/>
            <a:ext cx="2606040" cy="1737360"/>
          </a:xfrm>
          <a:prstGeom prst="rect">
            <a:avLst/>
          </a:prstGeom>
          <a:noFill/>
        </p:spPr>
        <p:txBody>
          <a:bodyPr wrap="square">
            <a:spAutoFit/>
          </a:bodyPr>
          <a:lstStyle/>
          <a:p>
            <a:pPr algn="l"/>
            <a:r>
              <a:rPr sz="1300" b="0" i="0">
                <a:solidFill>
                  <a:srgbClr val="C8D2E6"/>
                </a:solidFill>
              </a:rPr>
              <a:t>آموزش عاملان هوشمند با معماری Actor-Critic</a:t>
            </a:r>
          </a:p>
        </p:txBody>
      </p:sp>
      <p:sp>
        <p:nvSpPr>
          <p:cNvPr id="21" name="Rectangle 20"/>
          <p:cNvSpPr/>
          <p:nvPr/>
        </p:nvSpPr>
        <p:spPr>
          <a:xfrm>
            <a:off x="6263640" y="3291840"/>
            <a:ext cx="2788920" cy="29260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63640" y="3291840"/>
            <a:ext cx="2788920" cy="54864"/>
          </a:xfrm>
          <a:prstGeom prst="rect">
            <a:avLst/>
          </a:prstGeom>
          <a:solidFill>
            <a:srgbClr val="8A2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79" y="3383280"/>
            <a:ext cx="457200" cy="457200"/>
          </a:xfrm>
          <a:prstGeom prst="rect">
            <a:avLst/>
          </a:prstGeom>
          <a:noFill/>
        </p:spPr>
        <p:txBody>
          <a:bodyPr wrap="square">
            <a:spAutoFit/>
          </a:bodyPr>
          <a:lstStyle/>
          <a:p>
            <a:pPr algn="l"/>
            <a:r>
              <a:rPr sz="2400" b="0" i="0">
                <a:solidFill>
                  <a:srgbClr val="FFFFFF"/>
                </a:solidFill>
              </a:rPr>
              <a:t>🔷</a:t>
            </a:r>
          </a:p>
        </p:txBody>
      </p:sp>
      <p:sp>
        <p:nvSpPr>
          <p:cNvPr id="24" name="TextBox 23"/>
          <p:cNvSpPr txBox="1"/>
          <p:nvPr/>
        </p:nvSpPr>
        <p:spPr>
          <a:xfrm>
            <a:off x="6355079" y="3794760"/>
            <a:ext cx="2560320" cy="457200"/>
          </a:xfrm>
          <a:prstGeom prst="rect">
            <a:avLst/>
          </a:prstGeom>
          <a:noFill/>
        </p:spPr>
        <p:txBody>
          <a:bodyPr wrap="square">
            <a:spAutoFit/>
          </a:bodyPr>
          <a:lstStyle/>
          <a:p>
            <a:pPr algn="l"/>
            <a:r>
              <a:rPr sz="1600" b="1" i="0">
                <a:solidFill>
                  <a:srgbClr val="8A2BE2"/>
                </a:solidFill>
              </a:rPr>
              <a:t>ارزیابی جامع</a:t>
            </a:r>
          </a:p>
        </p:txBody>
      </p:sp>
      <p:sp>
        <p:nvSpPr>
          <p:cNvPr id="25" name="TextBox 24"/>
          <p:cNvSpPr txBox="1"/>
          <p:nvPr/>
        </p:nvSpPr>
        <p:spPr>
          <a:xfrm>
            <a:off x="6355079" y="4251960"/>
            <a:ext cx="2606040" cy="1737360"/>
          </a:xfrm>
          <a:prstGeom prst="rect">
            <a:avLst/>
          </a:prstGeom>
          <a:noFill/>
        </p:spPr>
        <p:txBody>
          <a:bodyPr wrap="square">
            <a:spAutoFit/>
          </a:bodyPr>
          <a:lstStyle/>
          <a:p>
            <a:pPr algn="l"/>
            <a:r>
              <a:rPr sz="1300" b="0" i="0">
                <a:solidFill>
                  <a:srgbClr val="C8D2E6"/>
                </a:solidFill>
              </a:rPr>
              <a:t>مقایسه با ۵ baseline در سناریوهای مختلف</a:t>
            </a:r>
          </a:p>
        </p:txBody>
      </p:sp>
      <p:sp>
        <p:nvSpPr>
          <p:cNvPr id="26" name="Rectangle 25"/>
          <p:cNvSpPr/>
          <p:nvPr/>
        </p:nvSpPr>
        <p:spPr>
          <a:xfrm>
            <a:off x="9235440" y="3291840"/>
            <a:ext cx="2788920" cy="29260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235440" y="3291840"/>
            <a:ext cx="2788920"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0" y="3383280"/>
            <a:ext cx="457200" cy="457200"/>
          </a:xfrm>
          <a:prstGeom prst="rect">
            <a:avLst/>
          </a:prstGeom>
          <a:noFill/>
        </p:spPr>
        <p:txBody>
          <a:bodyPr wrap="square">
            <a:spAutoFit/>
          </a:bodyPr>
          <a:lstStyle/>
          <a:p>
            <a:pPr algn="l"/>
            <a:r>
              <a:rPr sz="2400" b="0" i="0">
                <a:solidFill>
                  <a:srgbClr val="FFFFFF"/>
                </a:solidFill>
              </a:rPr>
              <a:t>🔶</a:t>
            </a:r>
          </a:p>
        </p:txBody>
      </p:sp>
      <p:sp>
        <p:nvSpPr>
          <p:cNvPr id="29" name="TextBox 28"/>
          <p:cNvSpPr txBox="1"/>
          <p:nvPr/>
        </p:nvSpPr>
        <p:spPr>
          <a:xfrm>
            <a:off x="9326880" y="3794760"/>
            <a:ext cx="2560320" cy="457200"/>
          </a:xfrm>
          <a:prstGeom prst="rect">
            <a:avLst/>
          </a:prstGeom>
          <a:noFill/>
        </p:spPr>
        <p:txBody>
          <a:bodyPr wrap="square">
            <a:spAutoFit/>
          </a:bodyPr>
          <a:lstStyle/>
          <a:p>
            <a:pPr algn="l"/>
            <a:r>
              <a:rPr sz="1600" b="1" i="0">
                <a:solidFill>
                  <a:srgbClr val="FF8C00"/>
                </a:solidFill>
              </a:rPr>
              <a:t>داشبورد تحلیلی</a:t>
            </a:r>
          </a:p>
        </p:txBody>
      </p:sp>
      <p:sp>
        <p:nvSpPr>
          <p:cNvPr id="30" name="TextBox 29"/>
          <p:cNvSpPr txBox="1"/>
          <p:nvPr/>
        </p:nvSpPr>
        <p:spPr>
          <a:xfrm>
            <a:off x="9326880" y="4251960"/>
            <a:ext cx="2606040" cy="1737360"/>
          </a:xfrm>
          <a:prstGeom prst="rect">
            <a:avLst/>
          </a:prstGeom>
          <a:noFill/>
        </p:spPr>
        <p:txBody>
          <a:bodyPr wrap="square">
            <a:spAutoFit/>
          </a:bodyPr>
          <a:lstStyle/>
          <a:p>
            <a:pPr algn="l"/>
            <a:r>
              <a:rPr sz="1300" b="0" i="0">
                <a:solidFill>
                  <a:srgbClr val="C8D2E6"/>
                </a:solidFill>
              </a:rPr>
              <a:t>ابزار بصری ۸ تبی برای تحلیل نتایج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45720"/>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188720"/>
          </a:xfrm>
          <a:prstGeom prst="rect">
            <a:avLst/>
          </a:prstGeom>
          <a:solidFill>
            <a:srgbClr val="00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9144000" cy="731520"/>
          </a:xfrm>
          <a:prstGeom prst="rect">
            <a:avLst/>
          </a:prstGeom>
          <a:noFill/>
        </p:spPr>
        <p:txBody>
          <a:bodyPr wrap="square">
            <a:spAutoFit/>
          </a:bodyPr>
          <a:lstStyle/>
          <a:p>
            <a:pPr algn="l"/>
            <a:r>
              <a:rPr sz="3000" b="1" i="0">
                <a:solidFill>
                  <a:srgbClr val="FFFFFF"/>
                </a:solidFill>
              </a:rPr>
              <a:t>🏗️  معماری سیستم SkyMind</a:t>
            </a:r>
          </a:p>
        </p:txBody>
      </p:sp>
      <p:sp>
        <p:nvSpPr>
          <p:cNvPr id="6" name="TextBox 5"/>
          <p:cNvSpPr txBox="1"/>
          <p:nvPr/>
        </p:nvSpPr>
        <p:spPr>
          <a:xfrm>
            <a:off x="228600" y="749808"/>
            <a:ext cx="9144000" cy="365760"/>
          </a:xfrm>
          <a:prstGeom prst="rect">
            <a:avLst/>
          </a:prstGeom>
          <a:noFill/>
        </p:spPr>
        <p:txBody>
          <a:bodyPr wrap="square">
            <a:spAutoFit/>
          </a:bodyPr>
          <a:lstStyle/>
          <a:p>
            <a:pPr algn="l"/>
            <a:r>
              <a:rPr sz="1300" b="0" i="1">
                <a:solidFill>
                  <a:srgbClr val="00E6D2"/>
                </a:solidFill>
              </a:rPr>
              <a:t>سه لایه پردازش هوشمند</a:t>
            </a:r>
          </a:p>
        </p:txBody>
      </p:sp>
      <p:sp>
        <p:nvSpPr>
          <p:cNvPr id="7" name="Rectangle 6"/>
          <p:cNvSpPr/>
          <p:nvPr/>
        </p:nvSpPr>
        <p:spPr>
          <a:xfrm>
            <a:off x="320040" y="1371600"/>
            <a:ext cx="3749039" cy="512064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371600"/>
            <a:ext cx="3749039"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08760"/>
            <a:ext cx="731520" cy="731520"/>
          </a:xfrm>
          <a:prstGeom prst="rect">
            <a:avLst/>
          </a:prstGeom>
          <a:noFill/>
        </p:spPr>
        <p:txBody>
          <a:bodyPr wrap="square">
            <a:spAutoFit/>
          </a:bodyPr>
          <a:lstStyle/>
          <a:p>
            <a:pPr algn="l"/>
            <a:r>
              <a:rPr sz="2800" b="0" i="0">
                <a:solidFill>
                  <a:srgbClr val="FFFFFF"/>
                </a:solidFill>
              </a:rPr>
              <a:t>📱</a:t>
            </a:r>
          </a:p>
        </p:txBody>
      </p:sp>
      <p:sp>
        <p:nvSpPr>
          <p:cNvPr id="10" name="TextBox 9"/>
          <p:cNvSpPr txBox="1"/>
          <p:nvPr/>
        </p:nvSpPr>
        <p:spPr>
          <a:xfrm>
            <a:off x="457200" y="2148840"/>
            <a:ext cx="3474720" cy="457200"/>
          </a:xfrm>
          <a:prstGeom prst="rect">
            <a:avLst/>
          </a:prstGeom>
          <a:noFill/>
        </p:spPr>
        <p:txBody>
          <a:bodyPr wrap="square">
            <a:spAutoFit/>
          </a:bodyPr>
          <a:lstStyle/>
          <a:p>
            <a:pPr algn="l"/>
            <a:r>
              <a:rPr sz="1700" b="1" i="0">
                <a:solidFill>
                  <a:srgbClr val="FF8C00"/>
                </a:solidFill>
              </a:rPr>
              <a:t>لایه ۱ – پردازش محلی</a:t>
            </a:r>
          </a:p>
        </p:txBody>
      </p:sp>
      <p:sp>
        <p:nvSpPr>
          <p:cNvPr id="11" name="TextBox 10"/>
          <p:cNvSpPr txBox="1"/>
          <p:nvPr/>
        </p:nvSpPr>
        <p:spPr>
          <a:xfrm>
            <a:off x="457200" y="2560320"/>
            <a:ext cx="3474720" cy="320040"/>
          </a:xfrm>
          <a:prstGeom prst="rect">
            <a:avLst/>
          </a:prstGeom>
          <a:noFill/>
        </p:spPr>
        <p:txBody>
          <a:bodyPr wrap="square">
            <a:spAutoFit/>
          </a:bodyPr>
          <a:lstStyle/>
          <a:p>
            <a:pPr algn="l"/>
            <a:r>
              <a:rPr sz="1100" b="0" i="1">
                <a:solidFill>
                  <a:srgbClr val="788CAA"/>
                </a:solidFill>
              </a:rPr>
              <a:t>Local Processing</a:t>
            </a:r>
          </a:p>
        </p:txBody>
      </p:sp>
      <p:sp>
        <p:nvSpPr>
          <p:cNvPr id="12" name="TextBox 11"/>
          <p:cNvSpPr txBox="1"/>
          <p:nvPr/>
        </p:nvSpPr>
        <p:spPr>
          <a:xfrm>
            <a:off x="457200" y="2880360"/>
            <a:ext cx="3474720" cy="457200"/>
          </a:xfrm>
          <a:prstGeom prst="rect">
            <a:avLst/>
          </a:prstGeom>
          <a:noFill/>
        </p:spPr>
        <p:txBody>
          <a:bodyPr wrap="square">
            <a:spAutoFit/>
          </a:bodyPr>
          <a:lstStyle/>
          <a:p>
            <a:pPr algn="l"/>
            <a:r>
              <a:rPr sz="1300" b="0" i="0">
                <a:solidFill>
                  <a:srgbClr val="C8D2E6"/>
                </a:solidFill>
              </a:rPr>
              <a:t>پردازش مستقیم در خود پهپاد</a:t>
            </a:r>
          </a:p>
        </p:txBody>
      </p:sp>
      <p:sp>
        <p:nvSpPr>
          <p:cNvPr id="13" name="TextBox 12"/>
          <p:cNvSpPr txBox="1"/>
          <p:nvPr/>
        </p:nvSpPr>
        <p:spPr>
          <a:xfrm>
            <a:off x="457200" y="3429000"/>
            <a:ext cx="3474720" cy="548640"/>
          </a:xfrm>
          <a:prstGeom prst="rect">
            <a:avLst/>
          </a:prstGeom>
          <a:noFill/>
        </p:spPr>
        <p:txBody>
          <a:bodyPr wrap="square">
            <a:spAutoFit/>
          </a:bodyPr>
          <a:lstStyle/>
          <a:p>
            <a:pPr algn="l"/>
            <a:r>
              <a:rPr sz="1300" b="0" i="0">
                <a:solidFill>
                  <a:srgbClr val="FFFFFF"/>
                </a:solidFill>
              </a:rPr>
              <a:t>⚡ کمترین تأخیر انتقال</a:t>
            </a:r>
          </a:p>
        </p:txBody>
      </p:sp>
      <p:sp>
        <p:nvSpPr>
          <p:cNvPr id="14" name="TextBox 13"/>
          <p:cNvSpPr txBox="1"/>
          <p:nvPr/>
        </p:nvSpPr>
        <p:spPr>
          <a:xfrm>
            <a:off x="457200" y="4114800"/>
            <a:ext cx="3474720" cy="548640"/>
          </a:xfrm>
          <a:prstGeom prst="rect">
            <a:avLst/>
          </a:prstGeom>
          <a:noFill/>
        </p:spPr>
        <p:txBody>
          <a:bodyPr wrap="square">
            <a:spAutoFit/>
          </a:bodyPr>
          <a:lstStyle/>
          <a:p>
            <a:pPr algn="l"/>
            <a:r>
              <a:rPr sz="1300" b="0" i="0">
                <a:solidFill>
                  <a:srgbClr val="FFFFFF"/>
                </a:solidFill>
              </a:rPr>
              <a:t>🔋 مصرف انرژی بالا</a:t>
            </a:r>
          </a:p>
        </p:txBody>
      </p:sp>
      <p:sp>
        <p:nvSpPr>
          <p:cNvPr id="15" name="TextBox 14"/>
          <p:cNvSpPr txBox="1"/>
          <p:nvPr/>
        </p:nvSpPr>
        <p:spPr>
          <a:xfrm>
            <a:off x="457200" y="4800600"/>
            <a:ext cx="3474720" cy="548640"/>
          </a:xfrm>
          <a:prstGeom prst="rect">
            <a:avLst/>
          </a:prstGeom>
          <a:noFill/>
        </p:spPr>
        <p:txBody>
          <a:bodyPr wrap="square">
            <a:spAutoFit/>
          </a:bodyPr>
          <a:lstStyle/>
          <a:p>
            <a:pPr algn="l"/>
            <a:r>
              <a:rPr sz="1300" b="0" i="0">
                <a:solidFill>
                  <a:srgbClr val="FFFFFF"/>
                </a:solidFill>
              </a:rPr>
              <a:t>⚙️ محاسبات محدود</a:t>
            </a:r>
          </a:p>
        </p:txBody>
      </p:sp>
      <p:sp>
        <p:nvSpPr>
          <p:cNvPr id="16" name="Rectangle 15"/>
          <p:cNvSpPr/>
          <p:nvPr/>
        </p:nvSpPr>
        <p:spPr>
          <a:xfrm>
            <a:off x="4297679" y="1371600"/>
            <a:ext cx="3749039" cy="512064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97679" y="1371600"/>
            <a:ext cx="3749039" cy="73152"/>
          </a:xfrm>
          <a:prstGeom prst="rect">
            <a:avLst/>
          </a:prstGeom>
          <a:solidFill>
            <a:srgbClr val="00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34840" y="1508760"/>
            <a:ext cx="731520" cy="731520"/>
          </a:xfrm>
          <a:prstGeom prst="rect">
            <a:avLst/>
          </a:prstGeom>
          <a:noFill/>
        </p:spPr>
        <p:txBody>
          <a:bodyPr wrap="square">
            <a:spAutoFit/>
          </a:bodyPr>
          <a:lstStyle/>
          <a:p>
            <a:pPr algn="l"/>
            <a:r>
              <a:rPr sz="2800" b="0" i="0">
                <a:solidFill>
                  <a:srgbClr val="FFFFFF"/>
                </a:solidFill>
              </a:rPr>
              <a:t>🛸</a:t>
            </a:r>
          </a:p>
        </p:txBody>
      </p:sp>
      <p:sp>
        <p:nvSpPr>
          <p:cNvPr id="19" name="TextBox 18"/>
          <p:cNvSpPr txBox="1"/>
          <p:nvPr/>
        </p:nvSpPr>
        <p:spPr>
          <a:xfrm>
            <a:off x="4434840" y="2148840"/>
            <a:ext cx="3474720" cy="457200"/>
          </a:xfrm>
          <a:prstGeom prst="rect">
            <a:avLst/>
          </a:prstGeom>
          <a:noFill/>
        </p:spPr>
        <p:txBody>
          <a:bodyPr wrap="square">
            <a:spAutoFit/>
          </a:bodyPr>
          <a:lstStyle/>
          <a:p>
            <a:pPr algn="l"/>
            <a:r>
              <a:rPr sz="1700" b="1" i="0">
                <a:solidFill>
                  <a:srgbClr val="00E6D2"/>
                </a:solidFill>
              </a:rPr>
              <a:t>لایه ۲ – تخلیه به پهپاد</a:t>
            </a:r>
          </a:p>
        </p:txBody>
      </p:sp>
      <p:sp>
        <p:nvSpPr>
          <p:cNvPr id="20" name="TextBox 19"/>
          <p:cNvSpPr txBox="1"/>
          <p:nvPr/>
        </p:nvSpPr>
        <p:spPr>
          <a:xfrm>
            <a:off x="4434840" y="2560320"/>
            <a:ext cx="3474720" cy="320040"/>
          </a:xfrm>
          <a:prstGeom prst="rect">
            <a:avLst/>
          </a:prstGeom>
          <a:noFill/>
        </p:spPr>
        <p:txBody>
          <a:bodyPr wrap="square">
            <a:spAutoFit/>
          </a:bodyPr>
          <a:lstStyle/>
          <a:p>
            <a:pPr algn="l"/>
            <a:r>
              <a:rPr sz="1100" b="0" i="1">
                <a:solidFill>
                  <a:srgbClr val="788CAA"/>
                </a:solidFill>
              </a:rPr>
              <a:t>UAV Offloading</a:t>
            </a:r>
          </a:p>
        </p:txBody>
      </p:sp>
      <p:sp>
        <p:nvSpPr>
          <p:cNvPr id="21" name="TextBox 20"/>
          <p:cNvSpPr txBox="1"/>
          <p:nvPr/>
        </p:nvSpPr>
        <p:spPr>
          <a:xfrm>
            <a:off x="4434840" y="2880360"/>
            <a:ext cx="3474720" cy="457200"/>
          </a:xfrm>
          <a:prstGeom prst="rect">
            <a:avLst/>
          </a:prstGeom>
          <a:noFill/>
        </p:spPr>
        <p:txBody>
          <a:bodyPr wrap="square">
            <a:spAutoFit/>
          </a:bodyPr>
          <a:lstStyle/>
          <a:p>
            <a:pPr algn="l"/>
            <a:r>
              <a:rPr sz="1300" b="0" i="0">
                <a:solidFill>
                  <a:srgbClr val="C8D2E6"/>
                </a:solidFill>
              </a:rPr>
              <a:t>توزیع بار بین پهپادهای همسایه</a:t>
            </a:r>
          </a:p>
        </p:txBody>
      </p:sp>
      <p:sp>
        <p:nvSpPr>
          <p:cNvPr id="22" name="TextBox 21"/>
          <p:cNvSpPr txBox="1"/>
          <p:nvPr/>
        </p:nvSpPr>
        <p:spPr>
          <a:xfrm>
            <a:off x="4434840" y="3429000"/>
            <a:ext cx="3474720" cy="548640"/>
          </a:xfrm>
          <a:prstGeom prst="rect">
            <a:avLst/>
          </a:prstGeom>
          <a:noFill/>
        </p:spPr>
        <p:txBody>
          <a:bodyPr wrap="square">
            <a:spAutoFit/>
          </a:bodyPr>
          <a:lstStyle/>
          <a:p>
            <a:pPr algn="l"/>
            <a:r>
              <a:rPr sz="1300" b="0" i="0">
                <a:solidFill>
                  <a:srgbClr val="FFFFFF"/>
                </a:solidFill>
              </a:rPr>
              <a:t>⚖️ تعادل انرژی-تأخیر</a:t>
            </a:r>
          </a:p>
        </p:txBody>
      </p:sp>
      <p:sp>
        <p:nvSpPr>
          <p:cNvPr id="23" name="TextBox 22"/>
          <p:cNvSpPr txBox="1"/>
          <p:nvPr/>
        </p:nvSpPr>
        <p:spPr>
          <a:xfrm>
            <a:off x="4434840" y="4114800"/>
            <a:ext cx="3474720" cy="548640"/>
          </a:xfrm>
          <a:prstGeom prst="rect">
            <a:avLst/>
          </a:prstGeom>
          <a:noFill/>
        </p:spPr>
        <p:txBody>
          <a:bodyPr wrap="square">
            <a:spAutoFit/>
          </a:bodyPr>
          <a:lstStyle/>
          <a:p>
            <a:pPr algn="l"/>
            <a:r>
              <a:rPr sz="1300" b="0" i="0">
                <a:solidFill>
                  <a:srgbClr val="FFFFFF"/>
                </a:solidFill>
              </a:rPr>
              <a:t>🤝 همکاری چند عاملی</a:t>
            </a:r>
          </a:p>
        </p:txBody>
      </p:sp>
      <p:sp>
        <p:nvSpPr>
          <p:cNvPr id="24" name="TextBox 23"/>
          <p:cNvSpPr txBox="1"/>
          <p:nvPr/>
        </p:nvSpPr>
        <p:spPr>
          <a:xfrm>
            <a:off x="4434840" y="4800600"/>
            <a:ext cx="3474720" cy="548640"/>
          </a:xfrm>
          <a:prstGeom prst="rect">
            <a:avLst/>
          </a:prstGeom>
          <a:noFill/>
        </p:spPr>
        <p:txBody>
          <a:bodyPr wrap="square">
            <a:spAutoFit/>
          </a:bodyPr>
          <a:lstStyle/>
          <a:p>
            <a:pPr algn="l"/>
            <a:r>
              <a:rPr sz="1300" b="0" i="0">
                <a:solidFill>
                  <a:srgbClr val="FFFFFF"/>
                </a:solidFill>
              </a:rPr>
              <a:t>📡 ارتباط P2P</a:t>
            </a:r>
          </a:p>
        </p:txBody>
      </p:sp>
      <p:sp>
        <p:nvSpPr>
          <p:cNvPr id="25" name="Rectangle 24"/>
          <p:cNvSpPr/>
          <p:nvPr/>
        </p:nvSpPr>
        <p:spPr>
          <a:xfrm>
            <a:off x="8275319" y="1371600"/>
            <a:ext cx="3749039" cy="512064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75319" y="1371600"/>
            <a:ext cx="3749039" cy="73152"/>
          </a:xfrm>
          <a:prstGeom prst="rect">
            <a:avLst/>
          </a:prstGeom>
          <a:solidFill>
            <a:srgbClr val="8A2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0" y="1508760"/>
            <a:ext cx="731520" cy="731520"/>
          </a:xfrm>
          <a:prstGeom prst="rect">
            <a:avLst/>
          </a:prstGeom>
          <a:noFill/>
        </p:spPr>
        <p:txBody>
          <a:bodyPr wrap="square">
            <a:spAutoFit/>
          </a:bodyPr>
          <a:lstStyle/>
          <a:p>
            <a:pPr algn="l"/>
            <a:r>
              <a:rPr sz="2800" b="0" i="0">
                <a:solidFill>
                  <a:srgbClr val="FFFFFF"/>
                </a:solidFill>
              </a:rPr>
              <a:t>🖥️</a:t>
            </a:r>
          </a:p>
        </p:txBody>
      </p:sp>
      <p:sp>
        <p:nvSpPr>
          <p:cNvPr id="28" name="TextBox 27"/>
          <p:cNvSpPr txBox="1"/>
          <p:nvPr/>
        </p:nvSpPr>
        <p:spPr>
          <a:xfrm>
            <a:off x="8412480" y="2148840"/>
            <a:ext cx="3474720" cy="457200"/>
          </a:xfrm>
          <a:prstGeom prst="rect">
            <a:avLst/>
          </a:prstGeom>
          <a:noFill/>
        </p:spPr>
        <p:txBody>
          <a:bodyPr wrap="square">
            <a:spAutoFit/>
          </a:bodyPr>
          <a:lstStyle/>
          <a:p>
            <a:pPr algn="l"/>
            <a:r>
              <a:rPr sz="1700" b="1" i="0">
                <a:solidFill>
                  <a:srgbClr val="8A2BE2"/>
                </a:solidFill>
              </a:rPr>
              <a:t>لایه ۳ – سرور زمینی</a:t>
            </a:r>
          </a:p>
        </p:txBody>
      </p:sp>
      <p:sp>
        <p:nvSpPr>
          <p:cNvPr id="29" name="TextBox 28"/>
          <p:cNvSpPr txBox="1"/>
          <p:nvPr/>
        </p:nvSpPr>
        <p:spPr>
          <a:xfrm>
            <a:off x="8412480" y="2560320"/>
            <a:ext cx="3474720" cy="320040"/>
          </a:xfrm>
          <a:prstGeom prst="rect">
            <a:avLst/>
          </a:prstGeom>
          <a:noFill/>
        </p:spPr>
        <p:txBody>
          <a:bodyPr wrap="square">
            <a:spAutoFit/>
          </a:bodyPr>
          <a:lstStyle/>
          <a:p>
            <a:pPr algn="l"/>
            <a:r>
              <a:rPr sz="1100" b="0" i="1">
                <a:solidFill>
                  <a:srgbClr val="788CAA"/>
                </a:solidFill>
              </a:rPr>
              <a:t>Ground Server</a:t>
            </a:r>
          </a:p>
        </p:txBody>
      </p:sp>
      <p:sp>
        <p:nvSpPr>
          <p:cNvPr id="30" name="TextBox 29"/>
          <p:cNvSpPr txBox="1"/>
          <p:nvPr/>
        </p:nvSpPr>
        <p:spPr>
          <a:xfrm>
            <a:off x="8412480" y="2880360"/>
            <a:ext cx="3474720" cy="457200"/>
          </a:xfrm>
          <a:prstGeom prst="rect">
            <a:avLst/>
          </a:prstGeom>
          <a:noFill/>
        </p:spPr>
        <p:txBody>
          <a:bodyPr wrap="square">
            <a:spAutoFit/>
          </a:bodyPr>
          <a:lstStyle/>
          <a:p>
            <a:pPr algn="l"/>
            <a:r>
              <a:rPr sz="1300" b="0" i="0">
                <a:solidFill>
                  <a:srgbClr val="C8D2E6"/>
                </a:solidFill>
              </a:rPr>
              <a:t>پردازش در سرور قدرتمند زمینی</a:t>
            </a:r>
          </a:p>
        </p:txBody>
      </p:sp>
      <p:sp>
        <p:nvSpPr>
          <p:cNvPr id="31" name="TextBox 30"/>
          <p:cNvSpPr txBox="1"/>
          <p:nvPr/>
        </p:nvSpPr>
        <p:spPr>
          <a:xfrm>
            <a:off x="8412480" y="3429000"/>
            <a:ext cx="3474720" cy="548640"/>
          </a:xfrm>
          <a:prstGeom prst="rect">
            <a:avLst/>
          </a:prstGeom>
          <a:noFill/>
        </p:spPr>
        <p:txBody>
          <a:bodyPr wrap="square">
            <a:spAutoFit/>
          </a:bodyPr>
          <a:lstStyle/>
          <a:p>
            <a:pPr algn="l"/>
            <a:r>
              <a:rPr sz="1300" b="0" i="0">
                <a:solidFill>
                  <a:srgbClr val="FFFFFF"/>
                </a:solidFill>
              </a:rPr>
              <a:t>💾 منابع نامحدود</a:t>
            </a:r>
          </a:p>
        </p:txBody>
      </p:sp>
      <p:sp>
        <p:nvSpPr>
          <p:cNvPr id="32" name="TextBox 31"/>
          <p:cNvSpPr txBox="1"/>
          <p:nvPr/>
        </p:nvSpPr>
        <p:spPr>
          <a:xfrm>
            <a:off x="8412480" y="4114800"/>
            <a:ext cx="3474720" cy="548640"/>
          </a:xfrm>
          <a:prstGeom prst="rect">
            <a:avLst/>
          </a:prstGeom>
          <a:noFill/>
        </p:spPr>
        <p:txBody>
          <a:bodyPr wrap="square">
            <a:spAutoFit/>
          </a:bodyPr>
          <a:lstStyle/>
          <a:p>
            <a:pPr algn="l"/>
            <a:r>
              <a:rPr sz="1300" b="0" i="0">
                <a:solidFill>
                  <a:srgbClr val="FFFFFF"/>
                </a:solidFill>
              </a:rPr>
              <a:t>📶 تأخیر ارتباطی بالا</a:t>
            </a:r>
          </a:p>
        </p:txBody>
      </p:sp>
      <p:sp>
        <p:nvSpPr>
          <p:cNvPr id="33" name="TextBox 32"/>
          <p:cNvSpPr txBox="1"/>
          <p:nvPr/>
        </p:nvSpPr>
        <p:spPr>
          <a:xfrm>
            <a:off x="8412480" y="4800600"/>
            <a:ext cx="3474720" cy="548640"/>
          </a:xfrm>
          <a:prstGeom prst="rect">
            <a:avLst/>
          </a:prstGeom>
          <a:noFill/>
        </p:spPr>
        <p:txBody>
          <a:bodyPr wrap="square">
            <a:spAutoFit/>
          </a:bodyPr>
          <a:lstStyle/>
          <a:p>
            <a:pPr algn="l"/>
            <a:r>
              <a:rPr sz="1300" b="0" i="0">
                <a:solidFill>
                  <a:srgbClr val="FFFFFF"/>
                </a:solidFill>
              </a:rPr>
              <a:t>🔋 صرفه‌جویی انرژی پهپاد</a:t>
            </a:r>
          </a:p>
        </p:txBody>
      </p:sp>
      <p:sp>
        <p:nvSpPr>
          <p:cNvPr id="34" name="TextBox 33"/>
          <p:cNvSpPr txBox="1"/>
          <p:nvPr/>
        </p:nvSpPr>
        <p:spPr>
          <a:xfrm>
            <a:off x="4114800" y="3840480"/>
            <a:ext cx="457200" cy="457200"/>
          </a:xfrm>
          <a:prstGeom prst="rect">
            <a:avLst/>
          </a:prstGeom>
          <a:noFill/>
        </p:spPr>
        <p:txBody>
          <a:bodyPr wrap="square">
            <a:spAutoFit/>
          </a:bodyPr>
          <a:lstStyle/>
          <a:p>
            <a:pPr algn="l"/>
            <a:r>
              <a:rPr sz="2800" b="0" i="0">
                <a:solidFill>
                  <a:srgbClr val="00A2FF"/>
                </a:solidFill>
              </a:rPr>
              <a:t>⟷</a:t>
            </a:r>
          </a:p>
        </p:txBody>
      </p:sp>
      <p:sp>
        <p:nvSpPr>
          <p:cNvPr id="35" name="TextBox 34"/>
          <p:cNvSpPr txBox="1"/>
          <p:nvPr/>
        </p:nvSpPr>
        <p:spPr>
          <a:xfrm>
            <a:off x="8092440" y="3840480"/>
            <a:ext cx="457200" cy="457200"/>
          </a:xfrm>
          <a:prstGeom prst="rect">
            <a:avLst/>
          </a:prstGeom>
          <a:noFill/>
        </p:spPr>
        <p:txBody>
          <a:bodyPr wrap="square">
            <a:spAutoFit/>
          </a:bodyPr>
          <a:lstStyle/>
          <a:p>
            <a:pPr algn="l"/>
            <a:r>
              <a:rPr sz="2800" b="0" i="0">
                <a:solidFill>
                  <a:srgbClr val="00A2FF"/>
                </a:solidFill>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45720"/>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188720"/>
          </a:xfrm>
          <a:prstGeom prst="rect">
            <a:avLst/>
          </a:prstGeom>
          <a:solidFill>
            <a:srgbClr val="00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9144000" cy="731520"/>
          </a:xfrm>
          <a:prstGeom prst="rect">
            <a:avLst/>
          </a:prstGeom>
          <a:noFill/>
        </p:spPr>
        <p:txBody>
          <a:bodyPr wrap="square">
            <a:spAutoFit/>
          </a:bodyPr>
          <a:lstStyle/>
          <a:p>
            <a:pPr algn="l"/>
            <a:r>
              <a:rPr sz="3000" b="1" i="0">
                <a:solidFill>
                  <a:srgbClr val="FFFFFF"/>
                </a:solidFill>
              </a:rPr>
              <a:t>🤖  الگوریتم MADDPG</a:t>
            </a:r>
          </a:p>
        </p:txBody>
      </p:sp>
      <p:sp>
        <p:nvSpPr>
          <p:cNvPr id="6" name="TextBox 5"/>
          <p:cNvSpPr txBox="1"/>
          <p:nvPr/>
        </p:nvSpPr>
        <p:spPr>
          <a:xfrm>
            <a:off x="228600" y="749808"/>
            <a:ext cx="9144000" cy="365760"/>
          </a:xfrm>
          <a:prstGeom prst="rect">
            <a:avLst/>
          </a:prstGeom>
          <a:noFill/>
        </p:spPr>
        <p:txBody>
          <a:bodyPr wrap="square">
            <a:spAutoFit/>
          </a:bodyPr>
          <a:lstStyle/>
          <a:p>
            <a:pPr algn="l"/>
            <a:r>
              <a:rPr sz="1300" b="0" i="1">
                <a:solidFill>
                  <a:srgbClr val="00E6D2"/>
                </a:solidFill>
              </a:rPr>
              <a:t>Multi-Agent Deep Deterministic Policy Gradient</a:t>
            </a:r>
          </a:p>
        </p:txBody>
      </p:sp>
      <p:sp>
        <p:nvSpPr>
          <p:cNvPr id="7" name="Rectangle 6"/>
          <p:cNvSpPr/>
          <p:nvPr/>
        </p:nvSpPr>
        <p:spPr>
          <a:xfrm>
            <a:off x="320040" y="1417320"/>
            <a:ext cx="11521440" cy="822960"/>
          </a:xfrm>
          <a:prstGeom prst="rect">
            <a:avLst/>
          </a:prstGeom>
          <a:solidFill>
            <a:srgbClr val="0032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417320"/>
            <a:ext cx="73152" cy="822960"/>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536192"/>
            <a:ext cx="11064240" cy="594360"/>
          </a:xfrm>
          <a:prstGeom prst="rect">
            <a:avLst/>
          </a:prstGeom>
          <a:noFill/>
        </p:spPr>
        <p:txBody>
          <a:bodyPr wrap="square">
            <a:spAutoFit/>
          </a:bodyPr>
          <a:lstStyle/>
          <a:p>
            <a:pPr algn="l"/>
            <a:r>
              <a:rPr sz="1500" b="1" i="0">
                <a:solidFill>
                  <a:srgbClr val="00E6D2"/>
                </a:solidFill>
              </a:rPr>
              <a:t>MADDPG = یادگیری تقویتی عمیق چند عاملی | آموزش مرکزی + اجرای توزیع‌شده  (CTDE)</a:t>
            </a:r>
          </a:p>
        </p:txBody>
      </p:sp>
      <p:sp>
        <p:nvSpPr>
          <p:cNvPr id="10" name="Rectangle 9"/>
          <p:cNvSpPr/>
          <p:nvPr/>
        </p:nvSpPr>
        <p:spPr>
          <a:xfrm>
            <a:off x="320040" y="2468880"/>
            <a:ext cx="3749039" cy="192024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2468880"/>
            <a:ext cx="3749039" cy="54864"/>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560320"/>
            <a:ext cx="548640" cy="548640"/>
          </a:xfrm>
          <a:prstGeom prst="rect">
            <a:avLst/>
          </a:prstGeom>
          <a:noFill/>
        </p:spPr>
        <p:txBody>
          <a:bodyPr wrap="square">
            <a:spAutoFit/>
          </a:bodyPr>
          <a:lstStyle/>
          <a:p>
            <a:pPr algn="l"/>
            <a:r>
              <a:rPr sz="2400" b="0" i="0">
                <a:solidFill>
                  <a:srgbClr val="FFFFFF"/>
                </a:solidFill>
              </a:rPr>
              <a:t>🎭</a:t>
            </a:r>
          </a:p>
        </p:txBody>
      </p:sp>
      <p:sp>
        <p:nvSpPr>
          <p:cNvPr id="13" name="TextBox 12"/>
          <p:cNvSpPr txBox="1"/>
          <p:nvPr/>
        </p:nvSpPr>
        <p:spPr>
          <a:xfrm>
            <a:off x="1097280" y="2560320"/>
            <a:ext cx="2834640" cy="457200"/>
          </a:xfrm>
          <a:prstGeom prst="rect">
            <a:avLst/>
          </a:prstGeom>
          <a:noFill/>
        </p:spPr>
        <p:txBody>
          <a:bodyPr wrap="square">
            <a:spAutoFit/>
          </a:bodyPr>
          <a:lstStyle/>
          <a:p>
            <a:pPr algn="l"/>
            <a:r>
              <a:rPr sz="1700" b="1" i="0">
                <a:solidFill>
                  <a:srgbClr val="00A2FF"/>
                </a:solidFill>
              </a:rPr>
              <a:t>Actor Network</a:t>
            </a:r>
          </a:p>
        </p:txBody>
      </p:sp>
      <p:sp>
        <p:nvSpPr>
          <p:cNvPr id="14" name="TextBox 13"/>
          <p:cNvSpPr txBox="1"/>
          <p:nvPr/>
        </p:nvSpPr>
        <p:spPr>
          <a:xfrm>
            <a:off x="457200" y="3108960"/>
            <a:ext cx="3474720" cy="1097280"/>
          </a:xfrm>
          <a:prstGeom prst="rect">
            <a:avLst/>
          </a:prstGeom>
          <a:noFill/>
        </p:spPr>
        <p:txBody>
          <a:bodyPr wrap="square">
            <a:spAutoFit/>
          </a:bodyPr>
          <a:lstStyle/>
          <a:p>
            <a:pPr algn="l"/>
            <a:r>
              <a:rPr sz="1300" b="0" i="0">
                <a:solidFill>
                  <a:srgbClr val="C8D2E6"/>
                </a:solidFill>
              </a:rPr>
              <a:t>تصمیم‌گیر محلی
بر اساس حالت پهپاد</a:t>
            </a:r>
          </a:p>
        </p:txBody>
      </p:sp>
      <p:sp>
        <p:nvSpPr>
          <p:cNvPr id="15" name="Rectangle 14"/>
          <p:cNvSpPr/>
          <p:nvPr/>
        </p:nvSpPr>
        <p:spPr>
          <a:xfrm>
            <a:off x="4297679" y="2468880"/>
            <a:ext cx="3749039" cy="192024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79" y="2468880"/>
            <a:ext cx="3749039" cy="54864"/>
          </a:xfrm>
          <a:prstGeom prst="rect">
            <a:avLst/>
          </a:prstGeom>
          <a:solidFill>
            <a:srgbClr val="8A2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4840" y="2560320"/>
            <a:ext cx="548640" cy="548640"/>
          </a:xfrm>
          <a:prstGeom prst="rect">
            <a:avLst/>
          </a:prstGeom>
          <a:noFill/>
        </p:spPr>
        <p:txBody>
          <a:bodyPr wrap="square">
            <a:spAutoFit/>
          </a:bodyPr>
          <a:lstStyle/>
          <a:p>
            <a:pPr algn="l"/>
            <a:r>
              <a:rPr sz="2400" b="0" i="0">
                <a:solidFill>
                  <a:srgbClr val="FFFFFF"/>
                </a:solidFill>
              </a:rPr>
              <a:t>⚖️</a:t>
            </a:r>
          </a:p>
        </p:txBody>
      </p:sp>
      <p:sp>
        <p:nvSpPr>
          <p:cNvPr id="18" name="TextBox 17"/>
          <p:cNvSpPr txBox="1"/>
          <p:nvPr/>
        </p:nvSpPr>
        <p:spPr>
          <a:xfrm>
            <a:off x="5074919" y="2560320"/>
            <a:ext cx="2834640" cy="457200"/>
          </a:xfrm>
          <a:prstGeom prst="rect">
            <a:avLst/>
          </a:prstGeom>
          <a:noFill/>
        </p:spPr>
        <p:txBody>
          <a:bodyPr wrap="square">
            <a:spAutoFit/>
          </a:bodyPr>
          <a:lstStyle/>
          <a:p>
            <a:pPr algn="l"/>
            <a:r>
              <a:rPr sz="1700" b="1" i="0">
                <a:solidFill>
                  <a:srgbClr val="8A2BE2"/>
                </a:solidFill>
              </a:rPr>
              <a:t>Critic Network</a:t>
            </a:r>
          </a:p>
        </p:txBody>
      </p:sp>
      <p:sp>
        <p:nvSpPr>
          <p:cNvPr id="19" name="TextBox 18"/>
          <p:cNvSpPr txBox="1"/>
          <p:nvPr/>
        </p:nvSpPr>
        <p:spPr>
          <a:xfrm>
            <a:off x="4434840" y="3108960"/>
            <a:ext cx="3474720" cy="1097280"/>
          </a:xfrm>
          <a:prstGeom prst="rect">
            <a:avLst/>
          </a:prstGeom>
          <a:noFill/>
        </p:spPr>
        <p:txBody>
          <a:bodyPr wrap="square">
            <a:spAutoFit/>
          </a:bodyPr>
          <a:lstStyle/>
          <a:p>
            <a:pPr algn="l"/>
            <a:r>
              <a:rPr sz="1300" b="0" i="0">
                <a:solidFill>
                  <a:srgbClr val="C8D2E6"/>
                </a:solidFill>
              </a:rPr>
              <a:t>ارزیاب مرکزی
کلیه عاملان را می‌بیند</a:t>
            </a:r>
          </a:p>
        </p:txBody>
      </p:sp>
      <p:sp>
        <p:nvSpPr>
          <p:cNvPr id="20" name="Rectangle 19"/>
          <p:cNvSpPr/>
          <p:nvPr/>
        </p:nvSpPr>
        <p:spPr>
          <a:xfrm>
            <a:off x="8275319" y="2468880"/>
            <a:ext cx="3749039" cy="192024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75319" y="2468880"/>
            <a:ext cx="3749039" cy="54864"/>
          </a:xfrm>
          <a:prstGeom prst="rect">
            <a:avLst/>
          </a:prstGeom>
          <a:solidFill>
            <a:srgbClr val="00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0" y="2560320"/>
            <a:ext cx="548640" cy="548640"/>
          </a:xfrm>
          <a:prstGeom prst="rect">
            <a:avLst/>
          </a:prstGeom>
          <a:noFill/>
        </p:spPr>
        <p:txBody>
          <a:bodyPr wrap="square">
            <a:spAutoFit/>
          </a:bodyPr>
          <a:lstStyle/>
          <a:p>
            <a:pPr algn="l"/>
            <a:r>
              <a:rPr sz="2400" b="0" i="0">
                <a:solidFill>
                  <a:srgbClr val="FFFFFF"/>
                </a:solidFill>
              </a:rPr>
              <a:t>🎯</a:t>
            </a:r>
          </a:p>
        </p:txBody>
      </p:sp>
      <p:sp>
        <p:nvSpPr>
          <p:cNvPr id="23" name="TextBox 22"/>
          <p:cNvSpPr txBox="1"/>
          <p:nvPr/>
        </p:nvSpPr>
        <p:spPr>
          <a:xfrm>
            <a:off x="9052559" y="2560320"/>
            <a:ext cx="2834640" cy="457200"/>
          </a:xfrm>
          <a:prstGeom prst="rect">
            <a:avLst/>
          </a:prstGeom>
          <a:noFill/>
        </p:spPr>
        <p:txBody>
          <a:bodyPr wrap="square">
            <a:spAutoFit/>
          </a:bodyPr>
          <a:lstStyle/>
          <a:p>
            <a:pPr algn="l"/>
            <a:r>
              <a:rPr sz="1700" b="1" i="0">
                <a:solidFill>
                  <a:srgbClr val="00E6D2"/>
                </a:solidFill>
              </a:rPr>
              <a:t>Target Networks</a:t>
            </a:r>
          </a:p>
        </p:txBody>
      </p:sp>
      <p:sp>
        <p:nvSpPr>
          <p:cNvPr id="24" name="TextBox 23"/>
          <p:cNvSpPr txBox="1"/>
          <p:nvPr/>
        </p:nvSpPr>
        <p:spPr>
          <a:xfrm>
            <a:off x="8412480" y="3108960"/>
            <a:ext cx="3474720" cy="1097280"/>
          </a:xfrm>
          <a:prstGeom prst="rect">
            <a:avLst/>
          </a:prstGeom>
          <a:noFill/>
        </p:spPr>
        <p:txBody>
          <a:bodyPr wrap="square">
            <a:spAutoFit/>
          </a:bodyPr>
          <a:lstStyle/>
          <a:p>
            <a:pPr algn="l"/>
            <a:r>
              <a:rPr sz="1300" b="0" i="0">
                <a:solidFill>
                  <a:srgbClr val="C8D2E6"/>
                </a:solidFill>
              </a:rPr>
              <a:t>پایداری آموزش
با Soft Update تدریجی</a:t>
            </a:r>
          </a:p>
        </p:txBody>
      </p:sp>
      <p:sp>
        <p:nvSpPr>
          <p:cNvPr id="25" name="Rectangle 24"/>
          <p:cNvSpPr/>
          <p:nvPr/>
        </p:nvSpPr>
        <p:spPr>
          <a:xfrm>
            <a:off x="320040" y="4663440"/>
            <a:ext cx="3749039" cy="192024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20040" y="4663440"/>
            <a:ext cx="3749039"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4754879"/>
            <a:ext cx="548640" cy="548640"/>
          </a:xfrm>
          <a:prstGeom prst="rect">
            <a:avLst/>
          </a:prstGeom>
          <a:noFill/>
        </p:spPr>
        <p:txBody>
          <a:bodyPr wrap="square">
            <a:spAutoFit/>
          </a:bodyPr>
          <a:lstStyle/>
          <a:p>
            <a:pPr algn="l"/>
            <a:r>
              <a:rPr sz="2400" b="0" i="0">
                <a:solidFill>
                  <a:srgbClr val="FFFFFF"/>
                </a:solidFill>
              </a:rPr>
              <a:t>💾</a:t>
            </a:r>
          </a:p>
        </p:txBody>
      </p:sp>
      <p:sp>
        <p:nvSpPr>
          <p:cNvPr id="28" name="TextBox 27"/>
          <p:cNvSpPr txBox="1"/>
          <p:nvPr/>
        </p:nvSpPr>
        <p:spPr>
          <a:xfrm>
            <a:off x="1097280" y="4754879"/>
            <a:ext cx="2834640" cy="457200"/>
          </a:xfrm>
          <a:prstGeom prst="rect">
            <a:avLst/>
          </a:prstGeom>
          <a:noFill/>
        </p:spPr>
        <p:txBody>
          <a:bodyPr wrap="square">
            <a:spAutoFit/>
          </a:bodyPr>
          <a:lstStyle/>
          <a:p>
            <a:pPr algn="l"/>
            <a:r>
              <a:rPr sz="1700" b="1" i="0">
                <a:solidFill>
                  <a:srgbClr val="FF8C00"/>
                </a:solidFill>
              </a:rPr>
              <a:t>Replay Buffer</a:t>
            </a:r>
          </a:p>
        </p:txBody>
      </p:sp>
      <p:sp>
        <p:nvSpPr>
          <p:cNvPr id="29" name="TextBox 28"/>
          <p:cNvSpPr txBox="1"/>
          <p:nvPr/>
        </p:nvSpPr>
        <p:spPr>
          <a:xfrm>
            <a:off x="457200" y="5303520"/>
            <a:ext cx="3474720" cy="1097280"/>
          </a:xfrm>
          <a:prstGeom prst="rect">
            <a:avLst/>
          </a:prstGeom>
          <a:noFill/>
        </p:spPr>
        <p:txBody>
          <a:bodyPr wrap="square">
            <a:spAutoFit/>
          </a:bodyPr>
          <a:lstStyle/>
          <a:p>
            <a:pPr algn="l"/>
            <a:r>
              <a:rPr sz="1300" b="0" i="0">
                <a:solidFill>
                  <a:srgbClr val="C8D2E6"/>
                </a:solidFill>
              </a:rPr>
              <a:t>ذخیره تجربه
نمونه‌برداری تصادفی</a:t>
            </a:r>
          </a:p>
        </p:txBody>
      </p:sp>
      <p:sp>
        <p:nvSpPr>
          <p:cNvPr id="30" name="Rectangle 29"/>
          <p:cNvSpPr/>
          <p:nvPr/>
        </p:nvSpPr>
        <p:spPr>
          <a:xfrm>
            <a:off x="4297679" y="4663440"/>
            <a:ext cx="3749039" cy="192024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97679" y="4663440"/>
            <a:ext cx="3749039" cy="54864"/>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34840" y="4754879"/>
            <a:ext cx="548640" cy="548640"/>
          </a:xfrm>
          <a:prstGeom prst="rect">
            <a:avLst/>
          </a:prstGeom>
          <a:noFill/>
        </p:spPr>
        <p:txBody>
          <a:bodyPr wrap="square">
            <a:spAutoFit/>
          </a:bodyPr>
          <a:lstStyle/>
          <a:p>
            <a:pPr algn="l"/>
            <a:r>
              <a:rPr sz="2400" b="0" i="0">
                <a:solidFill>
                  <a:srgbClr val="FFFFFF"/>
                </a:solidFill>
              </a:rPr>
              <a:t>🔀</a:t>
            </a:r>
          </a:p>
        </p:txBody>
      </p:sp>
      <p:sp>
        <p:nvSpPr>
          <p:cNvPr id="33" name="TextBox 32"/>
          <p:cNvSpPr txBox="1"/>
          <p:nvPr/>
        </p:nvSpPr>
        <p:spPr>
          <a:xfrm>
            <a:off x="5074919" y="4754879"/>
            <a:ext cx="2834640" cy="457200"/>
          </a:xfrm>
          <a:prstGeom prst="rect">
            <a:avLst/>
          </a:prstGeom>
          <a:noFill/>
        </p:spPr>
        <p:txBody>
          <a:bodyPr wrap="square">
            <a:spAutoFit/>
          </a:bodyPr>
          <a:lstStyle/>
          <a:p>
            <a:pPr algn="l"/>
            <a:r>
              <a:rPr sz="1700" b="1" i="0">
                <a:solidFill>
                  <a:srgbClr val="39FF14"/>
                </a:solidFill>
              </a:rPr>
              <a:t>CTDE</a:t>
            </a:r>
          </a:p>
        </p:txBody>
      </p:sp>
      <p:sp>
        <p:nvSpPr>
          <p:cNvPr id="34" name="TextBox 33"/>
          <p:cNvSpPr txBox="1"/>
          <p:nvPr/>
        </p:nvSpPr>
        <p:spPr>
          <a:xfrm>
            <a:off x="4434840" y="5303520"/>
            <a:ext cx="3474720" cy="1097280"/>
          </a:xfrm>
          <a:prstGeom prst="rect">
            <a:avLst/>
          </a:prstGeom>
          <a:noFill/>
        </p:spPr>
        <p:txBody>
          <a:bodyPr wrap="square">
            <a:spAutoFit/>
          </a:bodyPr>
          <a:lstStyle/>
          <a:p>
            <a:pPr algn="l"/>
            <a:r>
              <a:rPr sz="1300" b="0" i="0">
                <a:solidFill>
                  <a:srgbClr val="C8D2E6"/>
                </a:solidFill>
              </a:rPr>
              <a:t>آموزش مشترک
اجرای مستقل هر پهپاد</a:t>
            </a:r>
          </a:p>
        </p:txBody>
      </p:sp>
      <p:sp>
        <p:nvSpPr>
          <p:cNvPr id="35" name="Rectangle 34"/>
          <p:cNvSpPr/>
          <p:nvPr/>
        </p:nvSpPr>
        <p:spPr>
          <a:xfrm>
            <a:off x="8275319" y="4663440"/>
            <a:ext cx="3749039" cy="192024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275319" y="4663440"/>
            <a:ext cx="3749039" cy="5486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80" y="4754879"/>
            <a:ext cx="548640" cy="548640"/>
          </a:xfrm>
          <a:prstGeom prst="rect">
            <a:avLst/>
          </a:prstGeom>
          <a:noFill/>
        </p:spPr>
        <p:txBody>
          <a:bodyPr wrap="square">
            <a:spAutoFit/>
          </a:bodyPr>
          <a:lstStyle/>
          <a:p>
            <a:pPr algn="l"/>
            <a:r>
              <a:rPr sz="2400" b="0" i="0">
                <a:solidFill>
                  <a:srgbClr val="FFFFFF"/>
                </a:solidFill>
              </a:rPr>
              <a:t>📈</a:t>
            </a:r>
          </a:p>
        </p:txBody>
      </p:sp>
      <p:sp>
        <p:nvSpPr>
          <p:cNvPr id="38" name="TextBox 37"/>
          <p:cNvSpPr txBox="1"/>
          <p:nvPr/>
        </p:nvSpPr>
        <p:spPr>
          <a:xfrm>
            <a:off x="9052559" y="4754879"/>
            <a:ext cx="2834640" cy="457200"/>
          </a:xfrm>
          <a:prstGeom prst="rect">
            <a:avLst/>
          </a:prstGeom>
          <a:noFill/>
        </p:spPr>
        <p:txBody>
          <a:bodyPr wrap="square">
            <a:spAutoFit/>
          </a:bodyPr>
          <a:lstStyle/>
          <a:p>
            <a:pPr algn="l"/>
            <a:r>
              <a:rPr sz="1700" b="1" i="0">
                <a:solidFill>
                  <a:srgbClr val="FFD700"/>
                </a:solidFill>
              </a:rPr>
              <a:t>Policy Gradient</a:t>
            </a:r>
          </a:p>
        </p:txBody>
      </p:sp>
      <p:sp>
        <p:nvSpPr>
          <p:cNvPr id="39" name="TextBox 38"/>
          <p:cNvSpPr txBox="1"/>
          <p:nvPr/>
        </p:nvSpPr>
        <p:spPr>
          <a:xfrm>
            <a:off x="8412480" y="5303520"/>
            <a:ext cx="3474720" cy="1097280"/>
          </a:xfrm>
          <a:prstGeom prst="rect">
            <a:avLst/>
          </a:prstGeom>
          <a:noFill/>
        </p:spPr>
        <p:txBody>
          <a:bodyPr wrap="square">
            <a:spAutoFit/>
          </a:bodyPr>
          <a:lstStyle/>
          <a:p>
            <a:pPr algn="l"/>
            <a:r>
              <a:rPr sz="1300" b="0" i="0">
                <a:solidFill>
                  <a:srgbClr val="C8D2E6"/>
                </a:solidFill>
              </a:rPr>
              <a:t>بهینه‌سازی سیاست
با گرادیان تدریجی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45720"/>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188720"/>
          </a:xfrm>
          <a:prstGeom prst="rect">
            <a:avLst/>
          </a:prstGeom>
          <a:solidFill>
            <a:srgbClr val="00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9144000" cy="731520"/>
          </a:xfrm>
          <a:prstGeom prst="rect">
            <a:avLst/>
          </a:prstGeom>
          <a:noFill/>
        </p:spPr>
        <p:txBody>
          <a:bodyPr wrap="square">
            <a:spAutoFit/>
          </a:bodyPr>
          <a:lstStyle/>
          <a:p>
            <a:pPr algn="l"/>
            <a:r>
              <a:rPr sz="3000" b="1" i="0">
                <a:solidFill>
                  <a:srgbClr val="FFFFFF"/>
                </a:solidFill>
              </a:rPr>
              <a:t>📊  فضای حالت و عمل</a:t>
            </a:r>
          </a:p>
        </p:txBody>
      </p:sp>
      <p:sp>
        <p:nvSpPr>
          <p:cNvPr id="6" name="TextBox 5"/>
          <p:cNvSpPr txBox="1"/>
          <p:nvPr/>
        </p:nvSpPr>
        <p:spPr>
          <a:xfrm>
            <a:off x="228600" y="749808"/>
            <a:ext cx="9144000" cy="365760"/>
          </a:xfrm>
          <a:prstGeom prst="rect">
            <a:avLst/>
          </a:prstGeom>
          <a:noFill/>
        </p:spPr>
        <p:txBody>
          <a:bodyPr wrap="square">
            <a:spAutoFit/>
          </a:bodyPr>
          <a:lstStyle/>
          <a:p>
            <a:pPr algn="l"/>
            <a:r>
              <a:rPr sz="1300" b="0" i="1">
                <a:solidFill>
                  <a:srgbClr val="00E6D2"/>
                </a:solidFill>
              </a:rPr>
              <a:t>State Space &amp; Action Space</a:t>
            </a:r>
          </a:p>
        </p:txBody>
      </p:sp>
      <p:sp>
        <p:nvSpPr>
          <p:cNvPr id="7" name="Rectangle 6"/>
          <p:cNvSpPr/>
          <p:nvPr/>
        </p:nvSpPr>
        <p:spPr>
          <a:xfrm>
            <a:off x="320040" y="1371600"/>
            <a:ext cx="5486400" cy="5120640"/>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371600"/>
            <a:ext cx="5486400" cy="54864"/>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36192"/>
            <a:ext cx="5212080" cy="4892040"/>
          </a:xfrm>
          <a:prstGeom prst="rect">
            <a:avLst/>
          </a:prstGeom>
          <a:noFill/>
        </p:spPr>
        <p:txBody>
          <a:bodyPr wrap="square">
            <a:spAutoFit/>
          </a:bodyPr>
          <a:lstStyle/>
          <a:p>
            <a:pPr algn="l"/>
            <a:r>
              <a:rPr sz="1800" b="1" i="0">
                <a:solidFill>
                  <a:srgbClr val="00A2FF"/>
                </a:solidFill>
              </a:rPr>
              <a:t>🔵  فضای حالت  (State Space)</a:t>
            </a:r>
          </a:p>
          <a:p>
            <a:pPr algn="l"/>
            <a:r>
              <a:rPr sz="1500" b="0" i="0">
                <a:solidFill>
                  <a:srgbClr val="C8D2E6"/>
                </a:solidFill>
              </a:rPr>
              <a:t>  📍  موقعیت پهپاد:  (x, y)</a:t>
            </a:r>
          </a:p>
          <a:p>
            <a:pPr algn="l"/>
            <a:r>
              <a:rPr sz="1500" b="0" i="0">
                <a:solidFill>
                  <a:srgbClr val="C8D2E6"/>
                </a:solidFill>
              </a:rPr>
              <a:t>  🔋  سطح انرژی باتری</a:t>
            </a:r>
          </a:p>
          <a:p>
            <a:pPr algn="l"/>
            <a:r>
              <a:rPr sz="1500" b="0" i="0">
                <a:solidFill>
                  <a:srgbClr val="C8D2E6"/>
                </a:solidFill>
              </a:rPr>
              <a:t>  📋  صف وظایف و اطلاعات DAG</a:t>
            </a:r>
          </a:p>
          <a:p>
            <a:pPr algn="l"/>
            <a:r>
              <a:rPr sz="1500" b="0" i="0">
                <a:solidFill>
                  <a:srgbClr val="C8D2E6"/>
                </a:solidFill>
              </a:rPr>
              <a:t>  📡  وضعیت کانال ارتباطی (SNR)</a:t>
            </a:r>
          </a:p>
          <a:p>
            <a:pPr algn="l"/>
            <a:r>
              <a:rPr sz="1500" b="0" i="0">
                <a:solidFill>
                  <a:srgbClr val="C8D2E6"/>
                </a:solidFill>
              </a:rPr>
              <a:t>  🛸  موقعیت پهپادهای همسایه</a:t>
            </a:r>
          </a:p>
          <a:p>
            <a:pPr algn="l"/>
            <a:r>
              <a:rPr sz="1500" b="0" i="0">
                <a:solidFill>
                  <a:srgbClr val="C8D2E6"/>
                </a:solidFill>
              </a:rPr>
              <a:t>  🖥️  ظرفیت آزاد سرورهای زمینی</a:t>
            </a:r>
          </a:p>
        </p:txBody>
      </p:sp>
      <p:sp>
        <p:nvSpPr>
          <p:cNvPr id="10" name="Rectangle 9"/>
          <p:cNvSpPr/>
          <p:nvPr/>
        </p:nvSpPr>
        <p:spPr>
          <a:xfrm>
            <a:off x="6126480" y="1371600"/>
            <a:ext cx="5486400" cy="5120640"/>
          </a:xfrm>
          <a:prstGeom prst="rect">
            <a:avLst/>
          </a:prstGeom>
          <a:solidFill>
            <a:srgbClr val="1E0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0" y="1371600"/>
            <a:ext cx="5486400"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1536192"/>
            <a:ext cx="5212080" cy="4892040"/>
          </a:xfrm>
          <a:prstGeom prst="rect">
            <a:avLst/>
          </a:prstGeom>
          <a:noFill/>
        </p:spPr>
        <p:txBody>
          <a:bodyPr wrap="square">
            <a:spAutoFit/>
          </a:bodyPr>
          <a:lstStyle/>
          <a:p>
            <a:pPr algn="l"/>
            <a:r>
              <a:rPr sz="1800" b="1" i="0">
                <a:solidFill>
                  <a:srgbClr val="FF8C00"/>
                </a:solidFill>
              </a:rPr>
              <a:t>🟠  فضای عمل  (Action Space)</a:t>
            </a:r>
          </a:p>
          <a:p>
            <a:pPr algn="l"/>
            <a:r>
              <a:rPr sz="1500" b="0" i="0">
                <a:solidFill>
                  <a:srgbClr val="C8D2E6"/>
                </a:solidFill>
              </a:rPr>
              <a:t>  ⬆️  بردار حرکت:  (vx, vy)</a:t>
            </a:r>
          </a:p>
          <a:p>
            <a:pPr algn="l"/>
            <a:r>
              <a:rPr sz="1500" b="0" i="0">
                <a:solidFill>
                  <a:srgbClr val="C8D2E6"/>
                </a:solidFill>
              </a:rPr>
              <a:t>  🔀  تصمیم تخلیه:  Local / UAV / Ground</a:t>
            </a:r>
          </a:p>
          <a:p>
            <a:pPr algn="l"/>
            <a:r>
              <a:rPr sz="1500" b="0" i="0">
                <a:solidFill>
                  <a:srgbClr val="C8D2E6"/>
                </a:solidFill>
              </a:rPr>
              <a:t>  ⚙️  تخصیص فرکانس CPU</a:t>
            </a:r>
          </a:p>
          <a:p>
            <a:pPr algn="l"/>
            <a:r>
              <a:rPr sz="1500" b="0" i="0">
                <a:solidFill>
                  <a:srgbClr val="C8D2E6"/>
                </a:solidFill>
              </a:rPr>
              <a:t>  📶  توان انتقال داده</a:t>
            </a:r>
          </a:p>
          <a:p>
            <a:pPr algn="l"/>
            <a:r>
              <a:rPr sz="1500" b="0" i="0">
                <a:solidFill>
                  <a:srgbClr val="C8D2E6"/>
                </a:solidFill>
              </a:rPr>
              <a:t>  🔢  اولویت‌بندی وظایف در صف</a:t>
            </a:r>
          </a:p>
          <a:p>
            <a:pPr algn="l"/>
            <a:r>
              <a:rPr sz="1500" b="0" i="0">
                <a:solidFill>
                  <a:srgbClr val="C8D2E6"/>
                </a:solidFill>
              </a:rPr>
              <a:t>  🤝  انتخاب پهپاد هدف (برای UAV Offload)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45720"/>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188720"/>
          </a:xfrm>
          <a:prstGeom prst="rect">
            <a:avLst/>
          </a:prstGeom>
          <a:solidFill>
            <a:srgbClr val="00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9144000" cy="731520"/>
          </a:xfrm>
          <a:prstGeom prst="rect">
            <a:avLst/>
          </a:prstGeom>
          <a:noFill/>
        </p:spPr>
        <p:txBody>
          <a:bodyPr wrap="square">
            <a:spAutoFit/>
          </a:bodyPr>
          <a:lstStyle/>
          <a:p>
            <a:pPr algn="l"/>
            <a:r>
              <a:rPr sz="3000" b="1" i="0">
                <a:solidFill>
                  <a:srgbClr val="FFFFFF"/>
                </a:solidFill>
              </a:rPr>
              <a:t>🎁  تابع پاداش</a:t>
            </a:r>
          </a:p>
        </p:txBody>
      </p:sp>
      <p:sp>
        <p:nvSpPr>
          <p:cNvPr id="6" name="TextBox 5"/>
          <p:cNvSpPr txBox="1"/>
          <p:nvPr/>
        </p:nvSpPr>
        <p:spPr>
          <a:xfrm>
            <a:off x="228600" y="749808"/>
            <a:ext cx="9144000" cy="365760"/>
          </a:xfrm>
          <a:prstGeom prst="rect">
            <a:avLst/>
          </a:prstGeom>
          <a:noFill/>
        </p:spPr>
        <p:txBody>
          <a:bodyPr wrap="square">
            <a:spAutoFit/>
          </a:bodyPr>
          <a:lstStyle/>
          <a:p>
            <a:pPr algn="l"/>
            <a:r>
              <a:rPr sz="1300" b="0" i="1">
                <a:solidFill>
                  <a:srgbClr val="00E6D2"/>
                </a:solidFill>
              </a:rPr>
              <a:t>Reward Function Design</a:t>
            </a:r>
          </a:p>
        </p:txBody>
      </p:sp>
      <p:sp>
        <p:nvSpPr>
          <p:cNvPr id="7" name="Rectangle 6"/>
          <p:cNvSpPr/>
          <p:nvPr/>
        </p:nvSpPr>
        <p:spPr>
          <a:xfrm>
            <a:off x="320040" y="1371600"/>
            <a:ext cx="11521440" cy="1005840"/>
          </a:xfrm>
          <a:prstGeom prst="rect">
            <a:avLst/>
          </a:prstGeom>
          <a:solidFill>
            <a:srgbClr val="0F2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371600"/>
            <a:ext cx="91440" cy="100584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81328"/>
            <a:ext cx="11064240" cy="685800"/>
          </a:xfrm>
          <a:prstGeom prst="rect">
            <a:avLst/>
          </a:prstGeom>
          <a:noFill/>
        </p:spPr>
        <p:txBody>
          <a:bodyPr wrap="square">
            <a:spAutoFit/>
          </a:bodyPr>
          <a:lstStyle/>
          <a:p>
            <a:pPr algn="ctr"/>
            <a:r>
              <a:rPr sz="1500" b="1" i="0">
                <a:solidFill>
                  <a:srgbClr val="FFD700"/>
                </a:solidFill>
              </a:rPr>
              <a:t>R(s,a) = α·R_energy + β·R_latency + γ·R_success − λ₁·P_QoS − λ₂·P_battery − λ₃·P_collision</a:t>
            </a:r>
          </a:p>
        </p:txBody>
      </p:sp>
      <p:sp>
        <p:nvSpPr>
          <p:cNvPr id="10" name="Rectangle 9"/>
          <p:cNvSpPr/>
          <p:nvPr/>
        </p:nvSpPr>
        <p:spPr>
          <a:xfrm>
            <a:off x="320040" y="2606040"/>
            <a:ext cx="3749039" cy="210312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2606040"/>
            <a:ext cx="3749039" cy="54864"/>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79" y="2697480"/>
            <a:ext cx="457200" cy="457200"/>
          </a:xfrm>
          <a:prstGeom prst="rect">
            <a:avLst/>
          </a:prstGeom>
          <a:noFill/>
        </p:spPr>
        <p:txBody>
          <a:bodyPr wrap="square">
            <a:spAutoFit/>
          </a:bodyPr>
          <a:lstStyle/>
          <a:p>
            <a:pPr algn="l"/>
            <a:r>
              <a:rPr sz="2200" b="0" i="0">
                <a:solidFill>
                  <a:srgbClr val="FFFFFF"/>
                </a:solidFill>
              </a:rPr>
              <a:t>✅</a:t>
            </a:r>
          </a:p>
        </p:txBody>
      </p:sp>
      <p:sp>
        <p:nvSpPr>
          <p:cNvPr id="13" name="TextBox 12"/>
          <p:cNvSpPr txBox="1"/>
          <p:nvPr/>
        </p:nvSpPr>
        <p:spPr>
          <a:xfrm>
            <a:off x="960119" y="2697480"/>
            <a:ext cx="2926080" cy="457200"/>
          </a:xfrm>
          <a:prstGeom prst="rect">
            <a:avLst/>
          </a:prstGeom>
          <a:noFill/>
        </p:spPr>
        <p:txBody>
          <a:bodyPr wrap="square">
            <a:spAutoFit/>
          </a:bodyPr>
          <a:lstStyle/>
          <a:p>
            <a:pPr algn="l"/>
            <a:r>
              <a:rPr sz="1600" b="1" i="0">
                <a:solidFill>
                  <a:srgbClr val="39FF14"/>
                </a:solidFill>
              </a:rPr>
              <a:t>R_energy</a:t>
            </a:r>
          </a:p>
        </p:txBody>
      </p:sp>
      <p:sp>
        <p:nvSpPr>
          <p:cNvPr id="14" name="TextBox 13"/>
          <p:cNvSpPr txBox="1"/>
          <p:nvPr/>
        </p:nvSpPr>
        <p:spPr>
          <a:xfrm>
            <a:off x="411479" y="3200400"/>
            <a:ext cx="3566160" cy="1280160"/>
          </a:xfrm>
          <a:prstGeom prst="rect">
            <a:avLst/>
          </a:prstGeom>
          <a:noFill/>
        </p:spPr>
        <p:txBody>
          <a:bodyPr wrap="square">
            <a:spAutoFit/>
          </a:bodyPr>
          <a:lstStyle/>
          <a:p>
            <a:pPr algn="l"/>
            <a:r>
              <a:rPr sz="1300" b="0" i="0">
                <a:solidFill>
                  <a:srgbClr val="C8D2E6"/>
                </a:solidFill>
              </a:rPr>
              <a:t>صرفه‌جویی انرژی
(نسبت به پردازش محلی)</a:t>
            </a:r>
          </a:p>
        </p:txBody>
      </p:sp>
      <p:sp>
        <p:nvSpPr>
          <p:cNvPr id="15" name="Rectangle 14"/>
          <p:cNvSpPr/>
          <p:nvPr/>
        </p:nvSpPr>
        <p:spPr>
          <a:xfrm>
            <a:off x="4297679" y="2606040"/>
            <a:ext cx="3749039" cy="210312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79" y="2606040"/>
            <a:ext cx="3749039" cy="54864"/>
          </a:xfrm>
          <a:prstGeom prst="rect">
            <a:avLst/>
          </a:prstGeom>
          <a:solidFill>
            <a:srgbClr val="00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19" y="2697480"/>
            <a:ext cx="457200" cy="457200"/>
          </a:xfrm>
          <a:prstGeom prst="rect">
            <a:avLst/>
          </a:prstGeom>
          <a:noFill/>
        </p:spPr>
        <p:txBody>
          <a:bodyPr wrap="square">
            <a:spAutoFit/>
          </a:bodyPr>
          <a:lstStyle/>
          <a:p>
            <a:pPr algn="l"/>
            <a:r>
              <a:rPr sz="2200" b="0" i="0">
                <a:solidFill>
                  <a:srgbClr val="FFFFFF"/>
                </a:solidFill>
              </a:rPr>
              <a:t>✅</a:t>
            </a:r>
          </a:p>
        </p:txBody>
      </p:sp>
      <p:sp>
        <p:nvSpPr>
          <p:cNvPr id="18" name="TextBox 17"/>
          <p:cNvSpPr txBox="1"/>
          <p:nvPr/>
        </p:nvSpPr>
        <p:spPr>
          <a:xfrm>
            <a:off x="4937759" y="2697480"/>
            <a:ext cx="2926080" cy="457200"/>
          </a:xfrm>
          <a:prstGeom prst="rect">
            <a:avLst/>
          </a:prstGeom>
          <a:noFill/>
        </p:spPr>
        <p:txBody>
          <a:bodyPr wrap="square">
            <a:spAutoFit/>
          </a:bodyPr>
          <a:lstStyle/>
          <a:p>
            <a:pPr algn="l"/>
            <a:r>
              <a:rPr sz="1600" b="1" i="0">
                <a:solidFill>
                  <a:srgbClr val="00E6D2"/>
                </a:solidFill>
              </a:rPr>
              <a:t>R_latency</a:t>
            </a:r>
          </a:p>
        </p:txBody>
      </p:sp>
      <p:sp>
        <p:nvSpPr>
          <p:cNvPr id="19" name="TextBox 18"/>
          <p:cNvSpPr txBox="1"/>
          <p:nvPr/>
        </p:nvSpPr>
        <p:spPr>
          <a:xfrm>
            <a:off x="4389119" y="3200400"/>
            <a:ext cx="3566160" cy="1280160"/>
          </a:xfrm>
          <a:prstGeom prst="rect">
            <a:avLst/>
          </a:prstGeom>
          <a:noFill/>
        </p:spPr>
        <p:txBody>
          <a:bodyPr wrap="square">
            <a:spAutoFit/>
          </a:bodyPr>
          <a:lstStyle/>
          <a:p>
            <a:pPr algn="l"/>
            <a:r>
              <a:rPr sz="1300" b="0" i="0">
                <a:solidFill>
                  <a:srgbClr val="C8D2E6"/>
                </a:solidFill>
              </a:rPr>
              <a:t>کاهش تأخیر کل
(انتقال + صف + پردازش)</a:t>
            </a:r>
          </a:p>
        </p:txBody>
      </p:sp>
      <p:sp>
        <p:nvSpPr>
          <p:cNvPr id="20" name="Rectangle 19"/>
          <p:cNvSpPr/>
          <p:nvPr/>
        </p:nvSpPr>
        <p:spPr>
          <a:xfrm>
            <a:off x="8275319" y="2606040"/>
            <a:ext cx="3749039" cy="210312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75319" y="2606040"/>
            <a:ext cx="3749039" cy="54864"/>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59" y="2697480"/>
            <a:ext cx="457200" cy="457200"/>
          </a:xfrm>
          <a:prstGeom prst="rect">
            <a:avLst/>
          </a:prstGeom>
          <a:noFill/>
        </p:spPr>
        <p:txBody>
          <a:bodyPr wrap="square">
            <a:spAutoFit/>
          </a:bodyPr>
          <a:lstStyle/>
          <a:p>
            <a:pPr algn="l"/>
            <a:r>
              <a:rPr sz="2200" b="0" i="0">
                <a:solidFill>
                  <a:srgbClr val="FFFFFF"/>
                </a:solidFill>
              </a:rPr>
              <a:t>✅</a:t>
            </a:r>
          </a:p>
        </p:txBody>
      </p:sp>
      <p:sp>
        <p:nvSpPr>
          <p:cNvPr id="23" name="TextBox 22"/>
          <p:cNvSpPr txBox="1"/>
          <p:nvPr/>
        </p:nvSpPr>
        <p:spPr>
          <a:xfrm>
            <a:off x="8915399" y="2697480"/>
            <a:ext cx="2926080" cy="457200"/>
          </a:xfrm>
          <a:prstGeom prst="rect">
            <a:avLst/>
          </a:prstGeom>
          <a:noFill/>
        </p:spPr>
        <p:txBody>
          <a:bodyPr wrap="square">
            <a:spAutoFit/>
          </a:bodyPr>
          <a:lstStyle/>
          <a:p>
            <a:pPr algn="l"/>
            <a:r>
              <a:rPr sz="1600" b="1" i="0">
                <a:solidFill>
                  <a:srgbClr val="00A2FF"/>
                </a:solidFill>
              </a:rPr>
              <a:t>R_success</a:t>
            </a:r>
          </a:p>
        </p:txBody>
      </p:sp>
      <p:sp>
        <p:nvSpPr>
          <p:cNvPr id="24" name="TextBox 23"/>
          <p:cNvSpPr txBox="1"/>
          <p:nvPr/>
        </p:nvSpPr>
        <p:spPr>
          <a:xfrm>
            <a:off x="8366759" y="3200400"/>
            <a:ext cx="3566160" cy="1280160"/>
          </a:xfrm>
          <a:prstGeom prst="rect">
            <a:avLst/>
          </a:prstGeom>
          <a:noFill/>
        </p:spPr>
        <p:txBody>
          <a:bodyPr wrap="square">
            <a:spAutoFit/>
          </a:bodyPr>
          <a:lstStyle/>
          <a:p>
            <a:pPr algn="l"/>
            <a:r>
              <a:rPr sz="1300" b="0" i="0">
                <a:solidFill>
                  <a:srgbClr val="C8D2E6"/>
                </a:solidFill>
              </a:rPr>
              <a:t>تکمیل موفق وظایف
در ددلاین تعیین‌شده</a:t>
            </a:r>
          </a:p>
        </p:txBody>
      </p:sp>
      <p:sp>
        <p:nvSpPr>
          <p:cNvPr id="25" name="Rectangle 24"/>
          <p:cNvSpPr/>
          <p:nvPr/>
        </p:nvSpPr>
        <p:spPr>
          <a:xfrm>
            <a:off x="320040" y="4937760"/>
            <a:ext cx="3749039" cy="164592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20040" y="4937760"/>
            <a:ext cx="3749039"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79" y="5029200"/>
            <a:ext cx="457200" cy="457200"/>
          </a:xfrm>
          <a:prstGeom prst="rect">
            <a:avLst/>
          </a:prstGeom>
          <a:noFill/>
        </p:spPr>
        <p:txBody>
          <a:bodyPr wrap="square">
            <a:spAutoFit/>
          </a:bodyPr>
          <a:lstStyle/>
          <a:p>
            <a:pPr algn="l"/>
            <a:r>
              <a:rPr sz="2000" b="0" i="0">
                <a:solidFill>
                  <a:srgbClr val="FFFFFF"/>
                </a:solidFill>
              </a:rPr>
              <a:t>❌</a:t>
            </a:r>
          </a:p>
        </p:txBody>
      </p:sp>
      <p:sp>
        <p:nvSpPr>
          <p:cNvPr id="28" name="TextBox 27"/>
          <p:cNvSpPr txBox="1"/>
          <p:nvPr/>
        </p:nvSpPr>
        <p:spPr>
          <a:xfrm>
            <a:off x="960119" y="5029200"/>
            <a:ext cx="2926080" cy="411480"/>
          </a:xfrm>
          <a:prstGeom prst="rect">
            <a:avLst/>
          </a:prstGeom>
          <a:noFill/>
        </p:spPr>
        <p:txBody>
          <a:bodyPr wrap="square">
            <a:spAutoFit/>
          </a:bodyPr>
          <a:lstStyle/>
          <a:p>
            <a:pPr algn="l"/>
            <a:r>
              <a:rPr sz="1500" b="1" i="0">
                <a:solidFill>
                  <a:srgbClr val="FF8C00"/>
                </a:solidFill>
              </a:rPr>
              <a:t>P_QoS</a:t>
            </a:r>
          </a:p>
        </p:txBody>
      </p:sp>
      <p:sp>
        <p:nvSpPr>
          <p:cNvPr id="29" name="TextBox 28"/>
          <p:cNvSpPr txBox="1"/>
          <p:nvPr/>
        </p:nvSpPr>
        <p:spPr>
          <a:xfrm>
            <a:off x="411479" y="5440680"/>
            <a:ext cx="3566160" cy="1005840"/>
          </a:xfrm>
          <a:prstGeom prst="rect">
            <a:avLst/>
          </a:prstGeom>
          <a:noFill/>
        </p:spPr>
        <p:txBody>
          <a:bodyPr wrap="square">
            <a:spAutoFit/>
          </a:bodyPr>
          <a:lstStyle/>
          <a:p>
            <a:pPr algn="l"/>
            <a:r>
              <a:rPr sz="1300" b="0" i="0">
                <a:solidFill>
                  <a:srgbClr val="C8D2E6"/>
                </a:solidFill>
              </a:rPr>
              <a:t>نقض کیفیت سرویس
(تأخیر بیش از حد مجاز)</a:t>
            </a:r>
          </a:p>
        </p:txBody>
      </p:sp>
      <p:sp>
        <p:nvSpPr>
          <p:cNvPr id="30" name="Rectangle 29"/>
          <p:cNvSpPr/>
          <p:nvPr/>
        </p:nvSpPr>
        <p:spPr>
          <a:xfrm>
            <a:off x="4297679" y="4937760"/>
            <a:ext cx="3749039" cy="164592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97679" y="4937760"/>
            <a:ext cx="3749039" cy="54864"/>
          </a:xfrm>
          <a:prstGeom prst="rect">
            <a:avLst/>
          </a:prstGeom>
          <a:solidFill>
            <a:srgbClr val="DC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9119" y="5029200"/>
            <a:ext cx="457200" cy="457200"/>
          </a:xfrm>
          <a:prstGeom prst="rect">
            <a:avLst/>
          </a:prstGeom>
          <a:noFill/>
        </p:spPr>
        <p:txBody>
          <a:bodyPr wrap="square">
            <a:spAutoFit/>
          </a:bodyPr>
          <a:lstStyle/>
          <a:p>
            <a:pPr algn="l"/>
            <a:r>
              <a:rPr sz="2000" b="0" i="0">
                <a:solidFill>
                  <a:srgbClr val="FFFFFF"/>
                </a:solidFill>
              </a:rPr>
              <a:t>❌</a:t>
            </a:r>
          </a:p>
        </p:txBody>
      </p:sp>
      <p:sp>
        <p:nvSpPr>
          <p:cNvPr id="33" name="TextBox 32"/>
          <p:cNvSpPr txBox="1"/>
          <p:nvPr/>
        </p:nvSpPr>
        <p:spPr>
          <a:xfrm>
            <a:off x="4937759" y="5029200"/>
            <a:ext cx="2926080" cy="411480"/>
          </a:xfrm>
          <a:prstGeom prst="rect">
            <a:avLst/>
          </a:prstGeom>
          <a:noFill/>
        </p:spPr>
        <p:txBody>
          <a:bodyPr wrap="square">
            <a:spAutoFit/>
          </a:bodyPr>
          <a:lstStyle/>
          <a:p>
            <a:pPr algn="l"/>
            <a:r>
              <a:rPr sz="1500" b="1" i="0">
                <a:solidFill>
                  <a:srgbClr val="DC3232"/>
                </a:solidFill>
              </a:rPr>
              <a:t>P_battery</a:t>
            </a:r>
          </a:p>
        </p:txBody>
      </p:sp>
      <p:sp>
        <p:nvSpPr>
          <p:cNvPr id="34" name="TextBox 33"/>
          <p:cNvSpPr txBox="1"/>
          <p:nvPr/>
        </p:nvSpPr>
        <p:spPr>
          <a:xfrm>
            <a:off x="4389119" y="5440680"/>
            <a:ext cx="3566160" cy="1005840"/>
          </a:xfrm>
          <a:prstGeom prst="rect">
            <a:avLst/>
          </a:prstGeom>
          <a:noFill/>
        </p:spPr>
        <p:txBody>
          <a:bodyPr wrap="square">
            <a:spAutoFit/>
          </a:bodyPr>
          <a:lstStyle/>
          <a:p>
            <a:pPr algn="l"/>
            <a:r>
              <a:rPr sz="1300" b="0" i="0">
                <a:solidFill>
                  <a:srgbClr val="C8D2E6"/>
                </a:solidFill>
              </a:rPr>
              <a:t>تخلیه کامل باتری
(شارژ &lt; ۵٪)</a:t>
            </a:r>
          </a:p>
        </p:txBody>
      </p:sp>
      <p:sp>
        <p:nvSpPr>
          <p:cNvPr id="35" name="Rectangle 34"/>
          <p:cNvSpPr/>
          <p:nvPr/>
        </p:nvSpPr>
        <p:spPr>
          <a:xfrm>
            <a:off x="8275319" y="4937760"/>
            <a:ext cx="3749039" cy="164592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275319" y="4937760"/>
            <a:ext cx="3749039" cy="54864"/>
          </a:xfrm>
          <a:prstGeom prst="rect">
            <a:avLst/>
          </a:prstGeom>
          <a:solidFill>
            <a:srgbClr val="B4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66759" y="5029200"/>
            <a:ext cx="457200" cy="457200"/>
          </a:xfrm>
          <a:prstGeom prst="rect">
            <a:avLst/>
          </a:prstGeom>
          <a:noFill/>
        </p:spPr>
        <p:txBody>
          <a:bodyPr wrap="square">
            <a:spAutoFit/>
          </a:bodyPr>
          <a:lstStyle/>
          <a:p>
            <a:pPr algn="l"/>
            <a:r>
              <a:rPr sz="2000" b="0" i="0">
                <a:solidFill>
                  <a:srgbClr val="FFFFFF"/>
                </a:solidFill>
              </a:rPr>
              <a:t>❌</a:t>
            </a:r>
          </a:p>
        </p:txBody>
      </p:sp>
      <p:sp>
        <p:nvSpPr>
          <p:cNvPr id="38" name="TextBox 37"/>
          <p:cNvSpPr txBox="1"/>
          <p:nvPr/>
        </p:nvSpPr>
        <p:spPr>
          <a:xfrm>
            <a:off x="8915399" y="5029200"/>
            <a:ext cx="2926080" cy="411480"/>
          </a:xfrm>
          <a:prstGeom prst="rect">
            <a:avLst/>
          </a:prstGeom>
          <a:noFill/>
        </p:spPr>
        <p:txBody>
          <a:bodyPr wrap="square">
            <a:spAutoFit/>
          </a:bodyPr>
          <a:lstStyle/>
          <a:p>
            <a:pPr algn="l"/>
            <a:r>
              <a:rPr sz="1500" b="1" i="0">
                <a:solidFill>
                  <a:srgbClr val="B41E1E"/>
                </a:solidFill>
              </a:rPr>
              <a:t>P_collision</a:t>
            </a:r>
          </a:p>
        </p:txBody>
      </p:sp>
      <p:sp>
        <p:nvSpPr>
          <p:cNvPr id="39" name="TextBox 38"/>
          <p:cNvSpPr txBox="1"/>
          <p:nvPr/>
        </p:nvSpPr>
        <p:spPr>
          <a:xfrm>
            <a:off x="8366759" y="5440680"/>
            <a:ext cx="3566160" cy="1005840"/>
          </a:xfrm>
          <a:prstGeom prst="rect">
            <a:avLst/>
          </a:prstGeom>
          <a:noFill/>
        </p:spPr>
        <p:txBody>
          <a:bodyPr wrap="square">
            <a:spAutoFit/>
          </a:bodyPr>
          <a:lstStyle/>
          <a:p>
            <a:pPr algn="l"/>
            <a:r>
              <a:rPr sz="1300" b="0" i="0">
                <a:solidFill>
                  <a:srgbClr val="C8D2E6"/>
                </a:solidFill>
              </a:rPr>
              <a:t>برخورد با مانع
(از دست دادن پهپاد)</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45720"/>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188720"/>
          </a:xfrm>
          <a:prstGeom prst="rect">
            <a:avLst/>
          </a:prstGeom>
          <a:solidFill>
            <a:srgbClr val="00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9144000" cy="731520"/>
          </a:xfrm>
          <a:prstGeom prst="rect">
            <a:avLst/>
          </a:prstGeom>
          <a:noFill/>
        </p:spPr>
        <p:txBody>
          <a:bodyPr wrap="square">
            <a:spAutoFit/>
          </a:bodyPr>
          <a:lstStyle/>
          <a:p>
            <a:pPr algn="l"/>
            <a:r>
              <a:rPr sz="3000" b="1" i="0">
                <a:solidFill>
                  <a:srgbClr val="FFFFFF"/>
                </a:solidFill>
              </a:rPr>
              <a:t>🔧  پارامترهای شبیه‌سازی</a:t>
            </a:r>
          </a:p>
        </p:txBody>
      </p:sp>
      <p:sp>
        <p:nvSpPr>
          <p:cNvPr id="6" name="TextBox 5"/>
          <p:cNvSpPr txBox="1"/>
          <p:nvPr/>
        </p:nvSpPr>
        <p:spPr>
          <a:xfrm>
            <a:off x="228600" y="749808"/>
            <a:ext cx="9144000" cy="365760"/>
          </a:xfrm>
          <a:prstGeom prst="rect">
            <a:avLst/>
          </a:prstGeom>
          <a:noFill/>
        </p:spPr>
        <p:txBody>
          <a:bodyPr wrap="square">
            <a:spAutoFit/>
          </a:bodyPr>
          <a:lstStyle/>
          <a:p>
            <a:pPr algn="l"/>
            <a:r>
              <a:rPr sz="1300" b="0" i="1">
                <a:solidFill>
                  <a:srgbClr val="00E6D2"/>
                </a:solidFill>
              </a:rPr>
              <a:t>Simulation Parameters</a:t>
            </a:r>
          </a:p>
        </p:txBody>
      </p:sp>
      <p:sp>
        <p:nvSpPr>
          <p:cNvPr id="7" name="Rectangle 6"/>
          <p:cNvSpPr/>
          <p:nvPr/>
        </p:nvSpPr>
        <p:spPr>
          <a:xfrm>
            <a:off x="320040" y="1371600"/>
            <a:ext cx="5486400" cy="512064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371600"/>
            <a:ext cx="5486400" cy="54864"/>
          </a:xfrm>
          <a:prstGeom prst="rect">
            <a:avLst/>
          </a:prstGeom>
          <a:solidFill>
            <a:srgbClr val="00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36192"/>
            <a:ext cx="5212080" cy="4892040"/>
          </a:xfrm>
          <a:prstGeom prst="rect">
            <a:avLst/>
          </a:prstGeom>
          <a:noFill/>
        </p:spPr>
        <p:txBody>
          <a:bodyPr wrap="square">
            <a:spAutoFit/>
          </a:bodyPr>
          <a:lstStyle/>
          <a:p>
            <a:pPr algn="l"/>
            <a:r>
              <a:rPr sz="1800" b="1" i="0">
                <a:solidFill>
                  <a:srgbClr val="00E6D2"/>
                </a:solidFill>
              </a:rPr>
              <a:t>🌍  پارامترهای محیط</a:t>
            </a:r>
          </a:p>
          <a:p>
            <a:pPr algn="l"/>
            <a:r>
              <a:rPr sz="1500" b="0" i="0">
                <a:solidFill>
                  <a:srgbClr val="C8D2E6"/>
                </a:solidFill>
              </a:rPr>
              <a:t>   ▸ محیط شبیه‌سازی :  2D Grid با موانع تصادفی</a:t>
            </a:r>
          </a:p>
          <a:p>
            <a:pPr algn="l"/>
            <a:r>
              <a:rPr sz="1500" b="0" i="0">
                <a:solidFill>
                  <a:srgbClr val="C8D2E6"/>
                </a:solidFill>
              </a:rPr>
              <a:t>   ▸ تعداد پهپادها :  4 – 8 عامل</a:t>
            </a:r>
          </a:p>
          <a:p>
            <a:pPr algn="l"/>
            <a:r>
              <a:rPr sz="1500" b="0" i="0">
                <a:solidFill>
                  <a:srgbClr val="C8D2E6"/>
                </a:solidFill>
              </a:rPr>
              <a:t>   ▸ سرورهای زمینی :  2 – 3 سرور</a:t>
            </a:r>
          </a:p>
          <a:p>
            <a:pPr algn="l"/>
            <a:r>
              <a:rPr sz="1500" b="0" i="0">
                <a:solidFill>
                  <a:srgbClr val="C8D2E6"/>
                </a:solidFill>
              </a:rPr>
              <a:t>   ▸ ظرفیت باتری :  1000 mAh</a:t>
            </a:r>
          </a:p>
          <a:p>
            <a:pPr algn="l"/>
            <a:r>
              <a:rPr sz="1500" b="0" i="0">
                <a:solidFill>
                  <a:srgbClr val="C8D2E6"/>
                </a:solidFill>
              </a:rPr>
              <a:t>   ▸ سناریوها :  Easy / Medium / Complex</a:t>
            </a:r>
          </a:p>
        </p:txBody>
      </p:sp>
      <p:sp>
        <p:nvSpPr>
          <p:cNvPr id="10" name="Rectangle 9"/>
          <p:cNvSpPr/>
          <p:nvPr/>
        </p:nvSpPr>
        <p:spPr>
          <a:xfrm>
            <a:off x="6126480" y="1371600"/>
            <a:ext cx="5486400" cy="512064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0" y="1371600"/>
            <a:ext cx="5486400" cy="54864"/>
          </a:xfrm>
          <a:prstGeom prst="rect">
            <a:avLst/>
          </a:prstGeom>
          <a:solidFill>
            <a:srgbClr val="8A2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1536192"/>
            <a:ext cx="5212080" cy="4892040"/>
          </a:xfrm>
          <a:prstGeom prst="rect">
            <a:avLst/>
          </a:prstGeom>
          <a:noFill/>
        </p:spPr>
        <p:txBody>
          <a:bodyPr wrap="square">
            <a:spAutoFit/>
          </a:bodyPr>
          <a:lstStyle/>
          <a:p>
            <a:pPr algn="l"/>
            <a:r>
              <a:rPr sz="1800" b="1" i="0">
                <a:solidFill>
                  <a:srgbClr val="8A2BE2"/>
                </a:solidFill>
              </a:rPr>
              <a:t>🧠  پارامترهای یادگیری تقویتی</a:t>
            </a:r>
          </a:p>
          <a:p>
            <a:pPr algn="l"/>
            <a:r>
              <a:rPr sz="1500" b="0" i="0">
                <a:solidFill>
                  <a:srgbClr val="C8D2E6"/>
                </a:solidFill>
              </a:rPr>
              <a:t>   ▸ Learning Rate Actor :  0.001</a:t>
            </a:r>
          </a:p>
          <a:p>
            <a:pPr algn="l"/>
            <a:r>
              <a:rPr sz="1500" b="0" i="0">
                <a:solidFill>
                  <a:srgbClr val="C8D2E6"/>
                </a:solidFill>
              </a:rPr>
              <a:t>   ▸ Learning Rate Critic :  0.002</a:t>
            </a:r>
          </a:p>
          <a:p>
            <a:pPr algn="l"/>
            <a:r>
              <a:rPr sz="1500" b="0" i="0">
                <a:solidFill>
                  <a:srgbClr val="C8D2E6"/>
                </a:solidFill>
              </a:rPr>
              <a:t>   ▸ Discount Factor γ :  0.99</a:t>
            </a:r>
          </a:p>
          <a:p>
            <a:pPr algn="l"/>
            <a:r>
              <a:rPr sz="1500" b="0" i="0">
                <a:solidFill>
                  <a:srgbClr val="C8D2E6"/>
                </a:solidFill>
              </a:rPr>
              <a:t>   ▸ Replay Buffer :  100,000 تجربه</a:t>
            </a:r>
          </a:p>
          <a:p>
            <a:pPr algn="l"/>
            <a:r>
              <a:rPr sz="1500" b="0" i="0">
                <a:solidFill>
                  <a:srgbClr val="C8D2E6"/>
                </a:solidFill>
              </a:rPr>
              <a:t>   ▸ Batch Size :  256</a:t>
            </a:r>
          </a:p>
          <a:p>
            <a:pPr algn="l"/>
            <a:r>
              <a:rPr sz="1500" b="0" i="0">
                <a:solidFill>
                  <a:srgbClr val="C8D2E6"/>
                </a:solidFill>
              </a:rPr>
              <a:t>   ▸ Episodes :  2000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45720"/>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188720"/>
          </a:xfrm>
          <a:prstGeom prst="rect">
            <a:avLst/>
          </a:prstGeom>
          <a:solidFill>
            <a:srgbClr val="00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9144000" cy="731520"/>
          </a:xfrm>
          <a:prstGeom prst="rect">
            <a:avLst/>
          </a:prstGeom>
          <a:noFill/>
        </p:spPr>
        <p:txBody>
          <a:bodyPr wrap="square">
            <a:spAutoFit/>
          </a:bodyPr>
          <a:lstStyle/>
          <a:p>
            <a:pPr algn="l"/>
            <a:r>
              <a:rPr sz="3000" b="1" i="0">
                <a:solidFill>
                  <a:srgbClr val="FFFFFF"/>
                </a:solidFill>
              </a:rPr>
              <a:t>📊  شاخص‌های کلیدی عملکرد</a:t>
            </a:r>
          </a:p>
        </p:txBody>
      </p:sp>
      <p:sp>
        <p:nvSpPr>
          <p:cNvPr id="6" name="TextBox 5"/>
          <p:cNvSpPr txBox="1"/>
          <p:nvPr/>
        </p:nvSpPr>
        <p:spPr>
          <a:xfrm>
            <a:off x="228600" y="749808"/>
            <a:ext cx="9144000" cy="365760"/>
          </a:xfrm>
          <a:prstGeom prst="rect">
            <a:avLst/>
          </a:prstGeom>
          <a:noFill/>
        </p:spPr>
        <p:txBody>
          <a:bodyPr wrap="square">
            <a:spAutoFit/>
          </a:bodyPr>
          <a:lstStyle/>
          <a:p>
            <a:pPr algn="l"/>
            <a:r>
              <a:rPr sz="1300" b="0" i="1">
                <a:solidFill>
                  <a:srgbClr val="00E6D2"/>
                </a:solidFill>
              </a:rPr>
              <a:t>Key Performance Indicators – MADDPG</a:t>
            </a:r>
          </a:p>
        </p:txBody>
      </p:sp>
      <p:sp>
        <p:nvSpPr>
          <p:cNvPr id="7" name="Rectangle 6"/>
          <p:cNvSpPr/>
          <p:nvPr/>
        </p:nvSpPr>
        <p:spPr>
          <a:xfrm>
            <a:off x="320040" y="1371600"/>
            <a:ext cx="2560320" cy="137160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2688336"/>
            <a:ext cx="2560320" cy="54864"/>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481328"/>
            <a:ext cx="2560320" cy="731520"/>
          </a:xfrm>
          <a:prstGeom prst="rect">
            <a:avLst/>
          </a:prstGeom>
          <a:noFill/>
        </p:spPr>
        <p:txBody>
          <a:bodyPr wrap="square">
            <a:spAutoFit/>
          </a:bodyPr>
          <a:lstStyle/>
          <a:p>
            <a:pPr algn="ctr"/>
            <a:r>
              <a:rPr sz="3200" b="1" i="0">
                <a:solidFill>
                  <a:srgbClr val="39FF14"/>
                </a:solidFill>
              </a:rPr>
              <a:t>3.82 mJ</a:t>
            </a:r>
          </a:p>
        </p:txBody>
      </p:sp>
      <p:sp>
        <p:nvSpPr>
          <p:cNvPr id="10" name="TextBox 9"/>
          <p:cNvSpPr txBox="1"/>
          <p:nvPr/>
        </p:nvSpPr>
        <p:spPr>
          <a:xfrm>
            <a:off x="320040" y="2121408"/>
            <a:ext cx="2560320" cy="457200"/>
          </a:xfrm>
          <a:prstGeom prst="rect">
            <a:avLst/>
          </a:prstGeom>
          <a:noFill/>
        </p:spPr>
        <p:txBody>
          <a:bodyPr wrap="square">
            <a:spAutoFit/>
          </a:bodyPr>
          <a:lstStyle/>
          <a:p>
            <a:pPr algn="ctr"/>
            <a:r>
              <a:rPr sz="1200" b="0" i="0">
                <a:solidFill>
                  <a:srgbClr val="C8D2E6"/>
                </a:solidFill>
              </a:rPr>
              <a:t>مصرف انرژی</a:t>
            </a:r>
          </a:p>
        </p:txBody>
      </p:sp>
      <p:sp>
        <p:nvSpPr>
          <p:cNvPr id="11" name="Rectangle 10"/>
          <p:cNvSpPr/>
          <p:nvPr/>
        </p:nvSpPr>
        <p:spPr>
          <a:xfrm>
            <a:off x="3337560" y="1371600"/>
            <a:ext cx="2560320" cy="137160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37560" y="2688336"/>
            <a:ext cx="2560320" cy="54864"/>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37560" y="1481328"/>
            <a:ext cx="2560320" cy="731520"/>
          </a:xfrm>
          <a:prstGeom prst="rect">
            <a:avLst/>
          </a:prstGeom>
          <a:noFill/>
        </p:spPr>
        <p:txBody>
          <a:bodyPr wrap="square">
            <a:spAutoFit/>
          </a:bodyPr>
          <a:lstStyle/>
          <a:p>
            <a:pPr algn="ctr"/>
            <a:r>
              <a:rPr sz="3200" b="1" i="0">
                <a:solidFill>
                  <a:srgbClr val="00A2FF"/>
                </a:solidFill>
              </a:rPr>
              <a:t>54.2 ms</a:t>
            </a:r>
          </a:p>
        </p:txBody>
      </p:sp>
      <p:sp>
        <p:nvSpPr>
          <p:cNvPr id="14" name="TextBox 13"/>
          <p:cNvSpPr txBox="1"/>
          <p:nvPr/>
        </p:nvSpPr>
        <p:spPr>
          <a:xfrm>
            <a:off x="3337560" y="2121408"/>
            <a:ext cx="2560320" cy="457200"/>
          </a:xfrm>
          <a:prstGeom prst="rect">
            <a:avLst/>
          </a:prstGeom>
          <a:noFill/>
        </p:spPr>
        <p:txBody>
          <a:bodyPr wrap="square">
            <a:spAutoFit/>
          </a:bodyPr>
          <a:lstStyle/>
          <a:p>
            <a:pPr algn="ctr"/>
            <a:r>
              <a:rPr sz="1200" b="0" i="0">
                <a:solidFill>
                  <a:srgbClr val="C8D2E6"/>
                </a:solidFill>
              </a:rPr>
              <a:t>تأخیر کل</a:t>
            </a:r>
          </a:p>
        </p:txBody>
      </p:sp>
      <p:sp>
        <p:nvSpPr>
          <p:cNvPr id="15" name="Rectangle 14"/>
          <p:cNvSpPr/>
          <p:nvPr/>
        </p:nvSpPr>
        <p:spPr>
          <a:xfrm>
            <a:off x="6355079" y="1371600"/>
            <a:ext cx="2560320" cy="137160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55079" y="2688336"/>
            <a:ext cx="2560320" cy="54864"/>
          </a:xfrm>
          <a:prstGeom prst="rect">
            <a:avLst/>
          </a:prstGeom>
          <a:solidFill>
            <a:srgbClr val="00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79" y="1481328"/>
            <a:ext cx="2560320" cy="731520"/>
          </a:xfrm>
          <a:prstGeom prst="rect">
            <a:avLst/>
          </a:prstGeom>
          <a:noFill/>
        </p:spPr>
        <p:txBody>
          <a:bodyPr wrap="square">
            <a:spAutoFit/>
          </a:bodyPr>
          <a:lstStyle/>
          <a:p>
            <a:pPr algn="ctr"/>
            <a:r>
              <a:rPr sz="3200" b="1" i="0">
                <a:solidFill>
                  <a:srgbClr val="00E6D2"/>
                </a:solidFill>
              </a:rPr>
              <a:t>94.2%</a:t>
            </a:r>
          </a:p>
        </p:txBody>
      </p:sp>
      <p:sp>
        <p:nvSpPr>
          <p:cNvPr id="18" name="TextBox 17"/>
          <p:cNvSpPr txBox="1"/>
          <p:nvPr/>
        </p:nvSpPr>
        <p:spPr>
          <a:xfrm>
            <a:off x="6355079" y="2121408"/>
            <a:ext cx="2560320" cy="457200"/>
          </a:xfrm>
          <a:prstGeom prst="rect">
            <a:avLst/>
          </a:prstGeom>
          <a:noFill/>
        </p:spPr>
        <p:txBody>
          <a:bodyPr wrap="square">
            <a:spAutoFit/>
          </a:bodyPr>
          <a:lstStyle/>
          <a:p>
            <a:pPr algn="ctr"/>
            <a:r>
              <a:rPr sz="1200" b="0" i="0">
                <a:solidFill>
                  <a:srgbClr val="C8D2E6"/>
                </a:solidFill>
              </a:rPr>
              <a:t>نرخ موفقیت</a:t>
            </a:r>
          </a:p>
        </p:txBody>
      </p:sp>
      <p:sp>
        <p:nvSpPr>
          <p:cNvPr id="19" name="Rectangle 18"/>
          <p:cNvSpPr/>
          <p:nvPr/>
        </p:nvSpPr>
        <p:spPr>
          <a:xfrm>
            <a:off x="9372599" y="1371600"/>
            <a:ext cx="2560320" cy="137160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372599" y="2688336"/>
            <a:ext cx="2560320"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72599" y="1481328"/>
            <a:ext cx="2560320" cy="731520"/>
          </a:xfrm>
          <a:prstGeom prst="rect">
            <a:avLst/>
          </a:prstGeom>
          <a:noFill/>
        </p:spPr>
        <p:txBody>
          <a:bodyPr wrap="square">
            <a:spAutoFit/>
          </a:bodyPr>
          <a:lstStyle/>
          <a:p>
            <a:pPr algn="ctr"/>
            <a:r>
              <a:rPr sz="3200" b="1" i="0">
                <a:solidFill>
                  <a:srgbClr val="FF8C00"/>
                </a:solidFill>
              </a:rPr>
              <a:t>12%</a:t>
            </a:r>
          </a:p>
        </p:txBody>
      </p:sp>
      <p:sp>
        <p:nvSpPr>
          <p:cNvPr id="22" name="TextBox 21"/>
          <p:cNvSpPr txBox="1"/>
          <p:nvPr/>
        </p:nvSpPr>
        <p:spPr>
          <a:xfrm>
            <a:off x="9372599" y="2121408"/>
            <a:ext cx="2560320" cy="457200"/>
          </a:xfrm>
          <a:prstGeom prst="rect">
            <a:avLst/>
          </a:prstGeom>
          <a:noFill/>
        </p:spPr>
        <p:txBody>
          <a:bodyPr wrap="square">
            <a:spAutoFit/>
          </a:bodyPr>
          <a:lstStyle/>
          <a:p>
            <a:pPr algn="ctr"/>
            <a:r>
              <a:rPr sz="1200" b="0" i="0">
                <a:solidFill>
                  <a:srgbClr val="C8D2E6"/>
                </a:solidFill>
              </a:rPr>
              <a:t>نرخ اشباع صف</a:t>
            </a:r>
          </a:p>
        </p:txBody>
      </p:sp>
      <p:sp>
        <p:nvSpPr>
          <p:cNvPr id="23" name="Rectangle 22"/>
          <p:cNvSpPr/>
          <p:nvPr/>
        </p:nvSpPr>
        <p:spPr>
          <a:xfrm>
            <a:off x="320040" y="2926080"/>
            <a:ext cx="2560320" cy="457200"/>
          </a:xfrm>
          <a:prstGeom prst="rect">
            <a:avLst/>
          </a:prstGeom>
          <a:solidFill>
            <a:srgbClr val="00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59" y="2971800"/>
            <a:ext cx="2468879" cy="365760"/>
          </a:xfrm>
          <a:prstGeom prst="rect">
            <a:avLst/>
          </a:prstGeom>
          <a:noFill/>
        </p:spPr>
        <p:txBody>
          <a:bodyPr wrap="square">
            <a:spAutoFit/>
          </a:bodyPr>
          <a:lstStyle/>
          <a:p>
            <a:pPr algn="ctr"/>
            <a:r>
              <a:rPr sz="1400" b="1" i="0">
                <a:solidFill>
                  <a:srgbClr val="FFFFFF"/>
                </a:solidFill>
              </a:rPr>
              <a:t>روش</a:t>
            </a:r>
          </a:p>
        </p:txBody>
      </p:sp>
      <p:sp>
        <p:nvSpPr>
          <p:cNvPr id="25" name="Rectangle 24"/>
          <p:cNvSpPr/>
          <p:nvPr/>
        </p:nvSpPr>
        <p:spPr>
          <a:xfrm>
            <a:off x="2880360" y="2926080"/>
            <a:ext cx="2103120" cy="457200"/>
          </a:xfrm>
          <a:prstGeom prst="rect">
            <a:avLst/>
          </a:prstGeom>
          <a:solidFill>
            <a:srgbClr val="00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26079" y="2971800"/>
            <a:ext cx="2011679" cy="365760"/>
          </a:xfrm>
          <a:prstGeom prst="rect">
            <a:avLst/>
          </a:prstGeom>
          <a:noFill/>
        </p:spPr>
        <p:txBody>
          <a:bodyPr wrap="square">
            <a:spAutoFit/>
          </a:bodyPr>
          <a:lstStyle/>
          <a:p>
            <a:pPr algn="ctr"/>
            <a:r>
              <a:rPr sz="1400" b="1" i="0">
                <a:solidFill>
                  <a:srgbClr val="FFFFFF"/>
                </a:solidFill>
              </a:rPr>
              <a:t>انرژی (mJ)</a:t>
            </a:r>
          </a:p>
        </p:txBody>
      </p:sp>
      <p:sp>
        <p:nvSpPr>
          <p:cNvPr id="27" name="Rectangle 26"/>
          <p:cNvSpPr/>
          <p:nvPr/>
        </p:nvSpPr>
        <p:spPr>
          <a:xfrm>
            <a:off x="4983480" y="2926080"/>
            <a:ext cx="2103120" cy="457200"/>
          </a:xfrm>
          <a:prstGeom prst="rect">
            <a:avLst/>
          </a:prstGeom>
          <a:solidFill>
            <a:srgbClr val="00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0" y="2971800"/>
            <a:ext cx="2011679" cy="365760"/>
          </a:xfrm>
          <a:prstGeom prst="rect">
            <a:avLst/>
          </a:prstGeom>
          <a:noFill/>
        </p:spPr>
        <p:txBody>
          <a:bodyPr wrap="square">
            <a:spAutoFit/>
          </a:bodyPr>
          <a:lstStyle/>
          <a:p>
            <a:pPr algn="ctr"/>
            <a:r>
              <a:rPr sz="1400" b="1" i="0">
                <a:solidFill>
                  <a:srgbClr val="FFFFFF"/>
                </a:solidFill>
              </a:rPr>
              <a:t>تأخیر (ms)</a:t>
            </a:r>
          </a:p>
        </p:txBody>
      </p:sp>
      <p:sp>
        <p:nvSpPr>
          <p:cNvPr id="29" name="Rectangle 28"/>
          <p:cNvSpPr/>
          <p:nvPr/>
        </p:nvSpPr>
        <p:spPr>
          <a:xfrm>
            <a:off x="7086600" y="2926080"/>
            <a:ext cx="2103120" cy="457200"/>
          </a:xfrm>
          <a:prstGeom prst="rect">
            <a:avLst/>
          </a:prstGeom>
          <a:solidFill>
            <a:srgbClr val="00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0" y="2971800"/>
            <a:ext cx="2011679" cy="365760"/>
          </a:xfrm>
          <a:prstGeom prst="rect">
            <a:avLst/>
          </a:prstGeom>
          <a:noFill/>
        </p:spPr>
        <p:txBody>
          <a:bodyPr wrap="square">
            <a:spAutoFit/>
          </a:bodyPr>
          <a:lstStyle/>
          <a:p>
            <a:pPr algn="ctr"/>
            <a:r>
              <a:rPr sz="1400" b="1" i="0">
                <a:solidFill>
                  <a:srgbClr val="FFFFFF"/>
                </a:solidFill>
              </a:rPr>
              <a:t>موفقیت (%)</a:t>
            </a:r>
          </a:p>
        </p:txBody>
      </p:sp>
      <p:sp>
        <p:nvSpPr>
          <p:cNvPr id="31" name="Rectangle 30"/>
          <p:cNvSpPr/>
          <p:nvPr/>
        </p:nvSpPr>
        <p:spPr>
          <a:xfrm>
            <a:off x="320040" y="3383280"/>
            <a:ext cx="2560320" cy="475488"/>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59" y="3447288"/>
            <a:ext cx="2468879" cy="365760"/>
          </a:xfrm>
          <a:prstGeom prst="rect">
            <a:avLst/>
          </a:prstGeom>
          <a:noFill/>
        </p:spPr>
        <p:txBody>
          <a:bodyPr wrap="square">
            <a:spAutoFit/>
          </a:bodyPr>
          <a:lstStyle/>
          <a:p>
            <a:pPr algn="ctr"/>
            <a:r>
              <a:rPr sz="1300" b="1" i="0">
                <a:solidFill>
                  <a:srgbClr val="FFFFFF"/>
                </a:solidFill>
              </a:rPr>
              <a:t>MADDPG (ما)</a:t>
            </a:r>
          </a:p>
        </p:txBody>
      </p:sp>
      <p:sp>
        <p:nvSpPr>
          <p:cNvPr id="33" name="Rectangle 32"/>
          <p:cNvSpPr/>
          <p:nvPr/>
        </p:nvSpPr>
        <p:spPr>
          <a:xfrm>
            <a:off x="2880360" y="3383280"/>
            <a:ext cx="2103120" cy="475488"/>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26079" y="3447288"/>
            <a:ext cx="2011679" cy="365760"/>
          </a:xfrm>
          <a:prstGeom prst="rect">
            <a:avLst/>
          </a:prstGeom>
          <a:noFill/>
        </p:spPr>
        <p:txBody>
          <a:bodyPr wrap="square">
            <a:spAutoFit/>
          </a:bodyPr>
          <a:lstStyle/>
          <a:p>
            <a:pPr algn="ctr"/>
            <a:r>
              <a:rPr sz="1300" b="1" i="0">
                <a:solidFill>
                  <a:srgbClr val="39FF14"/>
                </a:solidFill>
              </a:rPr>
              <a:t>3.82</a:t>
            </a:r>
          </a:p>
        </p:txBody>
      </p:sp>
      <p:sp>
        <p:nvSpPr>
          <p:cNvPr id="35" name="Rectangle 34"/>
          <p:cNvSpPr/>
          <p:nvPr/>
        </p:nvSpPr>
        <p:spPr>
          <a:xfrm>
            <a:off x="4983480" y="3383280"/>
            <a:ext cx="2103120" cy="475488"/>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0" y="3447288"/>
            <a:ext cx="2011679" cy="365760"/>
          </a:xfrm>
          <a:prstGeom prst="rect">
            <a:avLst/>
          </a:prstGeom>
          <a:noFill/>
        </p:spPr>
        <p:txBody>
          <a:bodyPr wrap="square">
            <a:spAutoFit/>
          </a:bodyPr>
          <a:lstStyle/>
          <a:p>
            <a:pPr algn="ctr"/>
            <a:r>
              <a:rPr sz="1300" b="1" i="0">
                <a:solidFill>
                  <a:srgbClr val="39FF14"/>
                </a:solidFill>
              </a:rPr>
              <a:t>54.2</a:t>
            </a:r>
          </a:p>
        </p:txBody>
      </p:sp>
      <p:sp>
        <p:nvSpPr>
          <p:cNvPr id="37" name="Rectangle 36"/>
          <p:cNvSpPr/>
          <p:nvPr/>
        </p:nvSpPr>
        <p:spPr>
          <a:xfrm>
            <a:off x="7086600" y="3383280"/>
            <a:ext cx="2103120" cy="475488"/>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32320" y="3447288"/>
            <a:ext cx="2011679" cy="365760"/>
          </a:xfrm>
          <a:prstGeom prst="rect">
            <a:avLst/>
          </a:prstGeom>
          <a:noFill/>
        </p:spPr>
        <p:txBody>
          <a:bodyPr wrap="square">
            <a:spAutoFit/>
          </a:bodyPr>
          <a:lstStyle/>
          <a:p>
            <a:pPr algn="ctr"/>
            <a:r>
              <a:rPr sz="1300" b="1" i="0">
                <a:solidFill>
                  <a:srgbClr val="39FF14"/>
                </a:solidFill>
              </a:rPr>
              <a:t>94.2</a:t>
            </a:r>
          </a:p>
        </p:txBody>
      </p:sp>
      <p:sp>
        <p:nvSpPr>
          <p:cNvPr id="39" name="Rectangle 38"/>
          <p:cNvSpPr/>
          <p:nvPr/>
        </p:nvSpPr>
        <p:spPr>
          <a:xfrm>
            <a:off x="320040" y="3886200"/>
            <a:ext cx="2560320" cy="475488"/>
          </a:xfrm>
          <a:prstGeom prst="rect">
            <a:avLst/>
          </a:prstGeom>
          <a:solidFill>
            <a:srgbClr val="0F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59" y="3950208"/>
            <a:ext cx="2468879" cy="365760"/>
          </a:xfrm>
          <a:prstGeom prst="rect">
            <a:avLst/>
          </a:prstGeom>
          <a:noFill/>
        </p:spPr>
        <p:txBody>
          <a:bodyPr wrap="square">
            <a:spAutoFit/>
          </a:bodyPr>
          <a:lstStyle/>
          <a:p>
            <a:pPr algn="ctr"/>
            <a:r>
              <a:rPr sz="1300" b="0" i="0">
                <a:solidFill>
                  <a:srgbClr val="FFFFFF"/>
                </a:solidFill>
              </a:rPr>
              <a:t>Greedy</a:t>
            </a:r>
          </a:p>
        </p:txBody>
      </p:sp>
      <p:sp>
        <p:nvSpPr>
          <p:cNvPr id="41" name="Rectangle 40"/>
          <p:cNvSpPr/>
          <p:nvPr/>
        </p:nvSpPr>
        <p:spPr>
          <a:xfrm>
            <a:off x="2880360" y="3886200"/>
            <a:ext cx="2103120" cy="475488"/>
          </a:xfrm>
          <a:prstGeom prst="rect">
            <a:avLst/>
          </a:prstGeom>
          <a:solidFill>
            <a:srgbClr val="0F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926079" y="3950208"/>
            <a:ext cx="2011679" cy="365760"/>
          </a:xfrm>
          <a:prstGeom prst="rect">
            <a:avLst/>
          </a:prstGeom>
          <a:noFill/>
        </p:spPr>
        <p:txBody>
          <a:bodyPr wrap="square">
            <a:spAutoFit/>
          </a:bodyPr>
          <a:lstStyle/>
          <a:p>
            <a:pPr algn="ctr"/>
            <a:r>
              <a:rPr sz="1300" b="0" i="0">
                <a:solidFill>
                  <a:srgbClr val="00E6D2"/>
                </a:solidFill>
              </a:rPr>
              <a:t>5.60</a:t>
            </a:r>
          </a:p>
        </p:txBody>
      </p:sp>
      <p:sp>
        <p:nvSpPr>
          <p:cNvPr id="43" name="Rectangle 42"/>
          <p:cNvSpPr/>
          <p:nvPr/>
        </p:nvSpPr>
        <p:spPr>
          <a:xfrm>
            <a:off x="4983480" y="3886200"/>
            <a:ext cx="2103120" cy="475488"/>
          </a:xfrm>
          <a:prstGeom prst="rect">
            <a:avLst/>
          </a:prstGeom>
          <a:solidFill>
            <a:srgbClr val="0F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29200" y="3950208"/>
            <a:ext cx="2011679" cy="365760"/>
          </a:xfrm>
          <a:prstGeom prst="rect">
            <a:avLst/>
          </a:prstGeom>
          <a:noFill/>
        </p:spPr>
        <p:txBody>
          <a:bodyPr wrap="square">
            <a:spAutoFit/>
          </a:bodyPr>
          <a:lstStyle/>
          <a:p>
            <a:pPr algn="ctr"/>
            <a:r>
              <a:rPr sz="1300" b="0" i="0">
                <a:solidFill>
                  <a:srgbClr val="00E6D2"/>
                </a:solidFill>
              </a:rPr>
              <a:t>71.3</a:t>
            </a:r>
          </a:p>
        </p:txBody>
      </p:sp>
      <p:sp>
        <p:nvSpPr>
          <p:cNvPr id="45" name="Rectangle 44"/>
          <p:cNvSpPr/>
          <p:nvPr/>
        </p:nvSpPr>
        <p:spPr>
          <a:xfrm>
            <a:off x="7086600" y="3886200"/>
            <a:ext cx="2103120" cy="475488"/>
          </a:xfrm>
          <a:prstGeom prst="rect">
            <a:avLst/>
          </a:prstGeom>
          <a:solidFill>
            <a:srgbClr val="0F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32320" y="3950208"/>
            <a:ext cx="2011679" cy="365760"/>
          </a:xfrm>
          <a:prstGeom prst="rect">
            <a:avLst/>
          </a:prstGeom>
          <a:noFill/>
        </p:spPr>
        <p:txBody>
          <a:bodyPr wrap="square">
            <a:spAutoFit/>
          </a:bodyPr>
          <a:lstStyle/>
          <a:p>
            <a:pPr algn="ctr"/>
            <a:r>
              <a:rPr sz="1300" b="0" i="0">
                <a:solidFill>
                  <a:srgbClr val="00E6D2"/>
                </a:solidFill>
              </a:rPr>
              <a:t>81.5</a:t>
            </a:r>
          </a:p>
        </p:txBody>
      </p:sp>
      <p:sp>
        <p:nvSpPr>
          <p:cNvPr id="47" name="Rectangle 46"/>
          <p:cNvSpPr/>
          <p:nvPr/>
        </p:nvSpPr>
        <p:spPr>
          <a:xfrm>
            <a:off x="320040" y="4389120"/>
            <a:ext cx="2560320" cy="475488"/>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65759" y="4453128"/>
            <a:ext cx="2468879" cy="365760"/>
          </a:xfrm>
          <a:prstGeom prst="rect">
            <a:avLst/>
          </a:prstGeom>
          <a:noFill/>
        </p:spPr>
        <p:txBody>
          <a:bodyPr wrap="square">
            <a:spAutoFit/>
          </a:bodyPr>
          <a:lstStyle/>
          <a:p>
            <a:pPr algn="ctr"/>
            <a:r>
              <a:rPr sz="1300" b="0" i="0">
                <a:solidFill>
                  <a:srgbClr val="FFFFFF"/>
                </a:solidFill>
              </a:rPr>
              <a:t>Always Ground</a:t>
            </a:r>
          </a:p>
        </p:txBody>
      </p:sp>
      <p:sp>
        <p:nvSpPr>
          <p:cNvPr id="49" name="Rectangle 48"/>
          <p:cNvSpPr/>
          <p:nvPr/>
        </p:nvSpPr>
        <p:spPr>
          <a:xfrm>
            <a:off x="2880360" y="4389120"/>
            <a:ext cx="2103120" cy="475488"/>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926079" y="4453128"/>
            <a:ext cx="2011679" cy="365760"/>
          </a:xfrm>
          <a:prstGeom prst="rect">
            <a:avLst/>
          </a:prstGeom>
          <a:noFill/>
        </p:spPr>
        <p:txBody>
          <a:bodyPr wrap="square">
            <a:spAutoFit/>
          </a:bodyPr>
          <a:lstStyle/>
          <a:p>
            <a:pPr algn="ctr"/>
            <a:r>
              <a:rPr sz="1300" b="0" i="0">
                <a:solidFill>
                  <a:srgbClr val="00A2FF"/>
                </a:solidFill>
              </a:rPr>
              <a:t>5.91</a:t>
            </a:r>
          </a:p>
        </p:txBody>
      </p:sp>
      <p:sp>
        <p:nvSpPr>
          <p:cNvPr id="51" name="Rectangle 50"/>
          <p:cNvSpPr/>
          <p:nvPr/>
        </p:nvSpPr>
        <p:spPr>
          <a:xfrm>
            <a:off x="4983480" y="4389120"/>
            <a:ext cx="2103120" cy="475488"/>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029200" y="4453128"/>
            <a:ext cx="2011679" cy="365760"/>
          </a:xfrm>
          <a:prstGeom prst="rect">
            <a:avLst/>
          </a:prstGeom>
          <a:noFill/>
        </p:spPr>
        <p:txBody>
          <a:bodyPr wrap="square">
            <a:spAutoFit/>
          </a:bodyPr>
          <a:lstStyle/>
          <a:p>
            <a:pPr algn="ctr"/>
            <a:r>
              <a:rPr sz="1300" b="0" i="0">
                <a:solidFill>
                  <a:srgbClr val="00A2FF"/>
                </a:solidFill>
              </a:rPr>
              <a:t>86.5</a:t>
            </a:r>
          </a:p>
        </p:txBody>
      </p:sp>
      <p:sp>
        <p:nvSpPr>
          <p:cNvPr id="53" name="Rectangle 52"/>
          <p:cNvSpPr/>
          <p:nvPr/>
        </p:nvSpPr>
        <p:spPr>
          <a:xfrm>
            <a:off x="7086600" y="4389120"/>
            <a:ext cx="2103120" cy="475488"/>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132320" y="4453128"/>
            <a:ext cx="2011679" cy="365760"/>
          </a:xfrm>
          <a:prstGeom prst="rect">
            <a:avLst/>
          </a:prstGeom>
          <a:noFill/>
        </p:spPr>
        <p:txBody>
          <a:bodyPr wrap="square">
            <a:spAutoFit/>
          </a:bodyPr>
          <a:lstStyle/>
          <a:p>
            <a:pPr algn="ctr"/>
            <a:r>
              <a:rPr sz="1300" b="0" i="0">
                <a:solidFill>
                  <a:srgbClr val="00A2FF"/>
                </a:solidFill>
              </a:rPr>
              <a:t>78.2</a:t>
            </a:r>
          </a:p>
        </p:txBody>
      </p:sp>
      <p:sp>
        <p:nvSpPr>
          <p:cNvPr id="55" name="Rectangle 54"/>
          <p:cNvSpPr/>
          <p:nvPr/>
        </p:nvSpPr>
        <p:spPr>
          <a:xfrm>
            <a:off x="320040" y="4892040"/>
            <a:ext cx="2560320" cy="475488"/>
          </a:xfrm>
          <a:prstGeom prst="rect">
            <a:avLst/>
          </a:prstGeom>
          <a:solidFill>
            <a:srgbClr val="0F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65759" y="4956048"/>
            <a:ext cx="2468879" cy="365760"/>
          </a:xfrm>
          <a:prstGeom prst="rect">
            <a:avLst/>
          </a:prstGeom>
          <a:noFill/>
        </p:spPr>
        <p:txBody>
          <a:bodyPr wrap="square">
            <a:spAutoFit/>
          </a:bodyPr>
          <a:lstStyle/>
          <a:p>
            <a:pPr algn="ctr"/>
            <a:r>
              <a:rPr sz="1300" b="0" i="0">
                <a:solidFill>
                  <a:srgbClr val="FFFFFF"/>
                </a:solidFill>
              </a:rPr>
              <a:t>Always UAV</a:t>
            </a:r>
          </a:p>
        </p:txBody>
      </p:sp>
      <p:sp>
        <p:nvSpPr>
          <p:cNvPr id="57" name="Rectangle 56"/>
          <p:cNvSpPr/>
          <p:nvPr/>
        </p:nvSpPr>
        <p:spPr>
          <a:xfrm>
            <a:off x="2880360" y="4892040"/>
            <a:ext cx="2103120" cy="475488"/>
          </a:xfrm>
          <a:prstGeom prst="rect">
            <a:avLst/>
          </a:prstGeom>
          <a:solidFill>
            <a:srgbClr val="0F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926079" y="4956048"/>
            <a:ext cx="2011679" cy="365760"/>
          </a:xfrm>
          <a:prstGeom prst="rect">
            <a:avLst/>
          </a:prstGeom>
          <a:noFill/>
        </p:spPr>
        <p:txBody>
          <a:bodyPr wrap="square">
            <a:spAutoFit/>
          </a:bodyPr>
          <a:lstStyle/>
          <a:p>
            <a:pPr algn="ctr"/>
            <a:r>
              <a:rPr sz="1300" b="0" i="0">
                <a:solidFill>
                  <a:srgbClr val="788CAA"/>
                </a:solidFill>
              </a:rPr>
              <a:t>7.28</a:t>
            </a:r>
          </a:p>
        </p:txBody>
      </p:sp>
      <p:sp>
        <p:nvSpPr>
          <p:cNvPr id="59" name="Rectangle 58"/>
          <p:cNvSpPr/>
          <p:nvPr/>
        </p:nvSpPr>
        <p:spPr>
          <a:xfrm>
            <a:off x="4983480" y="4892040"/>
            <a:ext cx="2103120" cy="475488"/>
          </a:xfrm>
          <a:prstGeom prst="rect">
            <a:avLst/>
          </a:prstGeom>
          <a:solidFill>
            <a:srgbClr val="0F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029200" y="4956048"/>
            <a:ext cx="2011679" cy="365760"/>
          </a:xfrm>
          <a:prstGeom prst="rect">
            <a:avLst/>
          </a:prstGeom>
          <a:noFill/>
        </p:spPr>
        <p:txBody>
          <a:bodyPr wrap="square">
            <a:spAutoFit/>
          </a:bodyPr>
          <a:lstStyle/>
          <a:p>
            <a:pPr algn="ctr"/>
            <a:r>
              <a:rPr sz="1300" b="0" i="0">
                <a:solidFill>
                  <a:srgbClr val="788CAA"/>
                </a:solidFill>
              </a:rPr>
              <a:t>62.8</a:t>
            </a:r>
          </a:p>
        </p:txBody>
      </p:sp>
      <p:sp>
        <p:nvSpPr>
          <p:cNvPr id="61" name="Rectangle 60"/>
          <p:cNvSpPr/>
          <p:nvPr/>
        </p:nvSpPr>
        <p:spPr>
          <a:xfrm>
            <a:off x="7086600" y="4892040"/>
            <a:ext cx="2103120" cy="475488"/>
          </a:xfrm>
          <a:prstGeom prst="rect">
            <a:avLst/>
          </a:prstGeom>
          <a:solidFill>
            <a:srgbClr val="0F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132320" y="4956048"/>
            <a:ext cx="2011679" cy="365760"/>
          </a:xfrm>
          <a:prstGeom prst="rect">
            <a:avLst/>
          </a:prstGeom>
          <a:noFill/>
        </p:spPr>
        <p:txBody>
          <a:bodyPr wrap="square">
            <a:spAutoFit/>
          </a:bodyPr>
          <a:lstStyle/>
          <a:p>
            <a:pPr algn="ctr"/>
            <a:r>
              <a:rPr sz="1300" b="0" i="0">
                <a:solidFill>
                  <a:srgbClr val="788CAA"/>
                </a:solidFill>
              </a:rPr>
              <a:t>84.6</a:t>
            </a:r>
          </a:p>
        </p:txBody>
      </p:sp>
      <p:sp>
        <p:nvSpPr>
          <p:cNvPr id="63" name="Rectangle 62"/>
          <p:cNvSpPr/>
          <p:nvPr/>
        </p:nvSpPr>
        <p:spPr>
          <a:xfrm>
            <a:off x="320040" y="5394960"/>
            <a:ext cx="2560320" cy="475488"/>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65759" y="5458968"/>
            <a:ext cx="2468879" cy="365760"/>
          </a:xfrm>
          <a:prstGeom prst="rect">
            <a:avLst/>
          </a:prstGeom>
          <a:noFill/>
        </p:spPr>
        <p:txBody>
          <a:bodyPr wrap="square">
            <a:spAutoFit/>
          </a:bodyPr>
          <a:lstStyle/>
          <a:p>
            <a:pPr algn="ctr"/>
            <a:r>
              <a:rPr sz="1300" b="0" i="0">
                <a:solidFill>
                  <a:srgbClr val="FFFFFF"/>
                </a:solidFill>
              </a:rPr>
              <a:t>Always Local</a:t>
            </a:r>
          </a:p>
        </p:txBody>
      </p:sp>
      <p:sp>
        <p:nvSpPr>
          <p:cNvPr id="65" name="Rectangle 64"/>
          <p:cNvSpPr/>
          <p:nvPr/>
        </p:nvSpPr>
        <p:spPr>
          <a:xfrm>
            <a:off x="2880360" y="5394960"/>
            <a:ext cx="2103120" cy="475488"/>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926079" y="5458968"/>
            <a:ext cx="2011679" cy="365760"/>
          </a:xfrm>
          <a:prstGeom prst="rect">
            <a:avLst/>
          </a:prstGeom>
          <a:noFill/>
        </p:spPr>
        <p:txBody>
          <a:bodyPr wrap="square">
            <a:spAutoFit/>
          </a:bodyPr>
          <a:lstStyle/>
          <a:p>
            <a:pPr algn="ctr"/>
            <a:r>
              <a:rPr sz="1300" b="0" i="0">
                <a:solidFill>
                  <a:srgbClr val="788CAA"/>
                </a:solidFill>
              </a:rPr>
              <a:t>9.45</a:t>
            </a:r>
          </a:p>
        </p:txBody>
      </p:sp>
      <p:sp>
        <p:nvSpPr>
          <p:cNvPr id="67" name="Rectangle 66"/>
          <p:cNvSpPr/>
          <p:nvPr/>
        </p:nvSpPr>
        <p:spPr>
          <a:xfrm>
            <a:off x="4983480" y="5394960"/>
            <a:ext cx="2103120" cy="475488"/>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029200" y="5458968"/>
            <a:ext cx="2011679" cy="365760"/>
          </a:xfrm>
          <a:prstGeom prst="rect">
            <a:avLst/>
          </a:prstGeom>
          <a:noFill/>
        </p:spPr>
        <p:txBody>
          <a:bodyPr wrap="square">
            <a:spAutoFit/>
          </a:bodyPr>
          <a:lstStyle/>
          <a:p>
            <a:pPr algn="ctr"/>
            <a:r>
              <a:rPr sz="1300" b="0" i="0">
                <a:solidFill>
                  <a:srgbClr val="788CAA"/>
                </a:solidFill>
              </a:rPr>
              <a:t>38.2</a:t>
            </a:r>
          </a:p>
        </p:txBody>
      </p:sp>
      <p:sp>
        <p:nvSpPr>
          <p:cNvPr id="69" name="Rectangle 68"/>
          <p:cNvSpPr/>
          <p:nvPr/>
        </p:nvSpPr>
        <p:spPr>
          <a:xfrm>
            <a:off x="7086600" y="5394960"/>
            <a:ext cx="2103120" cy="475488"/>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132320" y="5458968"/>
            <a:ext cx="2011679" cy="365760"/>
          </a:xfrm>
          <a:prstGeom prst="rect">
            <a:avLst/>
          </a:prstGeom>
          <a:noFill/>
        </p:spPr>
        <p:txBody>
          <a:bodyPr wrap="square">
            <a:spAutoFit/>
          </a:bodyPr>
          <a:lstStyle/>
          <a:p>
            <a:pPr algn="ctr"/>
            <a:r>
              <a:rPr sz="1300" b="0" i="0">
                <a:solidFill>
                  <a:srgbClr val="788CAA"/>
                </a:solidFill>
              </a:rPr>
              <a:t>88.1</a:t>
            </a:r>
          </a:p>
        </p:txBody>
      </p:sp>
      <p:sp>
        <p:nvSpPr>
          <p:cNvPr id="71" name="Rectangle 70"/>
          <p:cNvSpPr/>
          <p:nvPr/>
        </p:nvSpPr>
        <p:spPr>
          <a:xfrm>
            <a:off x="320040" y="5897880"/>
            <a:ext cx="2560320" cy="475488"/>
          </a:xfrm>
          <a:prstGeom prst="rect">
            <a:avLst/>
          </a:prstGeom>
          <a:solidFill>
            <a:srgbClr val="0F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65759" y="5961888"/>
            <a:ext cx="2468879" cy="365760"/>
          </a:xfrm>
          <a:prstGeom prst="rect">
            <a:avLst/>
          </a:prstGeom>
          <a:noFill/>
        </p:spPr>
        <p:txBody>
          <a:bodyPr wrap="square">
            <a:spAutoFit/>
          </a:bodyPr>
          <a:lstStyle/>
          <a:p>
            <a:pPr algn="ctr"/>
            <a:r>
              <a:rPr sz="1300" b="0" i="0">
                <a:solidFill>
                  <a:srgbClr val="FFFFFF"/>
                </a:solidFill>
              </a:rPr>
              <a:t>Random</a:t>
            </a:r>
          </a:p>
        </p:txBody>
      </p:sp>
      <p:sp>
        <p:nvSpPr>
          <p:cNvPr id="73" name="Rectangle 72"/>
          <p:cNvSpPr/>
          <p:nvPr/>
        </p:nvSpPr>
        <p:spPr>
          <a:xfrm>
            <a:off x="2880360" y="5897880"/>
            <a:ext cx="2103120" cy="475488"/>
          </a:xfrm>
          <a:prstGeom prst="rect">
            <a:avLst/>
          </a:prstGeom>
          <a:solidFill>
            <a:srgbClr val="0F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2926079" y="5961888"/>
            <a:ext cx="2011679" cy="365760"/>
          </a:xfrm>
          <a:prstGeom prst="rect">
            <a:avLst/>
          </a:prstGeom>
          <a:noFill/>
        </p:spPr>
        <p:txBody>
          <a:bodyPr wrap="square">
            <a:spAutoFit/>
          </a:bodyPr>
          <a:lstStyle/>
          <a:p>
            <a:pPr algn="ctr"/>
            <a:r>
              <a:rPr sz="1300" b="0" i="0">
                <a:solidFill>
                  <a:srgbClr val="646464"/>
                </a:solidFill>
              </a:rPr>
              <a:t>9.12</a:t>
            </a:r>
          </a:p>
        </p:txBody>
      </p:sp>
      <p:sp>
        <p:nvSpPr>
          <p:cNvPr id="75" name="Rectangle 74"/>
          <p:cNvSpPr/>
          <p:nvPr/>
        </p:nvSpPr>
        <p:spPr>
          <a:xfrm>
            <a:off x="4983480" y="5897880"/>
            <a:ext cx="2103120" cy="475488"/>
          </a:xfrm>
          <a:prstGeom prst="rect">
            <a:avLst/>
          </a:prstGeom>
          <a:solidFill>
            <a:srgbClr val="0F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029200" y="5961888"/>
            <a:ext cx="2011679" cy="365760"/>
          </a:xfrm>
          <a:prstGeom prst="rect">
            <a:avLst/>
          </a:prstGeom>
          <a:noFill/>
        </p:spPr>
        <p:txBody>
          <a:bodyPr wrap="square">
            <a:spAutoFit/>
          </a:bodyPr>
          <a:lstStyle/>
          <a:p>
            <a:pPr algn="ctr"/>
            <a:r>
              <a:rPr sz="1300" b="0" i="0">
                <a:solidFill>
                  <a:srgbClr val="646464"/>
                </a:solidFill>
              </a:rPr>
              <a:t>79.1</a:t>
            </a:r>
          </a:p>
        </p:txBody>
      </p:sp>
      <p:sp>
        <p:nvSpPr>
          <p:cNvPr id="77" name="Rectangle 76"/>
          <p:cNvSpPr/>
          <p:nvPr/>
        </p:nvSpPr>
        <p:spPr>
          <a:xfrm>
            <a:off x="7086600" y="5897880"/>
            <a:ext cx="2103120" cy="475488"/>
          </a:xfrm>
          <a:prstGeom prst="rect">
            <a:avLst/>
          </a:prstGeom>
          <a:solidFill>
            <a:srgbClr val="0F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132320" y="5961888"/>
            <a:ext cx="2011679" cy="365760"/>
          </a:xfrm>
          <a:prstGeom prst="rect">
            <a:avLst/>
          </a:prstGeom>
          <a:noFill/>
        </p:spPr>
        <p:txBody>
          <a:bodyPr wrap="square">
            <a:spAutoFit/>
          </a:bodyPr>
          <a:lstStyle/>
          <a:p>
            <a:pPr algn="ctr"/>
            <a:r>
              <a:rPr sz="1300" b="0" i="0">
                <a:solidFill>
                  <a:srgbClr val="646464"/>
                </a:solidFill>
              </a:rPr>
              <a:t>76.3</a:t>
            </a:r>
          </a:p>
        </p:txBody>
      </p:sp>
      <p:sp>
        <p:nvSpPr>
          <p:cNvPr id="79" name="Rectangle 78"/>
          <p:cNvSpPr/>
          <p:nvPr/>
        </p:nvSpPr>
        <p:spPr>
          <a:xfrm>
            <a:off x="9326880" y="2926080"/>
            <a:ext cx="2560320" cy="3474720"/>
          </a:xfrm>
          <a:prstGeom prst="rect">
            <a:avLst/>
          </a:prstGeom>
          <a:solidFill>
            <a:srgbClr val="002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9326880" y="2926080"/>
            <a:ext cx="54864" cy="3474720"/>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418320" y="3017520"/>
            <a:ext cx="2377440" cy="457200"/>
          </a:xfrm>
          <a:prstGeom prst="rect">
            <a:avLst/>
          </a:prstGeom>
          <a:noFill/>
        </p:spPr>
        <p:txBody>
          <a:bodyPr wrap="square">
            <a:spAutoFit/>
          </a:bodyPr>
          <a:lstStyle/>
          <a:p>
            <a:pPr algn="l"/>
            <a:r>
              <a:rPr sz="1400" b="1" i="0">
                <a:solidFill>
                  <a:srgbClr val="39FF14"/>
                </a:solidFill>
              </a:rPr>
              <a:t>🏆 برتری MADDPG</a:t>
            </a:r>
          </a:p>
        </p:txBody>
      </p:sp>
      <p:sp>
        <p:nvSpPr>
          <p:cNvPr id="82" name="TextBox 81"/>
          <p:cNvSpPr txBox="1"/>
          <p:nvPr/>
        </p:nvSpPr>
        <p:spPr>
          <a:xfrm>
            <a:off x="9418320" y="3520440"/>
            <a:ext cx="2377440" cy="2743200"/>
          </a:xfrm>
          <a:prstGeom prst="rect">
            <a:avLst/>
          </a:prstGeom>
          <a:noFill/>
        </p:spPr>
        <p:txBody>
          <a:bodyPr wrap="square">
            <a:spAutoFit/>
          </a:bodyPr>
          <a:lstStyle/>
          <a:p>
            <a:pPr algn="l"/>
            <a:r>
              <a:rPr sz="2200" b="1" i="0">
                <a:solidFill>
                  <a:srgbClr val="39FF14"/>
                </a:solidFill>
              </a:rPr>
              <a:t>↓ 59%</a:t>
            </a:r>
          </a:p>
          <a:p>
            <a:pPr algn="l"/>
            <a:r>
              <a:rPr sz="1200" b="0" i="0">
                <a:solidFill>
                  <a:srgbClr val="C8D2E6"/>
                </a:solidFill>
              </a:rPr>
              <a:t>انرژی</a:t>
            </a:r>
          </a:p>
          <a:p>
            <a:pPr algn="l"/>
            <a:r>
              <a:rPr sz="800" b="0" i="0">
                <a:solidFill>
                  <a:srgbClr val="FFFFFF"/>
                </a:solidFill>
              </a:rPr>
              <a:t/>
            </a:r>
          </a:p>
          <a:p>
            <a:pPr algn="l"/>
            <a:r>
              <a:rPr sz="2200" b="1" i="0">
                <a:solidFill>
                  <a:srgbClr val="00E6D2"/>
                </a:solidFill>
              </a:rPr>
              <a:t>↓ 62%</a:t>
            </a:r>
          </a:p>
          <a:p>
            <a:pPr algn="l"/>
            <a:r>
              <a:rPr sz="1200" b="0" i="0">
                <a:solidFill>
                  <a:srgbClr val="C8D2E6"/>
                </a:solidFill>
              </a:rPr>
              <a:t>تأخیر</a:t>
            </a:r>
          </a:p>
          <a:p>
            <a:pPr algn="l"/>
            <a:r>
              <a:rPr sz="800" b="0" i="0">
                <a:solidFill>
                  <a:srgbClr val="FFFFFF"/>
                </a:solidFill>
              </a:rPr>
              <a:t/>
            </a:r>
          </a:p>
          <a:p>
            <a:pPr algn="l"/>
            <a:r>
              <a:rPr sz="2200" b="1" i="0">
                <a:solidFill>
                  <a:srgbClr val="FFD700"/>
                </a:solidFill>
              </a:rPr>
              <a:t>↑ 18%</a:t>
            </a:r>
          </a:p>
          <a:p>
            <a:pPr algn="l"/>
            <a:r>
              <a:rPr sz="1200" b="0" i="0">
                <a:solidFill>
                  <a:srgbClr val="C8D2E6"/>
                </a:solidFill>
              </a:rPr>
              <a:t>موفقیت</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45720"/>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188720"/>
          </a:xfrm>
          <a:prstGeom prst="rect">
            <a:avLst/>
          </a:prstGeom>
          <a:solidFill>
            <a:srgbClr val="00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9144000" cy="731520"/>
          </a:xfrm>
          <a:prstGeom prst="rect">
            <a:avLst/>
          </a:prstGeom>
          <a:noFill/>
        </p:spPr>
        <p:txBody>
          <a:bodyPr wrap="square">
            <a:spAutoFit/>
          </a:bodyPr>
          <a:lstStyle/>
          <a:p>
            <a:pPr algn="l"/>
            <a:r>
              <a:rPr sz="3000" b="1" i="0">
                <a:solidFill>
                  <a:srgbClr val="FFFFFF"/>
                </a:solidFill>
              </a:rPr>
              <a:t>🔬  مطالعه حذفی – Ablation Study</a:t>
            </a:r>
          </a:p>
        </p:txBody>
      </p:sp>
      <p:sp>
        <p:nvSpPr>
          <p:cNvPr id="6" name="TextBox 5"/>
          <p:cNvSpPr txBox="1"/>
          <p:nvPr/>
        </p:nvSpPr>
        <p:spPr>
          <a:xfrm>
            <a:off x="228600" y="749808"/>
            <a:ext cx="9144000" cy="365760"/>
          </a:xfrm>
          <a:prstGeom prst="rect">
            <a:avLst/>
          </a:prstGeom>
          <a:noFill/>
        </p:spPr>
        <p:txBody>
          <a:bodyPr wrap="square">
            <a:spAutoFit/>
          </a:bodyPr>
          <a:lstStyle/>
          <a:p>
            <a:pPr algn="l"/>
            <a:r>
              <a:rPr sz="1300" b="0" i="1">
                <a:solidFill>
                  <a:srgbClr val="00E6D2"/>
                </a:solidFill>
              </a:rPr>
              <a:t>اهمیت هر مؤلفه طراحی</a:t>
            </a:r>
          </a:p>
        </p:txBody>
      </p:sp>
      <p:sp>
        <p:nvSpPr>
          <p:cNvPr id="7" name="TextBox 6"/>
          <p:cNvSpPr txBox="1"/>
          <p:nvPr/>
        </p:nvSpPr>
        <p:spPr>
          <a:xfrm>
            <a:off x="320040" y="1371600"/>
            <a:ext cx="11521440" cy="548640"/>
          </a:xfrm>
          <a:prstGeom prst="rect">
            <a:avLst/>
          </a:prstGeom>
          <a:noFill/>
        </p:spPr>
        <p:txBody>
          <a:bodyPr wrap="square">
            <a:spAutoFit/>
          </a:bodyPr>
          <a:lstStyle/>
          <a:p>
            <a:pPr algn="l"/>
            <a:r>
              <a:rPr sz="1300" b="1" i="0">
                <a:solidFill>
                  <a:srgbClr val="FFD700"/>
                </a:solidFill>
              </a:rPr>
              <a:t>📌  یافته کلیدی: حذف GRU اثر منفی نداشت (مقیاس زمانی کوتاه = 100 timestep) | حذف CTDE فاجعه‌بار بود!</a:t>
            </a:r>
          </a:p>
        </p:txBody>
      </p:sp>
      <p:sp>
        <p:nvSpPr>
          <p:cNvPr id="8" name="Rectangle 7"/>
          <p:cNvSpPr/>
          <p:nvPr/>
        </p:nvSpPr>
        <p:spPr>
          <a:xfrm>
            <a:off x="320040" y="2011680"/>
            <a:ext cx="3200400" cy="457200"/>
          </a:xfrm>
          <a:prstGeom prst="rect">
            <a:avLst/>
          </a:prstGeom>
          <a:solidFill>
            <a:srgbClr val="00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59" y="2057400"/>
            <a:ext cx="3108960" cy="365760"/>
          </a:xfrm>
          <a:prstGeom prst="rect">
            <a:avLst/>
          </a:prstGeom>
          <a:noFill/>
        </p:spPr>
        <p:txBody>
          <a:bodyPr wrap="square">
            <a:spAutoFit/>
          </a:bodyPr>
          <a:lstStyle/>
          <a:p>
            <a:pPr algn="ctr"/>
            <a:r>
              <a:rPr sz="1300" b="1" i="0">
                <a:solidFill>
                  <a:srgbClr val="FFFFFF"/>
                </a:solidFill>
              </a:rPr>
              <a:t>واریانت</a:t>
            </a:r>
          </a:p>
        </p:txBody>
      </p:sp>
      <p:sp>
        <p:nvSpPr>
          <p:cNvPr id="10" name="Rectangle 9"/>
          <p:cNvSpPr/>
          <p:nvPr/>
        </p:nvSpPr>
        <p:spPr>
          <a:xfrm>
            <a:off x="3520440" y="2011680"/>
            <a:ext cx="2011680" cy="457200"/>
          </a:xfrm>
          <a:prstGeom prst="rect">
            <a:avLst/>
          </a:prstGeom>
          <a:solidFill>
            <a:srgbClr val="00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2057400"/>
            <a:ext cx="1920240" cy="365760"/>
          </a:xfrm>
          <a:prstGeom prst="rect">
            <a:avLst/>
          </a:prstGeom>
          <a:noFill/>
        </p:spPr>
        <p:txBody>
          <a:bodyPr wrap="square">
            <a:spAutoFit/>
          </a:bodyPr>
          <a:lstStyle/>
          <a:p>
            <a:pPr algn="ctr"/>
            <a:r>
              <a:rPr sz="1300" b="1" i="0">
                <a:solidFill>
                  <a:srgbClr val="FFFFFF"/>
                </a:solidFill>
              </a:rPr>
              <a:t>بهترین پاداش</a:t>
            </a:r>
          </a:p>
        </p:txBody>
      </p:sp>
      <p:sp>
        <p:nvSpPr>
          <p:cNvPr id="12" name="Rectangle 11"/>
          <p:cNvSpPr/>
          <p:nvPr/>
        </p:nvSpPr>
        <p:spPr>
          <a:xfrm>
            <a:off x="5532120" y="2011680"/>
            <a:ext cx="2286000" cy="457200"/>
          </a:xfrm>
          <a:prstGeom prst="rect">
            <a:avLst/>
          </a:prstGeom>
          <a:solidFill>
            <a:srgbClr val="00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77840" y="2057400"/>
            <a:ext cx="2194560" cy="365760"/>
          </a:xfrm>
          <a:prstGeom prst="rect">
            <a:avLst/>
          </a:prstGeom>
          <a:noFill/>
        </p:spPr>
        <p:txBody>
          <a:bodyPr wrap="square">
            <a:spAutoFit/>
          </a:bodyPr>
          <a:lstStyle/>
          <a:p>
            <a:pPr algn="ctr"/>
            <a:r>
              <a:rPr sz="1300" b="1" i="0">
                <a:solidFill>
                  <a:srgbClr val="FFFFFF"/>
                </a:solidFill>
              </a:rPr>
              <a:t>اپیزود همگرایی</a:t>
            </a:r>
          </a:p>
        </p:txBody>
      </p:sp>
      <p:sp>
        <p:nvSpPr>
          <p:cNvPr id="14" name="Rectangle 13"/>
          <p:cNvSpPr/>
          <p:nvPr/>
        </p:nvSpPr>
        <p:spPr>
          <a:xfrm>
            <a:off x="7818120" y="2011680"/>
            <a:ext cx="3474720" cy="457200"/>
          </a:xfrm>
          <a:prstGeom prst="rect">
            <a:avLst/>
          </a:prstGeom>
          <a:solidFill>
            <a:srgbClr val="003C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2057400"/>
            <a:ext cx="3383279" cy="365760"/>
          </a:xfrm>
          <a:prstGeom prst="rect">
            <a:avLst/>
          </a:prstGeom>
          <a:noFill/>
        </p:spPr>
        <p:txBody>
          <a:bodyPr wrap="square">
            <a:spAutoFit/>
          </a:bodyPr>
          <a:lstStyle/>
          <a:p>
            <a:pPr algn="ctr"/>
            <a:r>
              <a:rPr sz="1300" b="1" i="0">
                <a:solidFill>
                  <a:srgbClr val="FFFFFF"/>
                </a:solidFill>
              </a:rPr>
              <a:t>تفسیر</a:t>
            </a:r>
          </a:p>
        </p:txBody>
      </p:sp>
      <p:sp>
        <p:nvSpPr>
          <p:cNvPr id="16" name="Rectangle 15"/>
          <p:cNvSpPr/>
          <p:nvPr/>
        </p:nvSpPr>
        <p:spPr>
          <a:xfrm>
            <a:off x="320040" y="2468880"/>
            <a:ext cx="3200400" cy="6400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59" y="2578608"/>
            <a:ext cx="3108960" cy="457200"/>
          </a:xfrm>
          <a:prstGeom prst="rect">
            <a:avLst/>
          </a:prstGeom>
          <a:noFill/>
        </p:spPr>
        <p:txBody>
          <a:bodyPr wrap="square">
            <a:spAutoFit/>
          </a:bodyPr>
          <a:lstStyle/>
          <a:p>
            <a:pPr algn="ctr"/>
            <a:r>
              <a:rPr sz="1200" b="0" i="0">
                <a:solidFill>
                  <a:srgbClr val="FFFFFF"/>
                </a:solidFill>
              </a:rPr>
              <a:t>MADDPG کامل (Baseline)</a:t>
            </a:r>
          </a:p>
        </p:txBody>
      </p:sp>
      <p:sp>
        <p:nvSpPr>
          <p:cNvPr id="18" name="Rectangle 17"/>
          <p:cNvSpPr/>
          <p:nvPr/>
        </p:nvSpPr>
        <p:spPr>
          <a:xfrm>
            <a:off x="3520440" y="2468880"/>
            <a:ext cx="2011680" cy="6400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66160" y="2578608"/>
            <a:ext cx="1920240" cy="457200"/>
          </a:xfrm>
          <a:prstGeom prst="rect">
            <a:avLst/>
          </a:prstGeom>
          <a:noFill/>
        </p:spPr>
        <p:txBody>
          <a:bodyPr wrap="square">
            <a:spAutoFit/>
          </a:bodyPr>
          <a:lstStyle/>
          <a:p>
            <a:pPr algn="ctr"/>
            <a:r>
              <a:rPr sz="1200" b="1" i="0">
                <a:solidFill>
                  <a:srgbClr val="39FF14"/>
                </a:solidFill>
              </a:rPr>
              <a:t>+12.34</a:t>
            </a:r>
          </a:p>
        </p:txBody>
      </p:sp>
      <p:sp>
        <p:nvSpPr>
          <p:cNvPr id="20" name="Rectangle 19"/>
          <p:cNvSpPr/>
          <p:nvPr/>
        </p:nvSpPr>
        <p:spPr>
          <a:xfrm>
            <a:off x="5532120" y="2468880"/>
            <a:ext cx="2286000" cy="6400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77840" y="2578608"/>
            <a:ext cx="2194560" cy="457200"/>
          </a:xfrm>
          <a:prstGeom prst="rect">
            <a:avLst/>
          </a:prstGeom>
          <a:noFill/>
        </p:spPr>
        <p:txBody>
          <a:bodyPr wrap="square">
            <a:spAutoFit/>
          </a:bodyPr>
          <a:lstStyle/>
          <a:p>
            <a:pPr algn="ctr"/>
            <a:r>
              <a:rPr sz="1200" b="0" i="0">
                <a:solidFill>
                  <a:srgbClr val="FFFFFF"/>
                </a:solidFill>
              </a:rPr>
              <a:t>250</a:t>
            </a:r>
          </a:p>
        </p:txBody>
      </p:sp>
      <p:sp>
        <p:nvSpPr>
          <p:cNvPr id="22" name="Rectangle 21"/>
          <p:cNvSpPr/>
          <p:nvPr/>
        </p:nvSpPr>
        <p:spPr>
          <a:xfrm>
            <a:off x="7818120" y="2468880"/>
            <a:ext cx="3474720" cy="6400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0" y="2578608"/>
            <a:ext cx="3383279" cy="457200"/>
          </a:xfrm>
          <a:prstGeom prst="rect">
            <a:avLst/>
          </a:prstGeom>
          <a:noFill/>
        </p:spPr>
        <p:txBody>
          <a:bodyPr wrap="square">
            <a:spAutoFit/>
          </a:bodyPr>
          <a:lstStyle/>
          <a:p>
            <a:pPr algn="ctr"/>
            <a:r>
              <a:rPr sz="1200" b="0" i="0">
                <a:solidFill>
                  <a:srgbClr val="39FF14"/>
                </a:solidFill>
              </a:rPr>
              <a:t>بهترین عملکرد</a:t>
            </a:r>
          </a:p>
        </p:txBody>
      </p:sp>
      <p:sp>
        <p:nvSpPr>
          <p:cNvPr id="24" name="Rectangle 23"/>
          <p:cNvSpPr/>
          <p:nvPr/>
        </p:nvSpPr>
        <p:spPr>
          <a:xfrm>
            <a:off x="320040" y="3136392"/>
            <a:ext cx="3200400" cy="640080"/>
          </a:xfrm>
          <a:prstGeom prst="rect">
            <a:avLst/>
          </a:prstGeom>
          <a:solidFill>
            <a:srgbClr val="0F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59" y="3246120"/>
            <a:ext cx="3108960" cy="457200"/>
          </a:xfrm>
          <a:prstGeom prst="rect">
            <a:avLst/>
          </a:prstGeom>
          <a:noFill/>
        </p:spPr>
        <p:txBody>
          <a:bodyPr wrap="square">
            <a:spAutoFit/>
          </a:bodyPr>
          <a:lstStyle/>
          <a:p>
            <a:pPr algn="ctr"/>
            <a:r>
              <a:rPr sz="1200" b="0" i="0">
                <a:solidFill>
                  <a:srgbClr val="FFFFFF"/>
                </a:solidFill>
              </a:rPr>
              <a:t>بدون آگاهی انرژی</a:t>
            </a:r>
          </a:p>
        </p:txBody>
      </p:sp>
      <p:sp>
        <p:nvSpPr>
          <p:cNvPr id="26" name="Rectangle 25"/>
          <p:cNvSpPr/>
          <p:nvPr/>
        </p:nvSpPr>
        <p:spPr>
          <a:xfrm>
            <a:off x="3520440" y="3136392"/>
            <a:ext cx="2011680" cy="640080"/>
          </a:xfrm>
          <a:prstGeom prst="rect">
            <a:avLst/>
          </a:prstGeom>
          <a:solidFill>
            <a:srgbClr val="0F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66160" y="3246120"/>
            <a:ext cx="1920240" cy="457200"/>
          </a:xfrm>
          <a:prstGeom prst="rect">
            <a:avLst/>
          </a:prstGeom>
          <a:noFill/>
        </p:spPr>
        <p:txBody>
          <a:bodyPr wrap="square">
            <a:spAutoFit/>
          </a:bodyPr>
          <a:lstStyle/>
          <a:p>
            <a:pPr algn="ctr"/>
            <a:r>
              <a:rPr sz="1200" b="1" i="0">
                <a:solidFill>
                  <a:srgbClr val="00E6D2"/>
                </a:solidFill>
              </a:rPr>
              <a:t>+8.21</a:t>
            </a:r>
          </a:p>
        </p:txBody>
      </p:sp>
      <p:sp>
        <p:nvSpPr>
          <p:cNvPr id="28" name="Rectangle 27"/>
          <p:cNvSpPr/>
          <p:nvPr/>
        </p:nvSpPr>
        <p:spPr>
          <a:xfrm>
            <a:off x="5532120" y="3136392"/>
            <a:ext cx="2286000" cy="640080"/>
          </a:xfrm>
          <a:prstGeom prst="rect">
            <a:avLst/>
          </a:prstGeom>
          <a:solidFill>
            <a:srgbClr val="0F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577840" y="3246120"/>
            <a:ext cx="2194560" cy="457200"/>
          </a:xfrm>
          <a:prstGeom prst="rect">
            <a:avLst/>
          </a:prstGeom>
          <a:noFill/>
        </p:spPr>
        <p:txBody>
          <a:bodyPr wrap="square">
            <a:spAutoFit/>
          </a:bodyPr>
          <a:lstStyle/>
          <a:p>
            <a:pPr algn="ctr"/>
            <a:r>
              <a:rPr sz="1200" b="0" i="0">
                <a:solidFill>
                  <a:srgbClr val="FFFFFF"/>
                </a:solidFill>
              </a:rPr>
              <a:t>380</a:t>
            </a:r>
          </a:p>
        </p:txBody>
      </p:sp>
      <p:sp>
        <p:nvSpPr>
          <p:cNvPr id="30" name="Rectangle 29"/>
          <p:cNvSpPr/>
          <p:nvPr/>
        </p:nvSpPr>
        <p:spPr>
          <a:xfrm>
            <a:off x="7818120" y="3136392"/>
            <a:ext cx="3474720" cy="640080"/>
          </a:xfrm>
          <a:prstGeom prst="rect">
            <a:avLst/>
          </a:prstGeom>
          <a:solidFill>
            <a:srgbClr val="0F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0" y="3246120"/>
            <a:ext cx="3383279" cy="457200"/>
          </a:xfrm>
          <a:prstGeom prst="rect">
            <a:avLst/>
          </a:prstGeom>
          <a:noFill/>
        </p:spPr>
        <p:txBody>
          <a:bodyPr wrap="square">
            <a:spAutoFit/>
          </a:bodyPr>
          <a:lstStyle/>
          <a:p>
            <a:pPr algn="ctr"/>
            <a:r>
              <a:rPr sz="1200" b="0" i="0">
                <a:solidFill>
                  <a:srgbClr val="00E6D2"/>
                </a:solidFill>
              </a:rPr>
              <a:t>افت متوسط</a:t>
            </a:r>
          </a:p>
        </p:txBody>
      </p:sp>
      <p:sp>
        <p:nvSpPr>
          <p:cNvPr id="32" name="Rectangle 31"/>
          <p:cNvSpPr/>
          <p:nvPr/>
        </p:nvSpPr>
        <p:spPr>
          <a:xfrm>
            <a:off x="320040" y="3803904"/>
            <a:ext cx="3200400" cy="6400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59" y="3913632"/>
            <a:ext cx="3108960" cy="457200"/>
          </a:xfrm>
          <a:prstGeom prst="rect">
            <a:avLst/>
          </a:prstGeom>
          <a:noFill/>
        </p:spPr>
        <p:txBody>
          <a:bodyPr wrap="square">
            <a:spAutoFit/>
          </a:bodyPr>
          <a:lstStyle/>
          <a:p>
            <a:pPr algn="ctr"/>
            <a:r>
              <a:rPr sz="1200" b="0" i="0">
                <a:solidFill>
                  <a:srgbClr val="FFFFFF"/>
                </a:solidFill>
              </a:rPr>
              <a:t>بدون اطلاعات DAG</a:t>
            </a:r>
          </a:p>
        </p:txBody>
      </p:sp>
      <p:sp>
        <p:nvSpPr>
          <p:cNvPr id="34" name="Rectangle 33"/>
          <p:cNvSpPr/>
          <p:nvPr/>
        </p:nvSpPr>
        <p:spPr>
          <a:xfrm>
            <a:off x="3520440" y="3803904"/>
            <a:ext cx="2011680" cy="6400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66160" y="3913632"/>
            <a:ext cx="1920240" cy="457200"/>
          </a:xfrm>
          <a:prstGeom prst="rect">
            <a:avLst/>
          </a:prstGeom>
          <a:noFill/>
        </p:spPr>
        <p:txBody>
          <a:bodyPr wrap="square">
            <a:spAutoFit/>
          </a:bodyPr>
          <a:lstStyle/>
          <a:p>
            <a:pPr algn="ctr"/>
            <a:r>
              <a:rPr sz="1200" b="1" i="0">
                <a:solidFill>
                  <a:srgbClr val="FF8C00"/>
                </a:solidFill>
              </a:rPr>
              <a:t>+5.67</a:t>
            </a:r>
          </a:p>
        </p:txBody>
      </p:sp>
      <p:sp>
        <p:nvSpPr>
          <p:cNvPr id="36" name="Rectangle 35"/>
          <p:cNvSpPr/>
          <p:nvPr/>
        </p:nvSpPr>
        <p:spPr>
          <a:xfrm>
            <a:off x="5532120" y="3803904"/>
            <a:ext cx="2286000" cy="6400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77840" y="3913632"/>
            <a:ext cx="2194560" cy="457200"/>
          </a:xfrm>
          <a:prstGeom prst="rect">
            <a:avLst/>
          </a:prstGeom>
          <a:noFill/>
        </p:spPr>
        <p:txBody>
          <a:bodyPr wrap="square">
            <a:spAutoFit/>
          </a:bodyPr>
          <a:lstStyle/>
          <a:p>
            <a:pPr algn="ctr"/>
            <a:r>
              <a:rPr sz="1200" b="0" i="0">
                <a:solidFill>
                  <a:srgbClr val="FFFFFF"/>
                </a:solidFill>
              </a:rPr>
              <a:t>520</a:t>
            </a:r>
          </a:p>
        </p:txBody>
      </p:sp>
      <p:sp>
        <p:nvSpPr>
          <p:cNvPr id="38" name="Rectangle 37"/>
          <p:cNvSpPr/>
          <p:nvPr/>
        </p:nvSpPr>
        <p:spPr>
          <a:xfrm>
            <a:off x="7818120" y="3803904"/>
            <a:ext cx="3474720" cy="6400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0" y="3913632"/>
            <a:ext cx="3383279" cy="457200"/>
          </a:xfrm>
          <a:prstGeom prst="rect">
            <a:avLst/>
          </a:prstGeom>
          <a:noFill/>
        </p:spPr>
        <p:txBody>
          <a:bodyPr wrap="square">
            <a:spAutoFit/>
          </a:bodyPr>
          <a:lstStyle/>
          <a:p>
            <a:pPr algn="ctr"/>
            <a:r>
              <a:rPr sz="1200" b="0" i="0">
                <a:solidFill>
                  <a:srgbClr val="FF8C00"/>
                </a:solidFill>
              </a:rPr>
              <a:t>افت قابل توجه</a:t>
            </a:r>
          </a:p>
        </p:txBody>
      </p:sp>
      <p:sp>
        <p:nvSpPr>
          <p:cNvPr id="40" name="Rectangle 39"/>
          <p:cNvSpPr/>
          <p:nvPr/>
        </p:nvSpPr>
        <p:spPr>
          <a:xfrm>
            <a:off x="320040" y="4471416"/>
            <a:ext cx="3200400" cy="640080"/>
          </a:xfrm>
          <a:prstGeom prst="rect">
            <a:avLst/>
          </a:prstGeom>
          <a:solidFill>
            <a:srgbClr val="0F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59" y="4581144"/>
            <a:ext cx="3108960" cy="457200"/>
          </a:xfrm>
          <a:prstGeom prst="rect">
            <a:avLst/>
          </a:prstGeom>
          <a:noFill/>
        </p:spPr>
        <p:txBody>
          <a:bodyPr wrap="square">
            <a:spAutoFit/>
          </a:bodyPr>
          <a:lstStyle/>
          <a:p>
            <a:pPr algn="ctr"/>
            <a:r>
              <a:rPr sz="1200" b="0" i="0">
                <a:solidFill>
                  <a:srgbClr val="FFFFFF"/>
                </a:solidFill>
              </a:rPr>
              <a:t>بدون GRU (No Temporal)</a:t>
            </a:r>
          </a:p>
        </p:txBody>
      </p:sp>
      <p:sp>
        <p:nvSpPr>
          <p:cNvPr id="42" name="Rectangle 41"/>
          <p:cNvSpPr/>
          <p:nvPr/>
        </p:nvSpPr>
        <p:spPr>
          <a:xfrm>
            <a:off x="3520440" y="4471416"/>
            <a:ext cx="2011680" cy="640080"/>
          </a:xfrm>
          <a:prstGeom prst="rect">
            <a:avLst/>
          </a:prstGeom>
          <a:solidFill>
            <a:srgbClr val="0F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566160" y="4581144"/>
            <a:ext cx="1920240" cy="457200"/>
          </a:xfrm>
          <a:prstGeom prst="rect">
            <a:avLst/>
          </a:prstGeom>
          <a:noFill/>
        </p:spPr>
        <p:txBody>
          <a:bodyPr wrap="square">
            <a:spAutoFit/>
          </a:bodyPr>
          <a:lstStyle/>
          <a:p>
            <a:pPr algn="ctr"/>
            <a:r>
              <a:rPr sz="1200" b="1" i="0">
                <a:solidFill>
                  <a:srgbClr val="FFD700"/>
                </a:solidFill>
              </a:rPr>
              <a:t>+11.98</a:t>
            </a:r>
          </a:p>
        </p:txBody>
      </p:sp>
      <p:sp>
        <p:nvSpPr>
          <p:cNvPr id="44" name="Rectangle 43"/>
          <p:cNvSpPr/>
          <p:nvPr/>
        </p:nvSpPr>
        <p:spPr>
          <a:xfrm>
            <a:off x="5532120" y="4471416"/>
            <a:ext cx="2286000" cy="640080"/>
          </a:xfrm>
          <a:prstGeom prst="rect">
            <a:avLst/>
          </a:prstGeom>
          <a:solidFill>
            <a:srgbClr val="0F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577840" y="4581144"/>
            <a:ext cx="2194560" cy="457200"/>
          </a:xfrm>
          <a:prstGeom prst="rect">
            <a:avLst/>
          </a:prstGeom>
          <a:noFill/>
        </p:spPr>
        <p:txBody>
          <a:bodyPr wrap="square">
            <a:spAutoFit/>
          </a:bodyPr>
          <a:lstStyle/>
          <a:p>
            <a:pPr algn="ctr"/>
            <a:r>
              <a:rPr sz="1200" b="0" i="0">
                <a:solidFill>
                  <a:srgbClr val="FFFFFF"/>
                </a:solidFill>
              </a:rPr>
              <a:t>240</a:t>
            </a:r>
          </a:p>
        </p:txBody>
      </p:sp>
      <p:sp>
        <p:nvSpPr>
          <p:cNvPr id="46" name="Rectangle 45"/>
          <p:cNvSpPr/>
          <p:nvPr/>
        </p:nvSpPr>
        <p:spPr>
          <a:xfrm>
            <a:off x="7818120" y="4471416"/>
            <a:ext cx="3474720" cy="640080"/>
          </a:xfrm>
          <a:prstGeom prst="rect">
            <a:avLst/>
          </a:prstGeom>
          <a:solidFill>
            <a:srgbClr val="0F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863840" y="4581144"/>
            <a:ext cx="3383279" cy="457200"/>
          </a:xfrm>
          <a:prstGeom prst="rect">
            <a:avLst/>
          </a:prstGeom>
          <a:noFill/>
        </p:spPr>
        <p:txBody>
          <a:bodyPr wrap="square">
            <a:spAutoFit/>
          </a:bodyPr>
          <a:lstStyle/>
          <a:p>
            <a:pPr algn="ctr"/>
            <a:r>
              <a:rPr sz="1200" b="0" i="0">
                <a:solidFill>
                  <a:srgbClr val="FFD700"/>
                </a:solidFill>
              </a:rPr>
              <a:t>تقریباً مشابه!</a:t>
            </a:r>
          </a:p>
        </p:txBody>
      </p:sp>
      <p:sp>
        <p:nvSpPr>
          <p:cNvPr id="48" name="Rectangle 47"/>
          <p:cNvSpPr/>
          <p:nvPr/>
        </p:nvSpPr>
        <p:spPr>
          <a:xfrm>
            <a:off x="320040" y="5138928"/>
            <a:ext cx="3200400" cy="6400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5759" y="5248656"/>
            <a:ext cx="3108960" cy="457200"/>
          </a:xfrm>
          <a:prstGeom prst="rect">
            <a:avLst/>
          </a:prstGeom>
          <a:noFill/>
        </p:spPr>
        <p:txBody>
          <a:bodyPr wrap="square">
            <a:spAutoFit/>
          </a:bodyPr>
          <a:lstStyle/>
          <a:p>
            <a:pPr algn="ctr"/>
            <a:r>
              <a:rPr sz="1200" b="0" i="0">
                <a:solidFill>
                  <a:srgbClr val="FFFFFF"/>
                </a:solidFill>
              </a:rPr>
              <a:t>Decentralized (بدون CTDE)</a:t>
            </a:r>
          </a:p>
        </p:txBody>
      </p:sp>
      <p:sp>
        <p:nvSpPr>
          <p:cNvPr id="50" name="Rectangle 49"/>
          <p:cNvSpPr/>
          <p:nvPr/>
        </p:nvSpPr>
        <p:spPr>
          <a:xfrm>
            <a:off x="3520440" y="5138928"/>
            <a:ext cx="2011680" cy="6400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566160" y="5248656"/>
            <a:ext cx="1920240" cy="457200"/>
          </a:xfrm>
          <a:prstGeom prst="rect">
            <a:avLst/>
          </a:prstGeom>
          <a:noFill/>
        </p:spPr>
        <p:txBody>
          <a:bodyPr wrap="square">
            <a:spAutoFit/>
          </a:bodyPr>
          <a:lstStyle/>
          <a:p>
            <a:pPr algn="ctr"/>
            <a:r>
              <a:rPr sz="1200" b="1" i="0">
                <a:solidFill>
                  <a:srgbClr val="DC3232"/>
                </a:solidFill>
              </a:rPr>
              <a:t>-85.81</a:t>
            </a:r>
          </a:p>
        </p:txBody>
      </p:sp>
      <p:sp>
        <p:nvSpPr>
          <p:cNvPr id="52" name="Rectangle 51"/>
          <p:cNvSpPr/>
          <p:nvPr/>
        </p:nvSpPr>
        <p:spPr>
          <a:xfrm>
            <a:off x="5532120" y="5138928"/>
            <a:ext cx="2286000" cy="6400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577840" y="5248656"/>
            <a:ext cx="2194560" cy="457200"/>
          </a:xfrm>
          <a:prstGeom prst="rect">
            <a:avLst/>
          </a:prstGeom>
          <a:noFill/>
        </p:spPr>
        <p:txBody>
          <a:bodyPr wrap="square">
            <a:spAutoFit/>
          </a:bodyPr>
          <a:lstStyle/>
          <a:p>
            <a:pPr algn="ctr"/>
            <a:r>
              <a:rPr sz="1200" b="0" i="0">
                <a:solidFill>
                  <a:srgbClr val="FFFFFF"/>
                </a:solidFill>
              </a:rPr>
              <a:t>1000+</a:t>
            </a:r>
          </a:p>
        </p:txBody>
      </p:sp>
      <p:sp>
        <p:nvSpPr>
          <p:cNvPr id="54" name="Rectangle 53"/>
          <p:cNvSpPr/>
          <p:nvPr/>
        </p:nvSpPr>
        <p:spPr>
          <a:xfrm>
            <a:off x="7818120" y="5138928"/>
            <a:ext cx="3474720" cy="6400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863840" y="5248656"/>
            <a:ext cx="3383279" cy="457200"/>
          </a:xfrm>
          <a:prstGeom prst="rect">
            <a:avLst/>
          </a:prstGeom>
          <a:noFill/>
        </p:spPr>
        <p:txBody>
          <a:bodyPr wrap="square">
            <a:spAutoFit/>
          </a:bodyPr>
          <a:lstStyle/>
          <a:p>
            <a:pPr algn="ctr"/>
            <a:r>
              <a:rPr sz="1200" b="0" i="0">
                <a:solidFill>
                  <a:srgbClr val="DC3232"/>
                </a:solidFill>
              </a:rPr>
              <a:t>افت شدید ۷۹۶٪</a:t>
            </a:r>
          </a:p>
        </p:txBody>
      </p:sp>
      <p:sp>
        <p:nvSpPr>
          <p:cNvPr id="56" name="Rectangle 55"/>
          <p:cNvSpPr/>
          <p:nvPr/>
        </p:nvSpPr>
        <p:spPr>
          <a:xfrm>
            <a:off x="320040" y="5806440"/>
            <a:ext cx="3200400" cy="640080"/>
          </a:xfrm>
          <a:prstGeom prst="rect">
            <a:avLst/>
          </a:prstGeom>
          <a:solidFill>
            <a:srgbClr val="0F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65759" y="5916168"/>
            <a:ext cx="3108960" cy="457200"/>
          </a:xfrm>
          <a:prstGeom prst="rect">
            <a:avLst/>
          </a:prstGeom>
          <a:noFill/>
        </p:spPr>
        <p:txBody>
          <a:bodyPr wrap="square">
            <a:spAutoFit/>
          </a:bodyPr>
          <a:lstStyle/>
          <a:p>
            <a:pPr algn="ctr"/>
            <a:r>
              <a:rPr sz="1200" b="0" i="0">
                <a:solidFill>
                  <a:srgbClr val="FFFFFF"/>
                </a:solidFill>
              </a:rPr>
              <a:t>معماری ساده‌شده</a:t>
            </a:r>
          </a:p>
        </p:txBody>
      </p:sp>
      <p:sp>
        <p:nvSpPr>
          <p:cNvPr id="58" name="Rectangle 57"/>
          <p:cNvSpPr/>
          <p:nvPr/>
        </p:nvSpPr>
        <p:spPr>
          <a:xfrm>
            <a:off x="3520440" y="5806440"/>
            <a:ext cx="2011680" cy="640080"/>
          </a:xfrm>
          <a:prstGeom prst="rect">
            <a:avLst/>
          </a:prstGeom>
          <a:solidFill>
            <a:srgbClr val="0F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566160" y="5916168"/>
            <a:ext cx="1920240" cy="457200"/>
          </a:xfrm>
          <a:prstGeom prst="rect">
            <a:avLst/>
          </a:prstGeom>
          <a:noFill/>
        </p:spPr>
        <p:txBody>
          <a:bodyPr wrap="square">
            <a:spAutoFit/>
          </a:bodyPr>
          <a:lstStyle/>
          <a:p>
            <a:pPr algn="ctr"/>
            <a:r>
              <a:rPr sz="1200" b="1" i="0">
                <a:solidFill>
                  <a:srgbClr val="B41E1E"/>
                </a:solidFill>
              </a:rPr>
              <a:t>-82.69</a:t>
            </a:r>
          </a:p>
        </p:txBody>
      </p:sp>
      <p:sp>
        <p:nvSpPr>
          <p:cNvPr id="60" name="Rectangle 59"/>
          <p:cNvSpPr/>
          <p:nvPr/>
        </p:nvSpPr>
        <p:spPr>
          <a:xfrm>
            <a:off x="5532120" y="5806440"/>
            <a:ext cx="2286000" cy="640080"/>
          </a:xfrm>
          <a:prstGeom prst="rect">
            <a:avLst/>
          </a:prstGeom>
          <a:solidFill>
            <a:srgbClr val="0F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577840" y="5916168"/>
            <a:ext cx="2194560" cy="457200"/>
          </a:xfrm>
          <a:prstGeom prst="rect">
            <a:avLst/>
          </a:prstGeom>
          <a:noFill/>
        </p:spPr>
        <p:txBody>
          <a:bodyPr wrap="square">
            <a:spAutoFit/>
          </a:bodyPr>
          <a:lstStyle/>
          <a:p>
            <a:pPr algn="ctr"/>
            <a:r>
              <a:rPr sz="1200" b="0" i="0">
                <a:solidFill>
                  <a:srgbClr val="FFFFFF"/>
                </a:solidFill>
              </a:rPr>
              <a:t>1000+</a:t>
            </a:r>
          </a:p>
        </p:txBody>
      </p:sp>
      <p:sp>
        <p:nvSpPr>
          <p:cNvPr id="62" name="Rectangle 61"/>
          <p:cNvSpPr/>
          <p:nvPr/>
        </p:nvSpPr>
        <p:spPr>
          <a:xfrm>
            <a:off x="7818120" y="5806440"/>
            <a:ext cx="3474720" cy="640080"/>
          </a:xfrm>
          <a:prstGeom prst="rect">
            <a:avLst/>
          </a:prstGeom>
          <a:solidFill>
            <a:srgbClr val="0F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863840" y="5916168"/>
            <a:ext cx="3383279" cy="457200"/>
          </a:xfrm>
          <a:prstGeom prst="rect">
            <a:avLst/>
          </a:prstGeom>
          <a:noFill/>
        </p:spPr>
        <p:txBody>
          <a:bodyPr wrap="square">
            <a:spAutoFit/>
          </a:bodyPr>
          <a:lstStyle/>
          <a:p>
            <a:pPr algn="ctr"/>
            <a:r>
              <a:rPr sz="1200" b="0" i="0">
                <a:solidFill>
                  <a:srgbClr val="B41E1E"/>
                </a:solidFill>
              </a:rPr>
              <a:t>افت شدید ۷۷۰٪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45720"/>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188720"/>
          </a:xfrm>
          <a:prstGeom prst="rect">
            <a:avLst/>
          </a:prstGeom>
          <a:solidFill>
            <a:srgbClr val="00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9144000" cy="731520"/>
          </a:xfrm>
          <a:prstGeom prst="rect">
            <a:avLst/>
          </a:prstGeom>
          <a:noFill/>
        </p:spPr>
        <p:txBody>
          <a:bodyPr wrap="square">
            <a:spAutoFit/>
          </a:bodyPr>
          <a:lstStyle/>
          <a:p>
            <a:pPr algn="l"/>
            <a:r>
              <a:rPr sz="3000" b="1" i="0">
                <a:solidFill>
                  <a:srgbClr val="FFFFFF"/>
                </a:solidFill>
              </a:rPr>
              <a:t>🌍  تحلیل پیچیدگی محیط</a:t>
            </a:r>
          </a:p>
        </p:txBody>
      </p:sp>
      <p:sp>
        <p:nvSpPr>
          <p:cNvPr id="6" name="TextBox 5"/>
          <p:cNvSpPr txBox="1"/>
          <p:nvPr/>
        </p:nvSpPr>
        <p:spPr>
          <a:xfrm>
            <a:off x="228600" y="749808"/>
            <a:ext cx="9144000" cy="365760"/>
          </a:xfrm>
          <a:prstGeom prst="rect">
            <a:avLst/>
          </a:prstGeom>
          <a:noFill/>
        </p:spPr>
        <p:txBody>
          <a:bodyPr wrap="square">
            <a:spAutoFit/>
          </a:bodyPr>
          <a:lstStyle/>
          <a:p>
            <a:pPr algn="l"/>
            <a:r>
              <a:rPr sz="1300" b="0" i="1">
                <a:solidFill>
                  <a:srgbClr val="00E6D2"/>
                </a:solidFill>
              </a:rPr>
              <a:t>عملکرد در سناریوهای Easy / Medium / Complex</a:t>
            </a:r>
          </a:p>
        </p:txBody>
      </p:sp>
      <p:sp>
        <p:nvSpPr>
          <p:cNvPr id="7" name="Rectangle 6"/>
          <p:cNvSpPr/>
          <p:nvPr/>
        </p:nvSpPr>
        <p:spPr>
          <a:xfrm>
            <a:off x="320040" y="1371600"/>
            <a:ext cx="3749039" cy="512064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371600"/>
            <a:ext cx="3749039" cy="91440"/>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08760"/>
            <a:ext cx="3474720" cy="548640"/>
          </a:xfrm>
          <a:prstGeom prst="rect">
            <a:avLst/>
          </a:prstGeom>
          <a:noFill/>
        </p:spPr>
        <p:txBody>
          <a:bodyPr wrap="square">
            <a:spAutoFit/>
          </a:bodyPr>
          <a:lstStyle/>
          <a:p>
            <a:pPr algn="l"/>
            <a:r>
              <a:rPr sz="2200" b="1" i="0">
                <a:solidFill>
                  <a:srgbClr val="39FF14"/>
                </a:solidFill>
              </a:rPr>
              <a:t>🟢 Easy</a:t>
            </a:r>
          </a:p>
        </p:txBody>
      </p:sp>
      <p:sp>
        <p:nvSpPr>
          <p:cNvPr id="10" name="TextBox 9"/>
          <p:cNvSpPr txBox="1"/>
          <p:nvPr/>
        </p:nvSpPr>
        <p:spPr>
          <a:xfrm>
            <a:off x="457200" y="2011680"/>
            <a:ext cx="3474720" cy="365760"/>
          </a:xfrm>
          <a:prstGeom prst="rect">
            <a:avLst/>
          </a:prstGeom>
          <a:noFill/>
        </p:spPr>
        <p:txBody>
          <a:bodyPr wrap="square">
            <a:spAutoFit/>
          </a:bodyPr>
          <a:lstStyle/>
          <a:p>
            <a:pPr algn="l"/>
            <a:r>
              <a:rPr sz="1400" b="0" i="0">
                <a:solidFill>
                  <a:srgbClr val="C8D2E6"/>
                </a:solidFill>
              </a:rPr>
              <a:t>0 مانع</a:t>
            </a:r>
          </a:p>
        </p:txBody>
      </p:sp>
      <p:sp>
        <p:nvSpPr>
          <p:cNvPr id="11" name="Rectangle 10"/>
          <p:cNvSpPr/>
          <p:nvPr/>
        </p:nvSpPr>
        <p:spPr>
          <a:xfrm>
            <a:off x="457200" y="2651760"/>
            <a:ext cx="3474720" cy="1005840"/>
          </a:xfrm>
          <a:prstGeom prst="rect">
            <a:avLst/>
          </a:prstGeom>
          <a:solidFill>
            <a:srgbClr val="142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697479"/>
            <a:ext cx="1371600" cy="365760"/>
          </a:xfrm>
          <a:prstGeom prst="rect">
            <a:avLst/>
          </a:prstGeom>
          <a:noFill/>
        </p:spPr>
        <p:txBody>
          <a:bodyPr wrap="square">
            <a:spAutoFit/>
          </a:bodyPr>
          <a:lstStyle/>
          <a:p>
            <a:pPr algn="l"/>
            <a:r>
              <a:rPr sz="1300" b="0" i="0">
                <a:solidFill>
                  <a:srgbClr val="788CAA"/>
                </a:solidFill>
              </a:rPr>
              <a:t>⚡ انرژی</a:t>
            </a:r>
          </a:p>
        </p:txBody>
      </p:sp>
      <p:sp>
        <p:nvSpPr>
          <p:cNvPr id="13" name="TextBox 12"/>
          <p:cNvSpPr txBox="1"/>
          <p:nvPr/>
        </p:nvSpPr>
        <p:spPr>
          <a:xfrm>
            <a:off x="548640" y="3063240"/>
            <a:ext cx="3108960" cy="457200"/>
          </a:xfrm>
          <a:prstGeom prst="rect">
            <a:avLst/>
          </a:prstGeom>
          <a:noFill/>
        </p:spPr>
        <p:txBody>
          <a:bodyPr wrap="square">
            <a:spAutoFit/>
          </a:bodyPr>
          <a:lstStyle/>
          <a:p>
            <a:pPr algn="l"/>
            <a:r>
              <a:rPr sz="2400" b="1" i="0">
                <a:solidFill>
                  <a:srgbClr val="39FF14"/>
                </a:solidFill>
              </a:rPr>
              <a:t>3.21 mJ</a:t>
            </a:r>
          </a:p>
        </p:txBody>
      </p:sp>
      <p:sp>
        <p:nvSpPr>
          <p:cNvPr id="14" name="Rectangle 13"/>
          <p:cNvSpPr/>
          <p:nvPr/>
        </p:nvSpPr>
        <p:spPr>
          <a:xfrm>
            <a:off x="457200" y="3840480"/>
            <a:ext cx="3474720" cy="1005840"/>
          </a:xfrm>
          <a:prstGeom prst="rect">
            <a:avLst/>
          </a:prstGeom>
          <a:solidFill>
            <a:srgbClr val="142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886200"/>
            <a:ext cx="1371600" cy="365760"/>
          </a:xfrm>
          <a:prstGeom prst="rect">
            <a:avLst/>
          </a:prstGeom>
          <a:noFill/>
        </p:spPr>
        <p:txBody>
          <a:bodyPr wrap="square">
            <a:spAutoFit/>
          </a:bodyPr>
          <a:lstStyle/>
          <a:p>
            <a:pPr algn="l"/>
            <a:r>
              <a:rPr sz="1300" b="0" i="0">
                <a:solidFill>
                  <a:srgbClr val="788CAA"/>
                </a:solidFill>
              </a:rPr>
              <a:t>⏱️ تأخیر</a:t>
            </a:r>
          </a:p>
        </p:txBody>
      </p:sp>
      <p:sp>
        <p:nvSpPr>
          <p:cNvPr id="16" name="TextBox 15"/>
          <p:cNvSpPr txBox="1"/>
          <p:nvPr/>
        </p:nvSpPr>
        <p:spPr>
          <a:xfrm>
            <a:off x="548640" y="4251960"/>
            <a:ext cx="3108960" cy="457200"/>
          </a:xfrm>
          <a:prstGeom prst="rect">
            <a:avLst/>
          </a:prstGeom>
          <a:noFill/>
        </p:spPr>
        <p:txBody>
          <a:bodyPr wrap="square">
            <a:spAutoFit/>
          </a:bodyPr>
          <a:lstStyle/>
          <a:p>
            <a:pPr algn="l"/>
            <a:r>
              <a:rPr sz="2400" b="1" i="0">
                <a:solidFill>
                  <a:srgbClr val="00A2FF"/>
                </a:solidFill>
              </a:rPr>
              <a:t>42.1 ms</a:t>
            </a:r>
          </a:p>
        </p:txBody>
      </p:sp>
      <p:sp>
        <p:nvSpPr>
          <p:cNvPr id="17" name="Rectangle 16"/>
          <p:cNvSpPr/>
          <p:nvPr/>
        </p:nvSpPr>
        <p:spPr>
          <a:xfrm>
            <a:off x="457200" y="5029200"/>
            <a:ext cx="3474720" cy="1005840"/>
          </a:xfrm>
          <a:prstGeom prst="rect">
            <a:avLst/>
          </a:prstGeom>
          <a:solidFill>
            <a:srgbClr val="142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074920"/>
            <a:ext cx="1371600" cy="365760"/>
          </a:xfrm>
          <a:prstGeom prst="rect">
            <a:avLst/>
          </a:prstGeom>
          <a:noFill/>
        </p:spPr>
        <p:txBody>
          <a:bodyPr wrap="square">
            <a:spAutoFit/>
          </a:bodyPr>
          <a:lstStyle/>
          <a:p>
            <a:pPr algn="l"/>
            <a:r>
              <a:rPr sz="1300" b="0" i="0">
                <a:solidFill>
                  <a:srgbClr val="788CAA"/>
                </a:solidFill>
              </a:rPr>
              <a:t>✅ موفقیت</a:t>
            </a:r>
          </a:p>
        </p:txBody>
      </p:sp>
      <p:sp>
        <p:nvSpPr>
          <p:cNvPr id="19" name="TextBox 18"/>
          <p:cNvSpPr txBox="1"/>
          <p:nvPr/>
        </p:nvSpPr>
        <p:spPr>
          <a:xfrm>
            <a:off x="548640" y="5440680"/>
            <a:ext cx="3108960" cy="457200"/>
          </a:xfrm>
          <a:prstGeom prst="rect">
            <a:avLst/>
          </a:prstGeom>
          <a:noFill/>
        </p:spPr>
        <p:txBody>
          <a:bodyPr wrap="square">
            <a:spAutoFit/>
          </a:bodyPr>
          <a:lstStyle/>
          <a:p>
            <a:pPr algn="l"/>
            <a:r>
              <a:rPr sz="2400" b="1" i="0">
                <a:solidFill>
                  <a:srgbClr val="00E6D2"/>
                </a:solidFill>
              </a:rPr>
              <a:t>96.8%</a:t>
            </a:r>
          </a:p>
        </p:txBody>
      </p:sp>
      <p:sp>
        <p:nvSpPr>
          <p:cNvPr id="20" name="Rectangle 19"/>
          <p:cNvSpPr/>
          <p:nvPr/>
        </p:nvSpPr>
        <p:spPr>
          <a:xfrm>
            <a:off x="4297679" y="1371600"/>
            <a:ext cx="3749039" cy="512064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97679" y="1371600"/>
            <a:ext cx="3749039" cy="9144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34840" y="1508760"/>
            <a:ext cx="3474720" cy="548640"/>
          </a:xfrm>
          <a:prstGeom prst="rect">
            <a:avLst/>
          </a:prstGeom>
          <a:noFill/>
        </p:spPr>
        <p:txBody>
          <a:bodyPr wrap="square">
            <a:spAutoFit/>
          </a:bodyPr>
          <a:lstStyle/>
          <a:p>
            <a:pPr algn="l"/>
            <a:r>
              <a:rPr sz="2200" b="1" i="0">
                <a:solidFill>
                  <a:srgbClr val="FF8C00"/>
                </a:solidFill>
              </a:rPr>
              <a:t>🟡 Medium</a:t>
            </a:r>
          </a:p>
        </p:txBody>
      </p:sp>
      <p:sp>
        <p:nvSpPr>
          <p:cNvPr id="23" name="TextBox 22"/>
          <p:cNvSpPr txBox="1"/>
          <p:nvPr/>
        </p:nvSpPr>
        <p:spPr>
          <a:xfrm>
            <a:off x="4434840" y="2011680"/>
            <a:ext cx="3474720" cy="365760"/>
          </a:xfrm>
          <a:prstGeom prst="rect">
            <a:avLst/>
          </a:prstGeom>
          <a:noFill/>
        </p:spPr>
        <p:txBody>
          <a:bodyPr wrap="square">
            <a:spAutoFit/>
          </a:bodyPr>
          <a:lstStyle/>
          <a:p>
            <a:pPr algn="l"/>
            <a:r>
              <a:rPr sz="1400" b="0" i="0">
                <a:solidFill>
                  <a:srgbClr val="C8D2E6"/>
                </a:solidFill>
              </a:rPr>
              <a:t>2 مانع</a:t>
            </a:r>
          </a:p>
        </p:txBody>
      </p:sp>
      <p:sp>
        <p:nvSpPr>
          <p:cNvPr id="24" name="Rectangle 23"/>
          <p:cNvSpPr/>
          <p:nvPr/>
        </p:nvSpPr>
        <p:spPr>
          <a:xfrm>
            <a:off x="4434840" y="2651760"/>
            <a:ext cx="3474720" cy="1005840"/>
          </a:xfrm>
          <a:prstGeom prst="rect">
            <a:avLst/>
          </a:prstGeom>
          <a:solidFill>
            <a:srgbClr val="142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26279" y="2697479"/>
            <a:ext cx="1371600" cy="365760"/>
          </a:xfrm>
          <a:prstGeom prst="rect">
            <a:avLst/>
          </a:prstGeom>
          <a:noFill/>
        </p:spPr>
        <p:txBody>
          <a:bodyPr wrap="square">
            <a:spAutoFit/>
          </a:bodyPr>
          <a:lstStyle/>
          <a:p>
            <a:pPr algn="l"/>
            <a:r>
              <a:rPr sz="1300" b="0" i="0">
                <a:solidFill>
                  <a:srgbClr val="788CAA"/>
                </a:solidFill>
              </a:rPr>
              <a:t>⚡ انرژی</a:t>
            </a:r>
          </a:p>
        </p:txBody>
      </p:sp>
      <p:sp>
        <p:nvSpPr>
          <p:cNvPr id="26" name="TextBox 25"/>
          <p:cNvSpPr txBox="1"/>
          <p:nvPr/>
        </p:nvSpPr>
        <p:spPr>
          <a:xfrm>
            <a:off x="4526279" y="3063240"/>
            <a:ext cx="3108960" cy="457200"/>
          </a:xfrm>
          <a:prstGeom prst="rect">
            <a:avLst/>
          </a:prstGeom>
          <a:noFill/>
        </p:spPr>
        <p:txBody>
          <a:bodyPr wrap="square">
            <a:spAutoFit/>
          </a:bodyPr>
          <a:lstStyle/>
          <a:p>
            <a:pPr algn="l"/>
            <a:r>
              <a:rPr sz="2400" b="1" i="0">
                <a:solidFill>
                  <a:srgbClr val="39FF14"/>
                </a:solidFill>
              </a:rPr>
              <a:t>3.82 mJ</a:t>
            </a:r>
          </a:p>
        </p:txBody>
      </p:sp>
      <p:sp>
        <p:nvSpPr>
          <p:cNvPr id="27" name="Rectangle 26"/>
          <p:cNvSpPr/>
          <p:nvPr/>
        </p:nvSpPr>
        <p:spPr>
          <a:xfrm>
            <a:off x="4434840" y="3840480"/>
            <a:ext cx="3474720" cy="1005840"/>
          </a:xfrm>
          <a:prstGeom prst="rect">
            <a:avLst/>
          </a:prstGeom>
          <a:solidFill>
            <a:srgbClr val="142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26279" y="3886200"/>
            <a:ext cx="1371600" cy="365760"/>
          </a:xfrm>
          <a:prstGeom prst="rect">
            <a:avLst/>
          </a:prstGeom>
          <a:noFill/>
        </p:spPr>
        <p:txBody>
          <a:bodyPr wrap="square">
            <a:spAutoFit/>
          </a:bodyPr>
          <a:lstStyle/>
          <a:p>
            <a:pPr algn="l"/>
            <a:r>
              <a:rPr sz="1300" b="0" i="0">
                <a:solidFill>
                  <a:srgbClr val="788CAA"/>
                </a:solidFill>
              </a:rPr>
              <a:t>⏱️ تأخیر</a:t>
            </a:r>
          </a:p>
        </p:txBody>
      </p:sp>
      <p:sp>
        <p:nvSpPr>
          <p:cNvPr id="29" name="TextBox 28"/>
          <p:cNvSpPr txBox="1"/>
          <p:nvPr/>
        </p:nvSpPr>
        <p:spPr>
          <a:xfrm>
            <a:off x="4526279" y="4251960"/>
            <a:ext cx="3108960" cy="457200"/>
          </a:xfrm>
          <a:prstGeom prst="rect">
            <a:avLst/>
          </a:prstGeom>
          <a:noFill/>
        </p:spPr>
        <p:txBody>
          <a:bodyPr wrap="square">
            <a:spAutoFit/>
          </a:bodyPr>
          <a:lstStyle/>
          <a:p>
            <a:pPr algn="l"/>
            <a:r>
              <a:rPr sz="2400" b="1" i="0">
                <a:solidFill>
                  <a:srgbClr val="00A2FF"/>
                </a:solidFill>
              </a:rPr>
              <a:t>54.2 ms</a:t>
            </a:r>
          </a:p>
        </p:txBody>
      </p:sp>
      <p:sp>
        <p:nvSpPr>
          <p:cNvPr id="30" name="Rectangle 29"/>
          <p:cNvSpPr/>
          <p:nvPr/>
        </p:nvSpPr>
        <p:spPr>
          <a:xfrm>
            <a:off x="4434840" y="5029200"/>
            <a:ext cx="3474720" cy="1005840"/>
          </a:xfrm>
          <a:prstGeom prst="rect">
            <a:avLst/>
          </a:prstGeom>
          <a:solidFill>
            <a:srgbClr val="142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26279" y="5074920"/>
            <a:ext cx="1371600" cy="365760"/>
          </a:xfrm>
          <a:prstGeom prst="rect">
            <a:avLst/>
          </a:prstGeom>
          <a:noFill/>
        </p:spPr>
        <p:txBody>
          <a:bodyPr wrap="square">
            <a:spAutoFit/>
          </a:bodyPr>
          <a:lstStyle/>
          <a:p>
            <a:pPr algn="l"/>
            <a:r>
              <a:rPr sz="1300" b="0" i="0">
                <a:solidFill>
                  <a:srgbClr val="788CAA"/>
                </a:solidFill>
              </a:rPr>
              <a:t>✅ موفقیت</a:t>
            </a:r>
          </a:p>
        </p:txBody>
      </p:sp>
      <p:sp>
        <p:nvSpPr>
          <p:cNvPr id="32" name="TextBox 31"/>
          <p:cNvSpPr txBox="1"/>
          <p:nvPr/>
        </p:nvSpPr>
        <p:spPr>
          <a:xfrm>
            <a:off x="4526279" y="5440680"/>
            <a:ext cx="3108960" cy="457200"/>
          </a:xfrm>
          <a:prstGeom prst="rect">
            <a:avLst/>
          </a:prstGeom>
          <a:noFill/>
        </p:spPr>
        <p:txBody>
          <a:bodyPr wrap="square">
            <a:spAutoFit/>
          </a:bodyPr>
          <a:lstStyle/>
          <a:p>
            <a:pPr algn="l"/>
            <a:r>
              <a:rPr sz="2400" b="1" i="0">
                <a:solidFill>
                  <a:srgbClr val="00E6D2"/>
                </a:solidFill>
              </a:rPr>
              <a:t>94.2%</a:t>
            </a:r>
          </a:p>
        </p:txBody>
      </p:sp>
      <p:sp>
        <p:nvSpPr>
          <p:cNvPr id="33" name="Rectangle 32"/>
          <p:cNvSpPr/>
          <p:nvPr/>
        </p:nvSpPr>
        <p:spPr>
          <a:xfrm>
            <a:off x="8275319" y="1371600"/>
            <a:ext cx="3749039" cy="512064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275319" y="1371600"/>
            <a:ext cx="3749039" cy="91440"/>
          </a:xfrm>
          <a:prstGeom prst="rect">
            <a:avLst/>
          </a:prstGeom>
          <a:solidFill>
            <a:srgbClr val="DC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12480" y="1508760"/>
            <a:ext cx="3474720" cy="548640"/>
          </a:xfrm>
          <a:prstGeom prst="rect">
            <a:avLst/>
          </a:prstGeom>
          <a:noFill/>
        </p:spPr>
        <p:txBody>
          <a:bodyPr wrap="square">
            <a:spAutoFit/>
          </a:bodyPr>
          <a:lstStyle/>
          <a:p>
            <a:pPr algn="l"/>
            <a:r>
              <a:rPr sz="2200" b="1" i="0">
                <a:solidFill>
                  <a:srgbClr val="DC5050"/>
                </a:solidFill>
              </a:rPr>
              <a:t>🔴 Complex</a:t>
            </a:r>
          </a:p>
        </p:txBody>
      </p:sp>
      <p:sp>
        <p:nvSpPr>
          <p:cNvPr id="36" name="TextBox 35"/>
          <p:cNvSpPr txBox="1"/>
          <p:nvPr/>
        </p:nvSpPr>
        <p:spPr>
          <a:xfrm>
            <a:off x="8412480" y="2011680"/>
            <a:ext cx="3474720" cy="365760"/>
          </a:xfrm>
          <a:prstGeom prst="rect">
            <a:avLst/>
          </a:prstGeom>
          <a:noFill/>
        </p:spPr>
        <p:txBody>
          <a:bodyPr wrap="square">
            <a:spAutoFit/>
          </a:bodyPr>
          <a:lstStyle/>
          <a:p>
            <a:pPr algn="l"/>
            <a:r>
              <a:rPr sz="1400" b="0" i="0">
                <a:solidFill>
                  <a:srgbClr val="C8D2E6"/>
                </a:solidFill>
              </a:rPr>
              <a:t>4 مانع</a:t>
            </a:r>
          </a:p>
        </p:txBody>
      </p:sp>
      <p:sp>
        <p:nvSpPr>
          <p:cNvPr id="37" name="Rectangle 36"/>
          <p:cNvSpPr/>
          <p:nvPr/>
        </p:nvSpPr>
        <p:spPr>
          <a:xfrm>
            <a:off x="8412480" y="2651760"/>
            <a:ext cx="3474720" cy="1005840"/>
          </a:xfrm>
          <a:prstGeom prst="rect">
            <a:avLst/>
          </a:prstGeom>
          <a:solidFill>
            <a:srgbClr val="142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03919" y="2697479"/>
            <a:ext cx="1371600" cy="365760"/>
          </a:xfrm>
          <a:prstGeom prst="rect">
            <a:avLst/>
          </a:prstGeom>
          <a:noFill/>
        </p:spPr>
        <p:txBody>
          <a:bodyPr wrap="square">
            <a:spAutoFit/>
          </a:bodyPr>
          <a:lstStyle/>
          <a:p>
            <a:pPr algn="l"/>
            <a:r>
              <a:rPr sz="1300" b="0" i="0">
                <a:solidFill>
                  <a:srgbClr val="788CAA"/>
                </a:solidFill>
              </a:rPr>
              <a:t>⚡ انرژی</a:t>
            </a:r>
          </a:p>
        </p:txBody>
      </p:sp>
      <p:sp>
        <p:nvSpPr>
          <p:cNvPr id="39" name="TextBox 38"/>
          <p:cNvSpPr txBox="1"/>
          <p:nvPr/>
        </p:nvSpPr>
        <p:spPr>
          <a:xfrm>
            <a:off x="8503919" y="3063240"/>
            <a:ext cx="3108960" cy="457200"/>
          </a:xfrm>
          <a:prstGeom prst="rect">
            <a:avLst/>
          </a:prstGeom>
          <a:noFill/>
        </p:spPr>
        <p:txBody>
          <a:bodyPr wrap="square">
            <a:spAutoFit/>
          </a:bodyPr>
          <a:lstStyle/>
          <a:p>
            <a:pPr algn="l"/>
            <a:r>
              <a:rPr sz="2400" b="1" i="0">
                <a:solidFill>
                  <a:srgbClr val="39FF14"/>
                </a:solidFill>
              </a:rPr>
              <a:t>4.91 mJ</a:t>
            </a:r>
          </a:p>
        </p:txBody>
      </p:sp>
      <p:sp>
        <p:nvSpPr>
          <p:cNvPr id="40" name="Rectangle 39"/>
          <p:cNvSpPr/>
          <p:nvPr/>
        </p:nvSpPr>
        <p:spPr>
          <a:xfrm>
            <a:off x="8412480" y="3840480"/>
            <a:ext cx="3474720" cy="1005840"/>
          </a:xfrm>
          <a:prstGeom prst="rect">
            <a:avLst/>
          </a:prstGeom>
          <a:solidFill>
            <a:srgbClr val="142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03919" y="3886200"/>
            <a:ext cx="1371600" cy="365760"/>
          </a:xfrm>
          <a:prstGeom prst="rect">
            <a:avLst/>
          </a:prstGeom>
          <a:noFill/>
        </p:spPr>
        <p:txBody>
          <a:bodyPr wrap="square">
            <a:spAutoFit/>
          </a:bodyPr>
          <a:lstStyle/>
          <a:p>
            <a:pPr algn="l"/>
            <a:r>
              <a:rPr sz="1300" b="0" i="0">
                <a:solidFill>
                  <a:srgbClr val="788CAA"/>
                </a:solidFill>
              </a:rPr>
              <a:t>⏱️ تأخیر</a:t>
            </a:r>
          </a:p>
        </p:txBody>
      </p:sp>
      <p:sp>
        <p:nvSpPr>
          <p:cNvPr id="42" name="TextBox 41"/>
          <p:cNvSpPr txBox="1"/>
          <p:nvPr/>
        </p:nvSpPr>
        <p:spPr>
          <a:xfrm>
            <a:off x="8503919" y="4251960"/>
            <a:ext cx="3108960" cy="457200"/>
          </a:xfrm>
          <a:prstGeom prst="rect">
            <a:avLst/>
          </a:prstGeom>
          <a:noFill/>
        </p:spPr>
        <p:txBody>
          <a:bodyPr wrap="square">
            <a:spAutoFit/>
          </a:bodyPr>
          <a:lstStyle/>
          <a:p>
            <a:pPr algn="l"/>
            <a:r>
              <a:rPr sz="2400" b="1" i="0">
                <a:solidFill>
                  <a:srgbClr val="00A2FF"/>
                </a:solidFill>
              </a:rPr>
              <a:t>71.8 ms</a:t>
            </a:r>
          </a:p>
        </p:txBody>
      </p:sp>
      <p:sp>
        <p:nvSpPr>
          <p:cNvPr id="43" name="Rectangle 42"/>
          <p:cNvSpPr/>
          <p:nvPr/>
        </p:nvSpPr>
        <p:spPr>
          <a:xfrm>
            <a:off x="8412480" y="5029200"/>
            <a:ext cx="3474720" cy="1005840"/>
          </a:xfrm>
          <a:prstGeom prst="rect">
            <a:avLst/>
          </a:prstGeom>
          <a:solidFill>
            <a:srgbClr val="1423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503919" y="5074920"/>
            <a:ext cx="1371600" cy="365760"/>
          </a:xfrm>
          <a:prstGeom prst="rect">
            <a:avLst/>
          </a:prstGeom>
          <a:noFill/>
        </p:spPr>
        <p:txBody>
          <a:bodyPr wrap="square">
            <a:spAutoFit/>
          </a:bodyPr>
          <a:lstStyle/>
          <a:p>
            <a:pPr algn="l"/>
            <a:r>
              <a:rPr sz="1300" b="0" i="0">
                <a:solidFill>
                  <a:srgbClr val="788CAA"/>
                </a:solidFill>
              </a:rPr>
              <a:t>✅ موفقیت</a:t>
            </a:r>
          </a:p>
        </p:txBody>
      </p:sp>
      <p:sp>
        <p:nvSpPr>
          <p:cNvPr id="45" name="TextBox 44"/>
          <p:cNvSpPr txBox="1"/>
          <p:nvPr/>
        </p:nvSpPr>
        <p:spPr>
          <a:xfrm>
            <a:off x="8503919" y="5440680"/>
            <a:ext cx="3108960" cy="457200"/>
          </a:xfrm>
          <a:prstGeom prst="rect">
            <a:avLst/>
          </a:prstGeom>
          <a:noFill/>
        </p:spPr>
        <p:txBody>
          <a:bodyPr wrap="square">
            <a:spAutoFit/>
          </a:bodyPr>
          <a:lstStyle/>
          <a:p>
            <a:pPr algn="l"/>
            <a:r>
              <a:rPr sz="2400" b="1" i="0">
                <a:solidFill>
                  <a:srgbClr val="00E6D2"/>
                </a:solidFill>
              </a:rPr>
              <a:t>89.3%</a:t>
            </a:r>
          </a:p>
        </p:txBody>
      </p:sp>
      <p:sp>
        <p:nvSpPr>
          <p:cNvPr id="46" name="Rectangle 45"/>
          <p:cNvSpPr/>
          <p:nvPr/>
        </p:nvSpPr>
        <p:spPr>
          <a:xfrm>
            <a:off x="320040" y="6492240"/>
            <a:ext cx="11521440" cy="274320"/>
          </a:xfrm>
          <a:prstGeom prst="rect">
            <a:avLst/>
          </a:prstGeom>
          <a:solidFill>
            <a:srgbClr val="00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6510528"/>
            <a:ext cx="11155680" cy="256032"/>
          </a:xfrm>
          <a:prstGeom prst="rect">
            <a:avLst/>
          </a:prstGeom>
          <a:noFill/>
        </p:spPr>
        <p:txBody>
          <a:bodyPr wrap="square">
            <a:spAutoFit/>
          </a:bodyPr>
          <a:lstStyle/>
          <a:p>
            <a:pPr algn="l"/>
            <a:r>
              <a:rPr sz="1100" b="0" i="0">
                <a:solidFill>
                  <a:srgbClr val="FFD700"/>
                </a:solidFill>
              </a:rPr>
              <a:t>📌  با افزایش پیچیدگی محیط، MADDPG سازگاری هوشمندانه نشان داد: تغییر استراتژی از UAV Offloading به Ground Server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45720"/>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188720"/>
          </a:xfrm>
          <a:prstGeom prst="rect">
            <a:avLst/>
          </a:prstGeom>
          <a:solidFill>
            <a:srgbClr val="00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9144000" cy="731520"/>
          </a:xfrm>
          <a:prstGeom prst="rect">
            <a:avLst/>
          </a:prstGeom>
          <a:noFill/>
        </p:spPr>
        <p:txBody>
          <a:bodyPr wrap="square">
            <a:spAutoFit/>
          </a:bodyPr>
          <a:lstStyle/>
          <a:p>
            <a:pPr algn="l"/>
            <a:r>
              <a:rPr sz="3000" b="1" i="0">
                <a:solidFill>
                  <a:srgbClr val="FFFFFF"/>
                </a:solidFill>
              </a:rPr>
              <a:t>📊  داشبورد تحلیل جامع</a:t>
            </a:r>
          </a:p>
        </p:txBody>
      </p:sp>
      <p:sp>
        <p:nvSpPr>
          <p:cNvPr id="6" name="TextBox 5"/>
          <p:cNvSpPr txBox="1"/>
          <p:nvPr/>
        </p:nvSpPr>
        <p:spPr>
          <a:xfrm>
            <a:off x="228600" y="749808"/>
            <a:ext cx="9144000" cy="365760"/>
          </a:xfrm>
          <a:prstGeom prst="rect">
            <a:avLst/>
          </a:prstGeom>
          <a:noFill/>
        </p:spPr>
        <p:txBody>
          <a:bodyPr wrap="square">
            <a:spAutoFit/>
          </a:bodyPr>
          <a:lstStyle/>
          <a:p>
            <a:pPr algn="l"/>
            <a:r>
              <a:rPr sz="1300" b="0" i="1">
                <a:solidFill>
                  <a:srgbClr val="00E6D2"/>
                </a:solidFill>
              </a:rPr>
              <a:t>Comprehensive Analysis Dashboard – 8 تب تخصصی</a:t>
            </a:r>
          </a:p>
        </p:txBody>
      </p:sp>
      <p:sp>
        <p:nvSpPr>
          <p:cNvPr id="7" name="Rectangle 6"/>
          <p:cNvSpPr/>
          <p:nvPr/>
        </p:nvSpPr>
        <p:spPr>
          <a:xfrm>
            <a:off x="320040" y="1417320"/>
            <a:ext cx="2788920" cy="22402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417320"/>
            <a:ext cx="2788920" cy="64008"/>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527048"/>
            <a:ext cx="548640" cy="548640"/>
          </a:xfrm>
          <a:prstGeom prst="rect">
            <a:avLst/>
          </a:prstGeom>
          <a:noFill/>
        </p:spPr>
        <p:txBody>
          <a:bodyPr wrap="square">
            <a:spAutoFit/>
          </a:bodyPr>
          <a:lstStyle/>
          <a:p>
            <a:pPr algn="l"/>
            <a:r>
              <a:rPr sz="2800" b="1" i="0">
                <a:solidFill>
                  <a:srgbClr val="00A2FF"/>
                </a:solidFill>
              </a:rPr>
              <a:t>1</a:t>
            </a:r>
          </a:p>
        </p:txBody>
      </p:sp>
      <p:sp>
        <p:nvSpPr>
          <p:cNvPr id="10" name="TextBox 9"/>
          <p:cNvSpPr txBox="1"/>
          <p:nvPr/>
        </p:nvSpPr>
        <p:spPr>
          <a:xfrm>
            <a:off x="411479" y="2103120"/>
            <a:ext cx="2560320" cy="457200"/>
          </a:xfrm>
          <a:prstGeom prst="rect">
            <a:avLst/>
          </a:prstGeom>
          <a:noFill/>
        </p:spPr>
        <p:txBody>
          <a:bodyPr wrap="square">
            <a:spAutoFit/>
          </a:bodyPr>
          <a:lstStyle/>
          <a:p>
            <a:pPr algn="l"/>
            <a:r>
              <a:rPr sz="1400" b="1" i="0">
                <a:solidFill>
                  <a:srgbClr val="FFFFFF"/>
                </a:solidFill>
              </a:rPr>
              <a:t>Overview</a:t>
            </a:r>
          </a:p>
        </p:txBody>
      </p:sp>
      <p:sp>
        <p:nvSpPr>
          <p:cNvPr id="11" name="TextBox 10"/>
          <p:cNvSpPr txBox="1"/>
          <p:nvPr/>
        </p:nvSpPr>
        <p:spPr>
          <a:xfrm>
            <a:off x="411479" y="2514600"/>
            <a:ext cx="2606040" cy="1005840"/>
          </a:xfrm>
          <a:prstGeom prst="rect">
            <a:avLst/>
          </a:prstGeom>
          <a:noFill/>
        </p:spPr>
        <p:txBody>
          <a:bodyPr wrap="square">
            <a:spAutoFit/>
          </a:bodyPr>
          <a:lstStyle/>
          <a:p>
            <a:pPr algn="l"/>
            <a:r>
              <a:rPr sz="1100" b="0" i="0">
                <a:solidFill>
                  <a:srgbClr val="C8D2E6"/>
                </a:solidFill>
              </a:rPr>
              <a:t>KPI Cards + مقایسه baseline</a:t>
            </a:r>
          </a:p>
        </p:txBody>
      </p:sp>
      <p:sp>
        <p:nvSpPr>
          <p:cNvPr id="12" name="Rectangle 11"/>
          <p:cNvSpPr/>
          <p:nvPr/>
        </p:nvSpPr>
        <p:spPr>
          <a:xfrm>
            <a:off x="3291840" y="1417320"/>
            <a:ext cx="2788920" cy="22402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91840" y="1417320"/>
            <a:ext cx="2788920" cy="64008"/>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83280" y="1527048"/>
            <a:ext cx="548640" cy="548640"/>
          </a:xfrm>
          <a:prstGeom prst="rect">
            <a:avLst/>
          </a:prstGeom>
          <a:noFill/>
        </p:spPr>
        <p:txBody>
          <a:bodyPr wrap="square">
            <a:spAutoFit/>
          </a:bodyPr>
          <a:lstStyle/>
          <a:p>
            <a:pPr algn="l"/>
            <a:r>
              <a:rPr sz="2800" b="1" i="0">
                <a:solidFill>
                  <a:srgbClr val="39FF14"/>
                </a:solidFill>
              </a:rPr>
              <a:t>2</a:t>
            </a:r>
          </a:p>
        </p:txBody>
      </p:sp>
      <p:sp>
        <p:nvSpPr>
          <p:cNvPr id="15" name="TextBox 14"/>
          <p:cNvSpPr txBox="1"/>
          <p:nvPr/>
        </p:nvSpPr>
        <p:spPr>
          <a:xfrm>
            <a:off x="3383280" y="2103120"/>
            <a:ext cx="2560320" cy="457200"/>
          </a:xfrm>
          <a:prstGeom prst="rect">
            <a:avLst/>
          </a:prstGeom>
          <a:noFill/>
        </p:spPr>
        <p:txBody>
          <a:bodyPr wrap="square">
            <a:spAutoFit/>
          </a:bodyPr>
          <a:lstStyle/>
          <a:p>
            <a:pPr algn="l"/>
            <a:r>
              <a:rPr sz="1400" b="1" i="0">
                <a:solidFill>
                  <a:srgbClr val="FFFFFF"/>
                </a:solidFill>
              </a:rPr>
              <a:t>Energy Analysis</a:t>
            </a:r>
          </a:p>
        </p:txBody>
      </p:sp>
      <p:sp>
        <p:nvSpPr>
          <p:cNvPr id="16" name="TextBox 15"/>
          <p:cNvSpPr txBox="1"/>
          <p:nvPr/>
        </p:nvSpPr>
        <p:spPr>
          <a:xfrm>
            <a:off x="3383280" y="2514600"/>
            <a:ext cx="2606040" cy="1005840"/>
          </a:xfrm>
          <a:prstGeom prst="rect">
            <a:avLst/>
          </a:prstGeom>
          <a:noFill/>
        </p:spPr>
        <p:txBody>
          <a:bodyPr wrap="square">
            <a:spAutoFit/>
          </a:bodyPr>
          <a:lstStyle/>
          <a:p>
            <a:pPr algn="l"/>
            <a:r>
              <a:rPr sz="1100" b="0" i="0">
                <a:solidFill>
                  <a:srgbClr val="C8D2E6"/>
                </a:solidFill>
              </a:rPr>
              <a:t>تحلیل مصرف انرژی لایه‌ها</a:t>
            </a:r>
          </a:p>
        </p:txBody>
      </p:sp>
      <p:sp>
        <p:nvSpPr>
          <p:cNvPr id="17" name="Rectangle 16"/>
          <p:cNvSpPr/>
          <p:nvPr/>
        </p:nvSpPr>
        <p:spPr>
          <a:xfrm>
            <a:off x="6263640" y="1417320"/>
            <a:ext cx="2788920" cy="22402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63640" y="1417320"/>
            <a:ext cx="2788920" cy="64008"/>
          </a:xfrm>
          <a:prstGeom prst="rect">
            <a:avLst/>
          </a:prstGeom>
          <a:solidFill>
            <a:srgbClr val="00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79" y="1527048"/>
            <a:ext cx="548640" cy="548640"/>
          </a:xfrm>
          <a:prstGeom prst="rect">
            <a:avLst/>
          </a:prstGeom>
          <a:noFill/>
        </p:spPr>
        <p:txBody>
          <a:bodyPr wrap="square">
            <a:spAutoFit/>
          </a:bodyPr>
          <a:lstStyle/>
          <a:p>
            <a:pPr algn="l"/>
            <a:r>
              <a:rPr sz="2800" b="1" i="0">
                <a:solidFill>
                  <a:srgbClr val="00E6D2"/>
                </a:solidFill>
              </a:rPr>
              <a:t>3</a:t>
            </a:r>
          </a:p>
        </p:txBody>
      </p:sp>
      <p:sp>
        <p:nvSpPr>
          <p:cNvPr id="20" name="TextBox 19"/>
          <p:cNvSpPr txBox="1"/>
          <p:nvPr/>
        </p:nvSpPr>
        <p:spPr>
          <a:xfrm>
            <a:off x="6355079" y="2103120"/>
            <a:ext cx="2560320" cy="457200"/>
          </a:xfrm>
          <a:prstGeom prst="rect">
            <a:avLst/>
          </a:prstGeom>
          <a:noFill/>
        </p:spPr>
        <p:txBody>
          <a:bodyPr wrap="square">
            <a:spAutoFit/>
          </a:bodyPr>
          <a:lstStyle/>
          <a:p>
            <a:pPr algn="l"/>
            <a:r>
              <a:rPr sz="1400" b="1" i="0">
                <a:solidFill>
                  <a:srgbClr val="FFFFFF"/>
                </a:solidFill>
              </a:rPr>
              <a:t>Latency Analysis</a:t>
            </a:r>
          </a:p>
        </p:txBody>
      </p:sp>
      <p:sp>
        <p:nvSpPr>
          <p:cNvPr id="21" name="TextBox 20"/>
          <p:cNvSpPr txBox="1"/>
          <p:nvPr/>
        </p:nvSpPr>
        <p:spPr>
          <a:xfrm>
            <a:off x="6355079" y="2514600"/>
            <a:ext cx="2606040" cy="1005840"/>
          </a:xfrm>
          <a:prstGeom prst="rect">
            <a:avLst/>
          </a:prstGeom>
          <a:noFill/>
        </p:spPr>
        <p:txBody>
          <a:bodyPr wrap="square">
            <a:spAutoFit/>
          </a:bodyPr>
          <a:lstStyle/>
          <a:p>
            <a:pPr algn="l"/>
            <a:r>
              <a:rPr sz="1100" b="0" i="0">
                <a:solidFill>
                  <a:srgbClr val="C8D2E6"/>
                </a:solidFill>
              </a:rPr>
              <a:t>تجزیه ۳ مؤلفه تأخیر</a:t>
            </a:r>
          </a:p>
        </p:txBody>
      </p:sp>
      <p:sp>
        <p:nvSpPr>
          <p:cNvPr id="22" name="Rectangle 21"/>
          <p:cNvSpPr/>
          <p:nvPr/>
        </p:nvSpPr>
        <p:spPr>
          <a:xfrm>
            <a:off x="9235440" y="1417320"/>
            <a:ext cx="2788920" cy="22402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35440" y="1417320"/>
            <a:ext cx="2788920" cy="64008"/>
          </a:xfrm>
          <a:prstGeom prst="rect">
            <a:avLst/>
          </a:prstGeom>
          <a:solidFill>
            <a:srgbClr val="8A2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0" y="1527048"/>
            <a:ext cx="548640" cy="548640"/>
          </a:xfrm>
          <a:prstGeom prst="rect">
            <a:avLst/>
          </a:prstGeom>
          <a:noFill/>
        </p:spPr>
        <p:txBody>
          <a:bodyPr wrap="square">
            <a:spAutoFit/>
          </a:bodyPr>
          <a:lstStyle/>
          <a:p>
            <a:pPr algn="l"/>
            <a:r>
              <a:rPr sz="2800" b="1" i="0">
                <a:solidFill>
                  <a:srgbClr val="8A2BE2"/>
                </a:solidFill>
              </a:rPr>
              <a:t>4</a:t>
            </a:r>
          </a:p>
        </p:txBody>
      </p:sp>
      <p:sp>
        <p:nvSpPr>
          <p:cNvPr id="25" name="TextBox 24"/>
          <p:cNvSpPr txBox="1"/>
          <p:nvPr/>
        </p:nvSpPr>
        <p:spPr>
          <a:xfrm>
            <a:off x="9326880" y="2103120"/>
            <a:ext cx="2560320" cy="457200"/>
          </a:xfrm>
          <a:prstGeom prst="rect">
            <a:avLst/>
          </a:prstGeom>
          <a:noFill/>
        </p:spPr>
        <p:txBody>
          <a:bodyPr wrap="square">
            <a:spAutoFit/>
          </a:bodyPr>
          <a:lstStyle/>
          <a:p>
            <a:pPr algn="l"/>
            <a:r>
              <a:rPr sz="1400" b="1" i="0">
                <a:solidFill>
                  <a:srgbClr val="FFFFFF"/>
                </a:solidFill>
              </a:rPr>
              <a:t>Heuristic Strategy</a:t>
            </a:r>
          </a:p>
        </p:txBody>
      </p:sp>
      <p:sp>
        <p:nvSpPr>
          <p:cNvPr id="26" name="TextBox 25"/>
          <p:cNvSpPr txBox="1"/>
          <p:nvPr/>
        </p:nvSpPr>
        <p:spPr>
          <a:xfrm>
            <a:off x="9326880" y="2514600"/>
            <a:ext cx="2606040" cy="1005840"/>
          </a:xfrm>
          <a:prstGeom prst="rect">
            <a:avLst/>
          </a:prstGeom>
          <a:noFill/>
        </p:spPr>
        <p:txBody>
          <a:bodyPr wrap="square">
            <a:spAutoFit/>
          </a:bodyPr>
          <a:lstStyle/>
          <a:p>
            <a:pPr algn="l"/>
            <a:r>
              <a:rPr sz="1100" b="0" i="0">
                <a:solidFill>
                  <a:srgbClr val="C8D2E6"/>
                </a:solidFill>
              </a:rPr>
              <a:t>Radar Chart + Tradeoff</a:t>
            </a:r>
          </a:p>
        </p:txBody>
      </p:sp>
      <p:sp>
        <p:nvSpPr>
          <p:cNvPr id="27" name="Rectangle 26"/>
          <p:cNvSpPr/>
          <p:nvPr/>
        </p:nvSpPr>
        <p:spPr>
          <a:xfrm>
            <a:off x="320040" y="3931920"/>
            <a:ext cx="2788920" cy="22402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0040" y="3931920"/>
            <a:ext cx="2788920"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79" y="4041648"/>
            <a:ext cx="548640" cy="548640"/>
          </a:xfrm>
          <a:prstGeom prst="rect">
            <a:avLst/>
          </a:prstGeom>
          <a:noFill/>
        </p:spPr>
        <p:txBody>
          <a:bodyPr wrap="square">
            <a:spAutoFit/>
          </a:bodyPr>
          <a:lstStyle/>
          <a:p>
            <a:pPr algn="l"/>
            <a:r>
              <a:rPr sz="2800" b="1" i="0">
                <a:solidFill>
                  <a:srgbClr val="FF8C00"/>
                </a:solidFill>
              </a:rPr>
              <a:t>5</a:t>
            </a:r>
          </a:p>
        </p:txBody>
      </p:sp>
      <p:sp>
        <p:nvSpPr>
          <p:cNvPr id="30" name="TextBox 29"/>
          <p:cNvSpPr txBox="1"/>
          <p:nvPr/>
        </p:nvSpPr>
        <p:spPr>
          <a:xfrm>
            <a:off x="411479" y="4617720"/>
            <a:ext cx="2560320" cy="457200"/>
          </a:xfrm>
          <a:prstGeom prst="rect">
            <a:avLst/>
          </a:prstGeom>
          <a:noFill/>
        </p:spPr>
        <p:txBody>
          <a:bodyPr wrap="square">
            <a:spAutoFit/>
          </a:bodyPr>
          <a:lstStyle/>
          <a:p>
            <a:pPr algn="l"/>
            <a:r>
              <a:rPr sz="1400" b="1" i="0">
                <a:solidFill>
                  <a:srgbClr val="FFFFFF"/>
                </a:solidFill>
              </a:rPr>
              <a:t>Env Complexity</a:t>
            </a:r>
          </a:p>
        </p:txBody>
      </p:sp>
      <p:sp>
        <p:nvSpPr>
          <p:cNvPr id="31" name="TextBox 30"/>
          <p:cNvSpPr txBox="1"/>
          <p:nvPr/>
        </p:nvSpPr>
        <p:spPr>
          <a:xfrm>
            <a:off x="411479" y="5029200"/>
            <a:ext cx="2606040" cy="1005840"/>
          </a:xfrm>
          <a:prstGeom prst="rect">
            <a:avLst/>
          </a:prstGeom>
          <a:noFill/>
        </p:spPr>
        <p:txBody>
          <a:bodyPr wrap="square">
            <a:spAutoFit/>
          </a:bodyPr>
          <a:lstStyle/>
          <a:p>
            <a:pPr algn="l"/>
            <a:r>
              <a:rPr sz="1100" b="0" i="0">
                <a:solidFill>
                  <a:srgbClr val="C8D2E6"/>
                </a:solidFill>
              </a:rPr>
              <a:t>تأثیر موانع + Heat Map</a:t>
            </a:r>
          </a:p>
        </p:txBody>
      </p:sp>
      <p:sp>
        <p:nvSpPr>
          <p:cNvPr id="32" name="Rectangle 31"/>
          <p:cNvSpPr/>
          <p:nvPr/>
        </p:nvSpPr>
        <p:spPr>
          <a:xfrm>
            <a:off x="3291840" y="3931920"/>
            <a:ext cx="2788920" cy="22402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291840" y="3931920"/>
            <a:ext cx="2788920" cy="6400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83280" y="4041648"/>
            <a:ext cx="548640" cy="548640"/>
          </a:xfrm>
          <a:prstGeom prst="rect">
            <a:avLst/>
          </a:prstGeom>
          <a:noFill/>
        </p:spPr>
        <p:txBody>
          <a:bodyPr wrap="square">
            <a:spAutoFit/>
          </a:bodyPr>
          <a:lstStyle/>
          <a:p>
            <a:pPr algn="l"/>
            <a:r>
              <a:rPr sz="2800" b="1" i="0">
                <a:solidFill>
                  <a:srgbClr val="FFD700"/>
                </a:solidFill>
              </a:rPr>
              <a:t>6</a:t>
            </a:r>
          </a:p>
        </p:txBody>
      </p:sp>
      <p:sp>
        <p:nvSpPr>
          <p:cNvPr id="35" name="TextBox 34"/>
          <p:cNvSpPr txBox="1"/>
          <p:nvPr/>
        </p:nvSpPr>
        <p:spPr>
          <a:xfrm>
            <a:off x="3383280" y="4617720"/>
            <a:ext cx="2560320" cy="457200"/>
          </a:xfrm>
          <a:prstGeom prst="rect">
            <a:avLst/>
          </a:prstGeom>
          <a:noFill/>
        </p:spPr>
        <p:txBody>
          <a:bodyPr wrap="square">
            <a:spAutoFit/>
          </a:bodyPr>
          <a:lstStyle/>
          <a:p>
            <a:pPr algn="l"/>
            <a:r>
              <a:rPr sz="1400" b="1" i="0">
                <a:solidFill>
                  <a:srgbClr val="FFFFFF"/>
                </a:solidFill>
              </a:rPr>
              <a:t>Ablation Study</a:t>
            </a:r>
          </a:p>
        </p:txBody>
      </p:sp>
      <p:sp>
        <p:nvSpPr>
          <p:cNvPr id="36" name="TextBox 35"/>
          <p:cNvSpPr txBox="1"/>
          <p:nvPr/>
        </p:nvSpPr>
        <p:spPr>
          <a:xfrm>
            <a:off x="3383280" y="5029200"/>
            <a:ext cx="2606040" cy="1005840"/>
          </a:xfrm>
          <a:prstGeom prst="rect">
            <a:avLst/>
          </a:prstGeom>
          <a:noFill/>
        </p:spPr>
        <p:txBody>
          <a:bodyPr wrap="square">
            <a:spAutoFit/>
          </a:bodyPr>
          <a:lstStyle/>
          <a:p>
            <a:pPr algn="l"/>
            <a:r>
              <a:rPr sz="1100" b="0" i="0">
                <a:solidFill>
                  <a:srgbClr val="C8D2E6"/>
                </a:solidFill>
              </a:rPr>
              <a:t>Waterfall + آمار Cohen's d</a:t>
            </a:r>
          </a:p>
        </p:txBody>
      </p:sp>
      <p:sp>
        <p:nvSpPr>
          <p:cNvPr id="37" name="Rectangle 36"/>
          <p:cNvSpPr/>
          <p:nvPr/>
        </p:nvSpPr>
        <p:spPr>
          <a:xfrm>
            <a:off x="6263640" y="3931920"/>
            <a:ext cx="2788920" cy="22402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63640" y="3931920"/>
            <a:ext cx="2788920" cy="64008"/>
          </a:xfrm>
          <a:prstGeom prst="rect">
            <a:avLst/>
          </a:prstGeom>
          <a:solidFill>
            <a:srgbClr val="788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55079" y="4041648"/>
            <a:ext cx="548640" cy="548640"/>
          </a:xfrm>
          <a:prstGeom prst="rect">
            <a:avLst/>
          </a:prstGeom>
          <a:noFill/>
        </p:spPr>
        <p:txBody>
          <a:bodyPr wrap="square">
            <a:spAutoFit/>
          </a:bodyPr>
          <a:lstStyle/>
          <a:p>
            <a:pPr algn="l"/>
            <a:r>
              <a:rPr sz="2800" b="1" i="0">
                <a:solidFill>
                  <a:srgbClr val="788CAA"/>
                </a:solidFill>
              </a:rPr>
              <a:t>7</a:t>
            </a:r>
          </a:p>
        </p:txBody>
      </p:sp>
      <p:sp>
        <p:nvSpPr>
          <p:cNvPr id="40" name="TextBox 39"/>
          <p:cNvSpPr txBox="1"/>
          <p:nvPr/>
        </p:nvSpPr>
        <p:spPr>
          <a:xfrm>
            <a:off x="6355079" y="4617720"/>
            <a:ext cx="2560320" cy="457200"/>
          </a:xfrm>
          <a:prstGeom prst="rect">
            <a:avLst/>
          </a:prstGeom>
          <a:noFill/>
        </p:spPr>
        <p:txBody>
          <a:bodyPr wrap="square">
            <a:spAutoFit/>
          </a:bodyPr>
          <a:lstStyle/>
          <a:p>
            <a:pPr algn="l"/>
            <a:r>
              <a:rPr sz="1400" b="1" i="0">
                <a:solidFill>
                  <a:srgbClr val="FFFFFF"/>
                </a:solidFill>
              </a:rPr>
              <a:t>Code Execution</a:t>
            </a:r>
          </a:p>
        </p:txBody>
      </p:sp>
      <p:sp>
        <p:nvSpPr>
          <p:cNvPr id="41" name="TextBox 40"/>
          <p:cNvSpPr txBox="1"/>
          <p:nvPr/>
        </p:nvSpPr>
        <p:spPr>
          <a:xfrm>
            <a:off x="6355079" y="5029200"/>
            <a:ext cx="2606040" cy="1005840"/>
          </a:xfrm>
          <a:prstGeom prst="rect">
            <a:avLst/>
          </a:prstGeom>
          <a:noFill/>
        </p:spPr>
        <p:txBody>
          <a:bodyPr wrap="square">
            <a:spAutoFit/>
          </a:bodyPr>
          <a:lstStyle/>
          <a:p>
            <a:pPr algn="l"/>
            <a:r>
              <a:rPr sz="1100" b="0" i="0">
                <a:solidFill>
                  <a:srgbClr val="C8D2E6"/>
                </a:solidFill>
              </a:rPr>
              <a:t>محیط تعاملی Python</a:t>
            </a:r>
          </a:p>
        </p:txBody>
      </p:sp>
      <p:sp>
        <p:nvSpPr>
          <p:cNvPr id="42" name="Rectangle 41"/>
          <p:cNvSpPr/>
          <p:nvPr/>
        </p:nvSpPr>
        <p:spPr>
          <a:xfrm>
            <a:off x="9235440" y="3931920"/>
            <a:ext cx="2788920" cy="22402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235440" y="3931920"/>
            <a:ext cx="2788920" cy="64008"/>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326880" y="4041648"/>
            <a:ext cx="548640" cy="548640"/>
          </a:xfrm>
          <a:prstGeom prst="rect">
            <a:avLst/>
          </a:prstGeom>
          <a:noFill/>
        </p:spPr>
        <p:txBody>
          <a:bodyPr wrap="square">
            <a:spAutoFit/>
          </a:bodyPr>
          <a:lstStyle/>
          <a:p>
            <a:pPr algn="l"/>
            <a:r>
              <a:rPr sz="2800" b="1" i="0">
                <a:solidFill>
                  <a:srgbClr val="00A2FF"/>
                </a:solidFill>
              </a:rPr>
              <a:t>8</a:t>
            </a:r>
          </a:p>
        </p:txBody>
      </p:sp>
      <p:sp>
        <p:nvSpPr>
          <p:cNvPr id="45" name="TextBox 44"/>
          <p:cNvSpPr txBox="1"/>
          <p:nvPr/>
        </p:nvSpPr>
        <p:spPr>
          <a:xfrm>
            <a:off x="9326880" y="4617720"/>
            <a:ext cx="2560320" cy="457200"/>
          </a:xfrm>
          <a:prstGeom prst="rect">
            <a:avLst/>
          </a:prstGeom>
          <a:noFill/>
        </p:spPr>
        <p:txBody>
          <a:bodyPr wrap="square">
            <a:spAutoFit/>
          </a:bodyPr>
          <a:lstStyle/>
          <a:p>
            <a:pPr algn="l"/>
            <a:r>
              <a:rPr sz="1400" b="1" i="0">
                <a:solidFill>
                  <a:srgbClr val="FFFFFF"/>
                </a:solidFill>
              </a:rPr>
              <a:t>Final Analysis</a:t>
            </a:r>
          </a:p>
        </p:txBody>
      </p:sp>
      <p:sp>
        <p:nvSpPr>
          <p:cNvPr id="46" name="TextBox 45"/>
          <p:cNvSpPr txBox="1"/>
          <p:nvPr/>
        </p:nvSpPr>
        <p:spPr>
          <a:xfrm>
            <a:off x="9326880" y="5029200"/>
            <a:ext cx="2606040" cy="1005840"/>
          </a:xfrm>
          <a:prstGeom prst="rect">
            <a:avLst/>
          </a:prstGeom>
          <a:noFill/>
        </p:spPr>
        <p:txBody>
          <a:bodyPr wrap="square">
            <a:spAutoFit/>
          </a:bodyPr>
          <a:lstStyle/>
          <a:p>
            <a:pPr algn="l"/>
            <a:r>
              <a:rPr sz="1100" b="0" i="0">
                <a:solidFill>
                  <a:srgbClr val="C8D2E6"/>
                </a:solidFill>
              </a:rPr>
              <a:t>خلاصه ۶ نمودار کلیدی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45720"/>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188720"/>
          </a:xfrm>
          <a:prstGeom prst="rect">
            <a:avLst/>
          </a:prstGeom>
          <a:solidFill>
            <a:srgbClr val="00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9144000" cy="731520"/>
          </a:xfrm>
          <a:prstGeom prst="rect">
            <a:avLst/>
          </a:prstGeom>
          <a:noFill/>
        </p:spPr>
        <p:txBody>
          <a:bodyPr wrap="square">
            <a:spAutoFit/>
          </a:bodyPr>
          <a:lstStyle/>
          <a:p>
            <a:pPr algn="l"/>
            <a:r>
              <a:rPr sz="3000" b="1" i="0">
                <a:solidFill>
                  <a:srgbClr val="FFFFFF"/>
                </a:solidFill>
              </a:rPr>
              <a:t>🏆  دستاوردها و نوآوری‌های کلیدی</a:t>
            </a:r>
          </a:p>
        </p:txBody>
      </p:sp>
      <p:sp>
        <p:nvSpPr>
          <p:cNvPr id="6" name="TextBox 5"/>
          <p:cNvSpPr txBox="1"/>
          <p:nvPr/>
        </p:nvSpPr>
        <p:spPr>
          <a:xfrm>
            <a:off x="228600" y="749808"/>
            <a:ext cx="9144000" cy="365760"/>
          </a:xfrm>
          <a:prstGeom prst="rect">
            <a:avLst/>
          </a:prstGeom>
          <a:noFill/>
        </p:spPr>
        <p:txBody>
          <a:bodyPr wrap="square">
            <a:spAutoFit/>
          </a:bodyPr>
          <a:lstStyle/>
          <a:p>
            <a:pPr algn="l"/>
            <a:r>
              <a:rPr sz="1300" b="0" i="1">
                <a:solidFill>
                  <a:srgbClr val="00E6D2"/>
                </a:solidFill>
              </a:rPr>
              <a:t>Key Contributions</a:t>
            </a:r>
          </a:p>
        </p:txBody>
      </p:sp>
      <p:sp>
        <p:nvSpPr>
          <p:cNvPr id="7" name="Rectangle 6"/>
          <p:cNvSpPr/>
          <p:nvPr/>
        </p:nvSpPr>
        <p:spPr>
          <a:xfrm>
            <a:off x="320040" y="1417320"/>
            <a:ext cx="3749039" cy="22402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417320"/>
            <a:ext cx="3749039" cy="64008"/>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27048"/>
            <a:ext cx="3657600" cy="777240"/>
          </a:xfrm>
          <a:prstGeom prst="rect">
            <a:avLst/>
          </a:prstGeom>
          <a:noFill/>
        </p:spPr>
        <p:txBody>
          <a:bodyPr wrap="square">
            <a:spAutoFit/>
          </a:bodyPr>
          <a:lstStyle/>
          <a:p>
            <a:pPr algn="l"/>
            <a:r>
              <a:rPr sz="3400" b="1" i="0">
                <a:solidFill>
                  <a:srgbClr val="39FF14"/>
                </a:solidFill>
              </a:rPr>
              <a:t>↓ 59%</a:t>
            </a:r>
          </a:p>
        </p:txBody>
      </p:sp>
      <p:sp>
        <p:nvSpPr>
          <p:cNvPr id="10" name="TextBox 9"/>
          <p:cNvSpPr txBox="1"/>
          <p:nvPr/>
        </p:nvSpPr>
        <p:spPr>
          <a:xfrm>
            <a:off x="457200" y="2286000"/>
            <a:ext cx="3474720" cy="457200"/>
          </a:xfrm>
          <a:prstGeom prst="rect">
            <a:avLst/>
          </a:prstGeom>
          <a:noFill/>
        </p:spPr>
        <p:txBody>
          <a:bodyPr wrap="square">
            <a:spAutoFit/>
          </a:bodyPr>
          <a:lstStyle/>
          <a:p>
            <a:pPr algn="l"/>
            <a:r>
              <a:rPr sz="1500" b="1" i="0">
                <a:solidFill>
                  <a:srgbClr val="FFFFFF"/>
                </a:solidFill>
              </a:rPr>
              <a:t>کاهش مصرف انرژی</a:t>
            </a:r>
          </a:p>
        </p:txBody>
      </p:sp>
      <p:sp>
        <p:nvSpPr>
          <p:cNvPr id="11" name="TextBox 10"/>
          <p:cNvSpPr txBox="1"/>
          <p:nvPr/>
        </p:nvSpPr>
        <p:spPr>
          <a:xfrm>
            <a:off x="457200" y="2743200"/>
            <a:ext cx="3474720" cy="731520"/>
          </a:xfrm>
          <a:prstGeom prst="rect">
            <a:avLst/>
          </a:prstGeom>
          <a:noFill/>
        </p:spPr>
        <p:txBody>
          <a:bodyPr wrap="square">
            <a:spAutoFit/>
          </a:bodyPr>
          <a:lstStyle/>
          <a:p>
            <a:pPr algn="l"/>
            <a:r>
              <a:rPr sz="1200" b="0" i="0">
                <a:solidFill>
                  <a:srgbClr val="C8D2E6"/>
                </a:solidFill>
              </a:rPr>
              <a:t>نسبت به Always Local</a:t>
            </a:r>
          </a:p>
        </p:txBody>
      </p:sp>
      <p:sp>
        <p:nvSpPr>
          <p:cNvPr id="12" name="Rectangle 11"/>
          <p:cNvSpPr/>
          <p:nvPr/>
        </p:nvSpPr>
        <p:spPr>
          <a:xfrm>
            <a:off x="4297679" y="1417320"/>
            <a:ext cx="3749039" cy="22402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79" y="1417320"/>
            <a:ext cx="3749039" cy="64008"/>
          </a:xfrm>
          <a:prstGeom prst="rect">
            <a:avLst/>
          </a:prstGeom>
          <a:solidFill>
            <a:srgbClr val="00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1527048"/>
            <a:ext cx="3657600" cy="777240"/>
          </a:xfrm>
          <a:prstGeom prst="rect">
            <a:avLst/>
          </a:prstGeom>
          <a:noFill/>
        </p:spPr>
        <p:txBody>
          <a:bodyPr wrap="square">
            <a:spAutoFit/>
          </a:bodyPr>
          <a:lstStyle/>
          <a:p>
            <a:pPr algn="l"/>
            <a:r>
              <a:rPr sz="3400" b="1" i="0">
                <a:solidFill>
                  <a:srgbClr val="00E6D2"/>
                </a:solidFill>
              </a:rPr>
              <a:t>↓ 62%</a:t>
            </a:r>
          </a:p>
        </p:txBody>
      </p:sp>
      <p:sp>
        <p:nvSpPr>
          <p:cNvPr id="15" name="TextBox 14"/>
          <p:cNvSpPr txBox="1"/>
          <p:nvPr/>
        </p:nvSpPr>
        <p:spPr>
          <a:xfrm>
            <a:off x="4434840" y="2286000"/>
            <a:ext cx="3474720" cy="457200"/>
          </a:xfrm>
          <a:prstGeom prst="rect">
            <a:avLst/>
          </a:prstGeom>
          <a:noFill/>
        </p:spPr>
        <p:txBody>
          <a:bodyPr wrap="square">
            <a:spAutoFit/>
          </a:bodyPr>
          <a:lstStyle/>
          <a:p>
            <a:pPr algn="l"/>
            <a:r>
              <a:rPr sz="1500" b="1" i="0">
                <a:solidFill>
                  <a:srgbClr val="FFFFFF"/>
                </a:solidFill>
              </a:rPr>
              <a:t>کاهش تأخیر کل</a:t>
            </a:r>
          </a:p>
        </p:txBody>
      </p:sp>
      <p:sp>
        <p:nvSpPr>
          <p:cNvPr id="16" name="TextBox 15"/>
          <p:cNvSpPr txBox="1"/>
          <p:nvPr/>
        </p:nvSpPr>
        <p:spPr>
          <a:xfrm>
            <a:off x="4434840" y="2743200"/>
            <a:ext cx="3474720" cy="731520"/>
          </a:xfrm>
          <a:prstGeom prst="rect">
            <a:avLst/>
          </a:prstGeom>
          <a:noFill/>
        </p:spPr>
        <p:txBody>
          <a:bodyPr wrap="square">
            <a:spAutoFit/>
          </a:bodyPr>
          <a:lstStyle/>
          <a:p>
            <a:pPr algn="l"/>
            <a:r>
              <a:rPr sz="1200" b="0" i="0">
                <a:solidFill>
                  <a:srgbClr val="C8D2E6"/>
                </a:solidFill>
              </a:rPr>
              <a:t>کاهش 78% تأخیر صف</a:t>
            </a:r>
          </a:p>
        </p:txBody>
      </p:sp>
      <p:sp>
        <p:nvSpPr>
          <p:cNvPr id="17" name="Rectangle 16"/>
          <p:cNvSpPr/>
          <p:nvPr/>
        </p:nvSpPr>
        <p:spPr>
          <a:xfrm>
            <a:off x="8275319" y="1417320"/>
            <a:ext cx="3749039" cy="22402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75319" y="1417320"/>
            <a:ext cx="3749039" cy="64008"/>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1527048"/>
            <a:ext cx="3657600" cy="777240"/>
          </a:xfrm>
          <a:prstGeom prst="rect">
            <a:avLst/>
          </a:prstGeom>
          <a:noFill/>
        </p:spPr>
        <p:txBody>
          <a:bodyPr wrap="square">
            <a:spAutoFit/>
          </a:bodyPr>
          <a:lstStyle/>
          <a:p>
            <a:pPr algn="l"/>
            <a:r>
              <a:rPr sz="3400" b="1" i="0">
                <a:solidFill>
                  <a:srgbClr val="FFD700"/>
                </a:solidFill>
              </a:rPr>
              <a:t>↑ 18%</a:t>
            </a:r>
          </a:p>
        </p:txBody>
      </p:sp>
      <p:sp>
        <p:nvSpPr>
          <p:cNvPr id="20" name="TextBox 19"/>
          <p:cNvSpPr txBox="1"/>
          <p:nvPr/>
        </p:nvSpPr>
        <p:spPr>
          <a:xfrm>
            <a:off x="8412480" y="2286000"/>
            <a:ext cx="3474720" cy="457200"/>
          </a:xfrm>
          <a:prstGeom prst="rect">
            <a:avLst/>
          </a:prstGeom>
          <a:noFill/>
        </p:spPr>
        <p:txBody>
          <a:bodyPr wrap="square">
            <a:spAutoFit/>
          </a:bodyPr>
          <a:lstStyle/>
          <a:p>
            <a:pPr algn="l"/>
            <a:r>
              <a:rPr sz="1500" b="1" i="0">
                <a:solidFill>
                  <a:srgbClr val="FFFFFF"/>
                </a:solidFill>
              </a:rPr>
              <a:t>نرخ موفقیت</a:t>
            </a:r>
          </a:p>
        </p:txBody>
      </p:sp>
      <p:sp>
        <p:nvSpPr>
          <p:cNvPr id="21" name="TextBox 20"/>
          <p:cNvSpPr txBox="1"/>
          <p:nvPr/>
        </p:nvSpPr>
        <p:spPr>
          <a:xfrm>
            <a:off x="8412480" y="2743200"/>
            <a:ext cx="3474720" cy="731520"/>
          </a:xfrm>
          <a:prstGeom prst="rect">
            <a:avLst/>
          </a:prstGeom>
          <a:noFill/>
        </p:spPr>
        <p:txBody>
          <a:bodyPr wrap="square">
            <a:spAutoFit/>
          </a:bodyPr>
          <a:lstStyle/>
          <a:p>
            <a:pPr algn="l"/>
            <a:r>
              <a:rPr sz="1200" b="0" i="0">
                <a:solidFill>
                  <a:srgbClr val="C8D2E6"/>
                </a:solidFill>
              </a:rPr>
              <a:t>از 76.3% به 94.2%</a:t>
            </a:r>
          </a:p>
        </p:txBody>
      </p:sp>
      <p:sp>
        <p:nvSpPr>
          <p:cNvPr id="22" name="Rectangle 21"/>
          <p:cNvSpPr/>
          <p:nvPr/>
        </p:nvSpPr>
        <p:spPr>
          <a:xfrm>
            <a:off x="320040" y="3931920"/>
            <a:ext cx="3749039" cy="22402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0040" y="3931920"/>
            <a:ext cx="3749039" cy="64008"/>
          </a:xfrm>
          <a:prstGeom prst="rect">
            <a:avLst/>
          </a:prstGeom>
          <a:solidFill>
            <a:srgbClr val="8A2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041648"/>
            <a:ext cx="3657600" cy="777240"/>
          </a:xfrm>
          <a:prstGeom prst="rect">
            <a:avLst/>
          </a:prstGeom>
          <a:noFill/>
        </p:spPr>
        <p:txBody>
          <a:bodyPr wrap="square">
            <a:spAutoFit/>
          </a:bodyPr>
          <a:lstStyle/>
          <a:p>
            <a:pPr algn="l"/>
            <a:r>
              <a:rPr sz="3400" b="1" i="0">
                <a:solidFill>
                  <a:srgbClr val="8A2BE2"/>
                </a:solidFill>
              </a:rPr>
              <a:t>8 Tab</a:t>
            </a:r>
          </a:p>
        </p:txBody>
      </p:sp>
      <p:sp>
        <p:nvSpPr>
          <p:cNvPr id="25" name="TextBox 24"/>
          <p:cNvSpPr txBox="1"/>
          <p:nvPr/>
        </p:nvSpPr>
        <p:spPr>
          <a:xfrm>
            <a:off x="457200" y="4800600"/>
            <a:ext cx="3474720" cy="457200"/>
          </a:xfrm>
          <a:prstGeom prst="rect">
            <a:avLst/>
          </a:prstGeom>
          <a:noFill/>
        </p:spPr>
        <p:txBody>
          <a:bodyPr wrap="square">
            <a:spAutoFit/>
          </a:bodyPr>
          <a:lstStyle/>
          <a:p>
            <a:pPr algn="l"/>
            <a:r>
              <a:rPr sz="1500" b="1" i="0">
                <a:solidFill>
                  <a:srgbClr val="FFFFFF"/>
                </a:solidFill>
              </a:rPr>
              <a:t>داشبورد تحلیلی</a:t>
            </a:r>
          </a:p>
        </p:txBody>
      </p:sp>
      <p:sp>
        <p:nvSpPr>
          <p:cNvPr id="26" name="TextBox 25"/>
          <p:cNvSpPr txBox="1"/>
          <p:nvPr/>
        </p:nvSpPr>
        <p:spPr>
          <a:xfrm>
            <a:off x="457200" y="5257800"/>
            <a:ext cx="3474720" cy="731520"/>
          </a:xfrm>
          <a:prstGeom prst="rect">
            <a:avLst/>
          </a:prstGeom>
          <a:noFill/>
        </p:spPr>
        <p:txBody>
          <a:bodyPr wrap="square">
            <a:spAutoFit/>
          </a:bodyPr>
          <a:lstStyle/>
          <a:p>
            <a:pPr algn="l"/>
            <a:r>
              <a:rPr sz="1200" b="0" i="0">
                <a:solidFill>
                  <a:srgbClr val="C8D2E6"/>
                </a:solidFill>
              </a:rPr>
              <a:t>ابزار بصری تعاملی</a:t>
            </a:r>
          </a:p>
        </p:txBody>
      </p:sp>
      <p:sp>
        <p:nvSpPr>
          <p:cNvPr id="27" name="Rectangle 26"/>
          <p:cNvSpPr/>
          <p:nvPr/>
        </p:nvSpPr>
        <p:spPr>
          <a:xfrm>
            <a:off x="4297679" y="3931920"/>
            <a:ext cx="3749039" cy="22402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7679" y="3931920"/>
            <a:ext cx="3749039" cy="64008"/>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34840" y="4041648"/>
            <a:ext cx="3657600" cy="777240"/>
          </a:xfrm>
          <a:prstGeom prst="rect">
            <a:avLst/>
          </a:prstGeom>
          <a:noFill/>
        </p:spPr>
        <p:txBody>
          <a:bodyPr wrap="square">
            <a:spAutoFit/>
          </a:bodyPr>
          <a:lstStyle/>
          <a:p>
            <a:pPr algn="l"/>
            <a:r>
              <a:rPr sz="3400" b="1" i="0">
                <a:solidFill>
                  <a:srgbClr val="00A2FF"/>
                </a:solidFill>
              </a:rPr>
              <a:t>CTDE</a:t>
            </a:r>
          </a:p>
        </p:txBody>
      </p:sp>
      <p:sp>
        <p:nvSpPr>
          <p:cNvPr id="30" name="TextBox 29"/>
          <p:cNvSpPr txBox="1"/>
          <p:nvPr/>
        </p:nvSpPr>
        <p:spPr>
          <a:xfrm>
            <a:off x="4434840" y="4800600"/>
            <a:ext cx="3474720" cy="457200"/>
          </a:xfrm>
          <a:prstGeom prst="rect">
            <a:avLst/>
          </a:prstGeom>
          <a:noFill/>
        </p:spPr>
        <p:txBody>
          <a:bodyPr wrap="square">
            <a:spAutoFit/>
          </a:bodyPr>
          <a:lstStyle/>
          <a:p>
            <a:pPr algn="l"/>
            <a:r>
              <a:rPr sz="1500" b="1" i="0">
                <a:solidFill>
                  <a:srgbClr val="FFFFFF"/>
                </a:solidFill>
              </a:rPr>
              <a:t>معماری هوشمند</a:t>
            </a:r>
          </a:p>
        </p:txBody>
      </p:sp>
      <p:sp>
        <p:nvSpPr>
          <p:cNvPr id="31" name="TextBox 30"/>
          <p:cNvSpPr txBox="1"/>
          <p:nvPr/>
        </p:nvSpPr>
        <p:spPr>
          <a:xfrm>
            <a:off x="4434840" y="5257800"/>
            <a:ext cx="3474720" cy="731520"/>
          </a:xfrm>
          <a:prstGeom prst="rect">
            <a:avLst/>
          </a:prstGeom>
          <a:noFill/>
        </p:spPr>
        <p:txBody>
          <a:bodyPr wrap="square">
            <a:spAutoFit/>
          </a:bodyPr>
          <a:lstStyle/>
          <a:p>
            <a:pPr algn="l"/>
            <a:r>
              <a:rPr sz="1200" b="0" i="0">
                <a:solidFill>
                  <a:srgbClr val="C8D2E6"/>
                </a:solidFill>
              </a:rPr>
              <a:t>آموزش مرکزی + اجرای توزیع‌شده</a:t>
            </a:r>
          </a:p>
        </p:txBody>
      </p:sp>
      <p:sp>
        <p:nvSpPr>
          <p:cNvPr id="32" name="Rectangle 31"/>
          <p:cNvSpPr/>
          <p:nvPr/>
        </p:nvSpPr>
        <p:spPr>
          <a:xfrm>
            <a:off x="8275319" y="3931920"/>
            <a:ext cx="3749039" cy="224028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75319" y="3931920"/>
            <a:ext cx="3749039"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0" y="4041648"/>
            <a:ext cx="3657600" cy="777240"/>
          </a:xfrm>
          <a:prstGeom prst="rect">
            <a:avLst/>
          </a:prstGeom>
          <a:noFill/>
        </p:spPr>
        <p:txBody>
          <a:bodyPr wrap="square">
            <a:spAutoFit/>
          </a:bodyPr>
          <a:lstStyle/>
          <a:p>
            <a:pPr algn="l"/>
            <a:r>
              <a:rPr sz="3400" b="1" i="0">
                <a:solidFill>
                  <a:srgbClr val="FF8C00"/>
                </a:solidFill>
              </a:rPr>
              <a:t>MINLP</a:t>
            </a:r>
          </a:p>
        </p:txBody>
      </p:sp>
      <p:sp>
        <p:nvSpPr>
          <p:cNvPr id="35" name="TextBox 34"/>
          <p:cNvSpPr txBox="1"/>
          <p:nvPr/>
        </p:nvSpPr>
        <p:spPr>
          <a:xfrm>
            <a:off x="8412480" y="4800600"/>
            <a:ext cx="3474720" cy="457200"/>
          </a:xfrm>
          <a:prstGeom prst="rect">
            <a:avLst/>
          </a:prstGeom>
          <a:noFill/>
        </p:spPr>
        <p:txBody>
          <a:bodyPr wrap="square">
            <a:spAutoFit/>
          </a:bodyPr>
          <a:lstStyle/>
          <a:p>
            <a:pPr algn="l"/>
            <a:r>
              <a:rPr sz="1500" b="1" i="0">
                <a:solidFill>
                  <a:srgbClr val="FFFFFF"/>
                </a:solidFill>
              </a:rPr>
              <a:t>فرمول‌بندی دقیق</a:t>
            </a:r>
          </a:p>
        </p:txBody>
      </p:sp>
      <p:sp>
        <p:nvSpPr>
          <p:cNvPr id="36" name="TextBox 35"/>
          <p:cNvSpPr txBox="1"/>
          <p:nvPr/>
        </p:nvSpPr>
        <p:spPr>
          <a:xfrm>
            <a:off x="8412480" y="5257800"/>
            <a:ext cx="3474720" cy="731520"/>
          </a:xfrm>
          <a:prstGeom prst="rect">
            <a:avLst/>
          </a:prstGeom>
          <a:noFill/>
        </p:spPr>
        <p:txBody>
          <a:bodyPr wrap="square">
            <a:spAutoFit/>
          </a:bodyPr>
          <a:lstStyle/>
          <a:p>
            <a:pPr algn="l"/>
            <a:r>
              <a:rPr sz="1200" b="0" i="0">
                <a:solidFill>
                  <a:srgbClr val="C8D2E6"/>
                </a:solidFill>
              </a:rPr>
              <a:t>مدل ریاضی جامع</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45720"/>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188720"/>
          </a:xfrm>
          <a:prstGeom prst="rect">
            <a:avLst/>
          </a:prstGeom>
          <a:solidFill>
            <a:srgbClr val="00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9144000" cy="731520"/>
          </a:xfrm>
          <a:prstGeom prst="rect">
            <a:avLst/>
          </a:prstGeom>
          <a:noFill/>
        </p:spPr>
        <p:txBody>
          <a:bodyPr wrap="square">
            <a:spAutoFit/>
          </a:bodyPr>
          <a:lstStyle/>
          <a:p>
            <a:pPr algn="l"/>
            <a:r>
              <a:rPr sz="3000" b="1" i="0">
                <a:solidFill>
                  <a:srgbClr val="FFFFFF"/>
                </a:solidFill>
              </a:rPr>
              <a:t>🔭  محدودیت‌ها و پیشنهادات آینده</a:t>
            </a:r>
          </a:p>
        </p:txBody>
      </p:sp>
      <p:sp>
        <p:nvSpPr>
          <p:cNvPr id="6" name="TextBox 5"/>
          <p:cNvSpPr txBox="1"/>
          <p:nvPr/>
        </p:nvSpPr>
        <p:spPr>
          <a:xfrm>
            <a:off x="228600" y="749808"/>
            <a:ext cx="9144000" cy="365760"/>
          </a:xfrm>
          <a:prstGeom prst="rect">
            <a:avLst/>
          </a:prstGeom>
          <a:noFill/>
        </p:spPr>
        <p:txBody>
          <a:bodyPr wrap="square">
            <a:spAutoFit/>
          </a:bodyPr>
          <a:lstStyle/>
          <a:p>
            <a:pPr algn="l"/>
            <a:r>
              <a:rPr sz="1300" b="0" i="1">
                <a:solidFill>
                  <a:srgbClr val="00E6D2"/>
                </a:solidFill>
              </a:rPr>
              <a:t>Limitations &amp; Future Work</a:t>
            </a:r>
          </a:p>
        </p:txBody>
      </p:sp>
      <p:sp>
        <p:nvSpPr>
          <p:cNvPr id="7" name="Rectangle 6"/>
          <p:cNvSpPr/>
          <p:nvPr/>
        </p:nvSpPr>
        <p:spPr>
          <a:xfrm>
            <a:off x="320040" y="1371600"/>
            <a:ext cx="5486400" cy="512064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371600"/>
            <a:ext cx="5486400"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36192"/>
            <a:ext cx="5212080" cy="4892040"/>
          </a:xfrm>
          <a:prstGeom prst="rect">
            <a:avLst/>
          </a:prstGeom>
          <a:noFill/>
        </p:spPr>
        <p:txBody>
          <a:bodyPr wrap="square">
            <a:spAutoFit/>
          </a:bodyPr>
          <a:lstStyle/>
          <a:p>
            <a:pPr algn="l"/>
            <a:r>
              <a:rPr sz="1800" b="1" i="0">
                <a:solidFill>
                  <a:srgbClr val="FF8C00"/>
                </a:solidFill>
              </a:rPr>
              <a:t>⚠️  محدودیت‌های پژوهش</a:t>
            </a:r>
          </a:p>
          <a:p>
            <a:pPr algn="l"/>
            <a:r>
              <a:rPr sz="1500" b="0" i="0">
                <a:solidFill>
                  <a:srgbClr val="C8D2E6"/>
                </a:solidFill>
              </a:rPr>
              <a:t>  📏  مقیاس کوچک شبیه‌سازی (4-8 پهپاد)</a:t>
            </a:r>
          </a:p>
          <a:p>
            <a:pPr algn="l"/>
            <a:r>
              <a:rPr sz="1500" b="0" i="0">
                <a:solidFill>
                  <a:srgbClr val="C8D2E6"/>
                </a:solidFill>
              </a:rPr>
              <a:t>  📡  مدل ساده‌شده کانال ارتباطی</a:t>
            </a:r>
          </a:p>
          <a:p>
            <a:pPr algn="l"/>
            <a:r>
              <a:rPr sz="1500" b="0" i="0">
                <a:solidFill>
                  <a:srgbClr val="C8D2E6"/>
                </a:solidFill>
              </a:rPr>
              <a:t>  ☁️  عدم در نظر گرفتن شرایط آب و هوا</a:t>
            </a:r>
          </a:p>
          <a:p>
            <a:pPr algn="l"/>
            <a:r>
              <a:rPr sz="1500" b="0" i="0">
                <a:solidFill>
                  <a:srgbClr val="C8D2E6"/>
                </a:solidFill>
              </a:rPr>
              <a:t>  🖥️  عدم پیاده‌سازی روی سخت‌افزار واقعی</a:t>
            </a:r>
          </a:p>
          <a:p>
            <a:pPr algn="l"/>
            <a:r>
              <a:rPr sz="1500" b="0" i="0">
                <a:solidFill>
                  <a:srgbClr val="C8D2E6"/>
                </a:solidFill>
              </a:rPr>
              <a:t>  🔒  عدم بررسی تهدیدات امنیت سایبری</a:t>
            </a:r>
          </a:p>
        </p:txBody>
      </p:sp>
      <p:sp>
        <p:nvSpPr>
          <p:cNvPr id="10" name="Rectangle 9"/>
          <p:cNvSpPr/>
          <p:nvPr/>
        </p:nvSpPr>
        <p:spPr>
          <a:xfrm>
            <a:off x="6126480" y="1371600"/>
            <a:ext cx="5486400" cy="512064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0" y="1371600"/>
            <a:ext cx="5486400" cy="54864"/>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0" y="1536192"/>
            <a:ext cx="5212080" cy="4892040"/>
          </a:xfrm>
          <a:prstGeom prst="rect">
            <a:avLst/>
          </a:prstGeom>
          <a:noFill/>
        </p:spPr>
        <p:txBody>
          <a:bodyPr wrap="square">
            <a:spAutoFit/>
          </a:bodyPr>
          <a:lstStyle/>
          <a:p>
            <a:pPr algn="l"/>
            <a:r>
              <a:rPr sz="1800" b="1" i="0">
                <a:solidFill>
                  <a:srgbClr val="39FF14"/>
                </a:solidFill>
              </a:rPr>
              <a:t>🚀  پیشنهادات تحقیقات آینده</a:t>
            </a:r>
          </a:p>
          <a:p>
            <a:pPr algn="l"/>
            <a:r>
              <a:rPr sz="1500" b="0" i="0">
                <a:solidFill>
                  <a:srgbClr val="C8D2E6"/>
                </a:solidFill>
              </a:rPr>
              <a:t>  📈  مقیاس‌پذیری به صدها پهپاد</a:t>
            </a:r>
          </a:p>
          <a:p>
            <a:pPr algn="l"/>
            <a:r>
              <a:rPr sz="1500" b="0" i="0">
                <a:solidFill>
                  <a:srgbClr val="C8D2E6"/>
                </a:solidFill>
              </a:rPr>
              <a:t>  🤝  ترکیب با Federated Learning</a:t>
            </a:r>
          </a:p>
          <a:p>
            <a:pPr algn="l"/>
            <a:r>
              <a:rPr sz="1500" b="0" i="0">
                <a:solidFill>
                  <a:srgbClr val="C8D2E6"/>
                </a:solidFill>
              </a:rPr>
              <a:t>  🛩️  پیاده‌سازی روی پلتفرم واقعی</a:t>
            </a:r>
          </a:p>
          <a:p>
            <a:pPr algn="l"/>
            <a:r>
              <a:rPr sz="1500" b="0" i="0">
                <a:solidFill>
                  <a:srgbClr val="C8D2E6"/>
                </a:solidFill>
              </a:rPr>
              <a:t>  📡  مدل کانال واقعی‌تر + تداخل</a:t>
            </a:r>
          </a:p>
          <a:p>
            <a:pPr algn="l"/>
            <a:r>
              <a:rPr sz="1500" b="0" i="0">
                <a:solidFill>
                  <a:srgbClr val="C8D2E6"/>
                </a:solidFill>
              </a:rPr>
              <a:t>  🔐  افزودن سناریوهای امنیتی</a:t>
            </a:r>
          </a:p>
          <a:p>
            <a:pPr algn="l"/>
            <a:r>
              <a:rPr sz="1500" b="0" i="0">
                <a:solidFill>
                  <a:srgbClr val="C8D2E6"/>
                </a:solidFill>
              </a:rPr>
              <a:t>  ⚡  الگوریتم‌های جدیدتر: PPO, SAC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Rectangle 1"/>
          <p:cNvSpPr/>
          <p:nvPr/>
        </p:nvSpPr>
        <p:spPr>
          <a:xfrm>
            <a:off x="0" y="0"/>
            <a:ext cx="12188952" cy="118872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70432"/>
            <a:ext cx="12188952" cy="45720"/>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73152" cy="1188720"/>
          </a:xfrm>
          <a:prstGeom prst="rect">
            <a:avLst/>
          </a:prstGeom>
          <a:solidFill>
            <a:srgbClr val="00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64592"/>
            <a:ext cx="9144000" cy="731520"/>
          </a:xfrm>
          <a:prstGeom prst="rect">
            <a:avLst/>
          </a:prstGeom>
          <a:noFill/>
        </p:spPr>
        <p:txBody>
          <a:bodyPr wrap="square">
            <a:spAutoFit/>
          </a:bodyPr>
          <a:lstStyle/>
          <a:p>
            <a:pPr algn="l"/>
            <a:r>
              <a:rPr sz="3000" b="1" i="0">
                <a:solidFill>
                  <a:srgbClr val="FFFFFF"/>
                </a:solidFill>
              </a:rPr>
              <a:t>📝  نتیجه‌گیری</a:t>
            </a:r>
          </a:p>
        </p:txBody>
      </p:sp>
      <p:sp>
        <p:nvSpPr>
          <p:cNvPr id="6" name="TextBox 5"/>
          <p:cNvSpPr txBox="1"/>
          <p:nvPr/>
        </p:nvSpPr>
        <p:spPr>
          <a:xfrm>
            <a:off x="228600" y="749808"/>
            <a:ext cx="9144000" cy="365760"/>
          </a:xfrm>
          <a:prstGeom prst="rect">
            <a:avLst/>
          </a:prstGeom>
          <a:noFill/>
        </p:spPr>
        <p:txBody>
          <a:bodyPr wrap="square">
            <a:spAutoFit/>
          </a:bodyPr>
          <a:lstStyle/>
          <a:p>
            <a:pPr algn="l"/>
            <a:r>
              <a:rPr sz="1300" b="0" i="1">
                <a:solidFill>
                  <a:srgbClr val="00E6D2"/>
                </a:solidFill>
              </a:rPr>
              <a:t>Conclusion</a:t>
            </a:r>
          </a:p>
        </p:txBody>
      </p:sp>
      <p:sp>
        <p:nvSpPr>
          <p:cNvPr id="7" name="Rectangle 6"/>
          <p:cNvSpPr/>
          <p:nvPr/>
        </p:nvSpPr>
        <p:spPr>
          <a:xfrm>
            <a:off x="320040" y="1371600"/>
            <a:ext cx="11521440" cy="1371600"/>
          </a:xfrm>
          <a:prstGeom prst="rect">
            <a:avLst/>
          </a:prstGeom>
          <a:solidFill>
            <a:srgbClr val="0A1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371600"/>
            <a:ext cx="91440" cy="1371600"/>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463040"/>
            <a:ext cx="11064240" cy="1188720"/>
          </a:xfrm>
          <a:prstGeom prst="rect">
            <a:avLst/>
          </a:prstGeom>
          <a:noFill/>
        </p:spPr>
        <p:txBody>
          <a:bodyPr wrap="square">
            <a:spAutoFit/>
          </a:bodyPr>
          <a:lstStyle/>
          <a:p>
            <a:pPr algn="l"/>
            <a:r>
              <a:rPr sz="1500" b="0" i="0">
                <a:solidFill>
                  <a:srgbClr val="FFFFFF"/>
                </a:solidFill>
              </a:rPr>
              <a:t>این پژوهش سیستم SkyMind را برای بهینه‌سازی تخلیه محاسباتی در شبکه پهپادها با استفاده از MADDPG طراحی کرد. نتایج نشان می‌دهد که یادگیری تقویتی چند عاملی می‌تواند به‌طور همزمان مصرف انرژی را ۵۹٪ و تأخیر را ۶۲٪ کاهش دهد.</a:t>
            </a:r>
          </a:p>
        </p:txBody>
      </p:sp>
      <p:sp>
        <p:nvSpPr>
          <p:cNvPr id="10" name="Rectangle 9"/>
          <p:cNvSpPr/>
          <p:nvPr/>
        </p:nvSpPr>
        <p:spPr>
          <a:xfrm>
            <a:off x="320040" y="2926080"/>
            <a:ext cx="3749039" cy="356616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2926080"/>
            <a:ext cx="3749039" cy="64008"/>
          </a:xfrm>
          <a:prstGeom prst="rect">
            <a:avLst/>
          </a:prstGeom>
          <a:solidFill>
            <a:srgbClr val="00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017520"/>
            <a:ext cx="548640" cy="548640"/>
          </a:xfrm>
          <a:prstGeom prst="rect">
            <a:avLst/>
          </a:prstGeom>
          <a:noFill/>
        </p:spPr>
        <p:txBody>
          <a:bodyPr wrap="square">
            <a:spAutoFit/>
          </a:bodyPr>
          <a:lstStyle/>
          <a:p>
            <a:pPr algn="l"/>
            <a:r>
              <a:rPr sz="2600" b="0" i="0">
                <a:solidFill>
                  <a:srgbClr val="FFFFFF"/>
                </a:solidFill>
              </a:rPr>
              <a:t>🔬</a:t>
            </a:r>
          </a:p>
        </p:txBody>
      </p:sp>
      <p:sp>
        <p:nvSpPr>
          <p:cNvPr id="13" name="TextBox 12"/>
          <p:cNvSpPr txBox="1"/>
          <p:nvPr/>
        </p:nvSpPr>
        <p:spPr>
          <a:xfrm>
            <a:off x="1097280" y="3017520"/>
            <a:ext cx="2834640" cy="457200"/>
          </a:xfrm>
          <a:prstGeom prst="rect">
            <a:avLst/>
          </a:prstGeom>
          <a:noFill/>
        </p:spPr>
        <p:txBody>
          <a:bodyPr wrap="square">
            <a:spAutoFit/>
          </a:bodyPr>
          <a:lstStyle/>
          <a:p>
            <a:pPr algn="l"/>
            <a:r>
              <a:rPr sz="1700" b="1" i="0">
                <a:solidFill>
                  <a:srgbClr val="00E6D2"/>
                </a:solidFill>
              </a:rPr>
              <a:t>سهم علمی</a:t>
            </a:r>
          </a:p>
        </p:txBody>
      </p:sp>
      <p:sp>
        <p:nvSpPr>
          <p:cNvPr id="14" name="TextBox 13"/>
          <p:cNvSpPr txBox="1"/>
          <p:nvPr/>
        </p:nvSpPr>
        <p:spPr>
          <a:xfrm>
            <a:off x="457200" y="3703320"/>
            <a:ext cx="3474720" cy="731520"/>
          </a:xfrm>
          <a:prstGeom prst="rect">
            <a:avLst/>
          </a:prstGeom>
          <a:noFill/>
        </p:spPr>
        <p:txBody>
          <a:bodyPr wrap="square">
            <a:spAutoFit/>
          </a:bodyPr>
          <a:lstStyle/>
          <a:p>
            <a:pPr algn="l"/>
            <a:r>
              <a:rPr sz="1400" b="0" i="0">
                <a:solidFill>
                  <a:srgbClr val="FFFFFF"/>
                </a:solidFill>
              </a:rPr>
              <a:t>✓  فرمول‌بندی MINLP جامع</a:t>
            </a:r>
          </a:p>
        </p:txBody>
      </p:sp>
      <p:sp>
        <p:nvSpPr>
          <p:cNvPr id="15" name="TextBox 14"/>
          <p:cNvSpPr txBox="1"/>
          <p:nvPr/>
        </p:nvSpPr>
        <p:spPr>
          <a:xfrm>
            <a:off x="457200" y="4526280"/>
            <a:ext cx="3474720" cy="731520"/>
          </a:xfrm>
          <a:prstGeom prst="rect">
            <a:avLst/>
          </a:prstGeom>
          <a:noFill/>
        </p:spPr>
        <p:txBody>
          <a:bodyPr wrap="square">
            <a:spAutoFit/>
          </a:bodyPr>
          <a:lstStyle/>
          <a:p>
            <a:pPr algn="l"/>
            <a:r>
              <a:rPr sz="1400" b="0" i="0">
                <a:solidFill>
                  <a:srgbClr val="FFFFFF"/>
                </a:solidFill>
              </a:rPr>
              <a:t>✓  پیاده‌سازی MADDPG</a:t>
            </a:r>
          </a:p>
        </p:txBody>
      </p:sp>
      <p:sp>
        <p:nvSpPr>
          <p:cNvPr id="16" name="TextBox 15"/>
          <p:cNvSpPr txBox="1"/>
          <p:nvPr/>
        </p:nvSpPr>
        <p:spPr>
          <a:xfrm>
            <a:off x="457200" y="5349240"/>
            <a:ext cx="3474720" cy="731520"/>
          </a:xfrm>
          <a:prstGeom prst="rect">
            <a:avLst/>
          </a:prstGeom>
          <a:noFill/>
        </p:spPr>
        <p:txBody>
          <a:bodyPr wrap="square">
            <a:spAutoFit/>
          </a:bodyPr>
          <a:lstStyle/>
          <a:p>
            <a:pPr algn="l"/>
            <a:r>
              <a:rPr sz="1400" b="0" i="0">
                <a:solidFill>
                  <a:srgbClr val="FFFFFF"/>
                </a:solidFill>
              </a:rPr>
              <a:t>✓  داشبورد ۸ تبی</a:t>
            </a:r>
          </a:p>
        </p:txBody>
      </p:sp>
      <p:sp>
        <p:nvSpPr>
          <p:cNvPr id="17" name="Rectangle 16"/>
          <p:cNvSpPr/>
          <p:nvPr/>
        </p:nvSpPr>
        <p:spPr>
          <a:xfrm>
            <a:off x="4297679" y="2926080"/>
            <a:ext cx="3749039" cy="356616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97679" y="2926080"/>
            <a:ext cx="3749039" cy="64008"/>
          </a:xfrm>
          <a:prstGeom prst="rect">
            <a:avLst/>
          </a:prstGeom>
          <a:solidFill>
            <a:srgbClr val="39FF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3017520"/>
            <a:ext cx="548640" cy="548640"/>
          </a:xfrm>
          <a:prstGeom prst="rect">
            <a:avLst/>
          </a:prstGeom>
          <a:noFill/>
        </p:spPr>
        <p:txBody>
          <a:bodyPr wrap="square">
            <a:spAutoFit/>
          </a:bodyPr>
          <a:lstStyle/>
          <a:p>
            <a:pPr algn="l"/>
            <a:r>
              <a:rPr sz="2600" b="0" i="0">
                <a:solidFill>
                  <a:srgbClr val="FFFFFF"/>
                </a:solidFill>
              </a:rPr>
              <a:t>📊</a:t>
            </a:r>
          </a:p>
        </p:txBody>
      </p:sp>
      <p:sp>
        <p:nvSpPr>
          <p:cNvPr id="20" name="TextBox 19"/>
          <p:cNvSpPr txBox="1"/>
          <p:nvPr/>
        </p:nvSpPr>
        <p:spPr>
          <a:xfrm>
            <a:off x="5074919" y="3017520"/>
            <a:ext cx="2834640" cy="457200"/>
          </a:xfrm>
          <a:prstGeom prst="rect">
            <a:avLst/>
          </a:prstGeom>
          <a:noFill/>
        </p:spPr>
        <p:txBody>
          <a:bodyPr wrap="square">
            <a:spAutoFit/>
          </a:bodyPr>
          <a:lstStyle/>
          <a:p>
            <a:pPr algn="l"/>
            <a:r>
              <a:rPr sz="1700" b="1" i="0">
                <a:solidFill>
                  <a:srgbClr val="39FF14"/>
                </a:solidFill>
              </a:rPr>
              <a:t>نتایج عددی</a:t>
            </a:r>
          </a:p>
        </p:txBody>
      </p:sp>
      <p:sp>
        <p:nvSpPr>
          <p:cNvPr id="21" name="TextBox 20"/>
          <p:cNvSpPr txBox="1"/>
          <p:nvPr/>
        </p:nvSpPr>
        <p:spPr>
          <a:xfrm>
            <a:off x="4434840" y="3703320"/>
            <a:ext cx="3474720" cy="731520"/>
          </a:xfrm>
          <a:prstGeom prst="rect">
            <a:avLst/>
          </a:prstGeom>
          <a:noFill/>
        </p:spPr>
        <p:txBody>
          <a:bodyPr wrap="square">
            <a:spAutoFit/>
          </a:bodyPr>
          <a:lstStyle/>
          <a:p>
            <a:pPr algn="l"/>
            <a:r>
              <a:rPr sz="1400" b="0" i="0">
                <a:solidFill>
                  <a:srgbClr val="FFFFFF"/>
                </a:solidFill>
              </a:rPr>
              <a:t>✓  ↓59% انرژی</a:t>
            </a:r>
          </a:p>
        </p:txBody>
      </p:sp>
      <p:sp>
        <p:nvSpPr>
          <p:cNvPr id="22" name="TextBox 21"/>
          <p:cNvSpPr txBox="1"/>
          <p:nvPr/>
        </p:nvSpPr>
        <p:spPr>
          <a:xfrm>
            <a:off x="4434840" y="4526280"/>
            <a:ext cx="3474720" cy="731520"/>
          </a:xfrm>
          <a:prstGeom prst="rect">
            <a:avLst/>
          </a:prstGeom>
          <a:noFill/>
        </p:spPr>
        <p:txBody>
          <a:bodyPr wrap="square">
            <a:spAutoFit/>
          </a:bodyPr>
          <a:lstStyle/>
          <a:p>
            <a:pPr algn="l"/>
            <a:r>
              <a:rPr sz="1400" b="0" i="0">
                <a:solidFill>
                  <a:srgbClr val="FFFFFF"/>
                </a:solidFill>
              </a:rPr>
              <a:t>✓  ↓62% تأخیر</a:t>
            </a:r>
          </a:p>
        </p:txBody>
      </p:sp>
      <p:sp>
        <p:nvSpPr>
          <p:cNvPr id="23" name="TextBox 22"/>
          <p:cNvSpPr txBox="1"/>
          <p:nvPr/>
        </p:nvSpPr>
        <p:spPr>
          <a:xfrm>
            <a:off x="4434840" y="5349240"/>
            <a:ext cx="3474720" cy="731520"/>
          </a:xfrm>
          <a:prstGeom prst="rect">
            <a:avLst/>
          </a:prstGeom>
          <a:noFill/>
        </p:spPr>
        <p:txBody>
          <a:bodyPr wrap="square">
            <a:spAutoFit/>
          </a:bodyPr>
          <a:lstStyle/>
          <a:p>
            <a:pPr algn="l"/>
            <a:r>
              <a:rPr sz="1400" b="0" i="0">
                <a:solidFill>
                  <a:srgbClr val="FFFFFF"/>
                </a:solidFill>
              </a:rPr>
              <a:t>✓  ↑18% موفقیت</a:t>
            </a:r>
          </a:p>
        </p:txBody>
      </p:sp>
      <p:sp>
        <p:nvSpPr>
          <p:cNvPr id="24" name="Rectangle 23"/>
          <p:cNvSpPr/>
          <p:nvPr/>
        </p:nvSpPr>
        <p:spPr>
          <a:xfrm>
            <a:off x="8275319" y="2926080"/>
            <a:ext cx="3749039" cy="3566160"/>
          </a:xfrm>
          <a:prstGeom prst="rect">
            <a:avLst/>
          </a:prstGeom>
          <a:solidFill>
            <a:srgbClr val="14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75319" y="2926080"/>
            <a:ext cx="3749039" cy="64008"/>
          </a:xfrm>
          <a:prstGeom prst="rect">
            <a:avLst/>
          </a:prstGeom>
          <a:solidFill>
            <a:srgbClr val="8A2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0" y="3017520"/>
            <a:ext cx="548640" cy="548640"/>
          </a:xfrm>
          <a:prstGeom prst="rect">
            <a:avLst/>
          </a:prstGeom>
          <a:noFill/>
        </p:spPr>
        <p:txBody>
          <a:bodyPr wrap="square">
            <a:spAutoFit/>
          </a:bodyPr>
          <a:lstStyle/>
          <a:p>
            <a:pPr algn="l"/>
            <a:r>
              <a:rPr sz="2600" b="0" i="0">
                <a:solidFill>
                  <a:srgbClr val="FFFFFF"/>
                </a:solidFill>
              </a:rPr>
              <a:t>💼</a:t>
            </a:r>
          </a:p>
        </p:txBody>
      </p:sp>
      <p:sp>
        <p:nvSpPr>
          <p:cNvPr id="27" name="TextBox 26"/>
          <p:cNvSpPr txBox="1"/>
          <p:nvPr/>
        </p:nvSpPr>
        <p:spPr>
          <a:xfrm>
            <a:off x="9052559" y="3017520"/>
            <a:ext cx="2834640" cy="457200"/>
          </a:xfrm>
          <a:prstGeom prst="rect">
            <a:avLst/>
          </a:prstGeom>
          <a:noFill/>
        </p:spPr>
        <p:txBody>
          <a:bodyPr wrap="square">
            <a:spAutoFit/>
          </a:bodyPr>
          <a:lstStyle/>
          <a:p>
            <a:pPr algn="l"/>
            <a:r>
              <a:rPr sz="1700" b="1" i="0">
                <a:solidFill>
                  <a:srgbClr val="8A2BE2"/>
                </a:solidFill>
              </a:rPr>
              <a:t>کاربردها</a:t>
            </a:r>
          </a:p>
        </p:txBody>
      </p:sp>
      <p:sp>
        <p:nvSpPr>
          <p:cNvPr id="28" name="TextBox 27"/>
          <p:cNvSpPr txBox="1"/>
          <p:nvPr/>
        </p:nvSpPr>
        <p:spPr>
          <a:xfrm>
            <a:off x="8412480" y="3703320"/>
            <a:ext cx="3474720" cy="731520"/>
          </a:xfrm>
          <a:prstGeom prst="rect">
            <a:avLst/>
          </a:prstGeom>
          <a:noFill/>
        </p:spPr>
        <p:txBody>
          <a:bodyPr wrap="square">
            <a:spAutoFit/>
          </a:bodyPr>
          <a:lstStyle/>
          <a:p>
            <a:pPr algn="l"/>
            <a:r>
              <a:rPr sz="1400" b="0" i="0">
                <a:solidFill>
                  <a:srgbClr val="FFFFFF"/>
                </a:solidFill>
              </a:rPr>
              <a:t>✓  امداد و نجات</a:t>
            </a:r>
          </a:p>
        </p:txBody>
      </p:sp>
      <p:sp>
        <p:nvSpPr>
          <p:cNvPr id="29" name="TextBox 28"/>
          <p:cNvSpPr txBox="1"/>
          <p:nvPr/>
        </p:nvSpPr>
        <p:spPr>
          <a:xfrm>
            <a:off x="8412480" y="4526280"/>
            <a:ext cx="3474720" cy="731520"/>
          </a:xfrm>
          <a:prstGeom prst="rect">
            <a:avLst/>
          </a:prstGeom>
          <a:noFill/>
        </p:spPr>
        <p:txBody>
          <a:bodyPr wrap="square">
            <a:spAutoFit/>
          </a:bodyPr>
          <a:lstStyle/>
          <a:p>
            <a:pPr algn="l"/>
            <a:r>
              <a:rPr sz="1400" b="0" i="0">
                <a:solidFill>
                  <a:srgbClr val="FFFFFF"/>
                </a:solidFill>
              </a:rPr>
              <a:t>✓  نظارت هوشمند شهری</a:t>
            </a:r>
          </a:p>
        </p:txBody>
      </p:sp>
      <p:sp>
        <p:nvSpPr>
          <p:cNvPr id="30" name="TextBox 29"/>
          <p:cNvSpPr txBox="1"/>
          <p:nvPr/>
        </p:nvSpPr>
        <p:spPr>
          <a:xfrm>
            <a:off x="8412480" y="5349240"/>
            <a:ext cx="3474720" cy="731520"/>
          </a:xfrm>
          <a:prstGeom prst="rect">
            <a:avLst/>
          </a:prstGeom>
          <a:noFill/>
        </p:spPr>
        <p:txBody>
          <a:bodyPr wrap="square">
            <a:spAutoFit/>
          </a:bodyPr>
          <a:lstStyle/>
          <a:p>
            <a:pPr algn="l"/>
            <a:r>
              <a:rPr sz="1400" b="0" i="0">
                <a:solidFill>
                  <a:srgbClr val="FFFFFF"/>
                </a:solidFill>
              </a:rPr>
              <a:t>✓  کشاورزی دقیق</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Oval 1"/>
          <p:cNvSpPr/>
          <p:nvPr/>
        </p:nvSpPr>
        <p:spPr>
          <a:xfrm>
            <a:off x="3749039" y="1097280"/>
            <a:ext cx="4572000" cy="4572000"/>
          </a:xfrm>
          <a:prstGeom prst="ellipse">
            <a:avLst/>
          </a:prstGeom>
          <a:solidFill>
            <a:srgbClr val="002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434840" y="1783080"/>
            <a:ext cx="3200400" cy="3200400"/>
          </a:xfrm>
          <a:prstGeom prst="ellipse">
            <a:avLst/>
          </a:prstGeom>
          <a:solidFill>
            <a:srgbClr val="0019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20640" y="2468880"/>
            <a:ext cx="1828800" cy="1828800"/>
          </a:xfrm>
          <a:prstGeom prst="ellipse">
            <a:avLst/>
          </a:prstGeom>
          <a:solidFill>
            <a:srgbClr val="003C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2188952"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0"/>
            <a:ext cx="12188952" cy="109728"/>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748272"/>
            <a:ext cx="12188952" cy="109728"/>
          </a:xfrm>
          <a:prstGeom prst="rect">
            <a:avLst/>
          </a:prstGeom>
          <a:solidFill>
            <a:srgbClr val="00E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097280"/>
            <a:ext cx="12188952" cy="822960"/>
          </a:xfrm>
          <a:prstGeom prst="rect">
            <a:avLst/>
          </a:prstGeom>
          <a:noFill/>
        </p:spPr>
        <p:txBody>
          <a:bodyPr wrap="square">
            <a:spAutoFit/>
          </a:bodyPr>
          <a:lstStyle/>
          <a:p>
            <a:pPr algn="ctr"/>
            <a:r>
              <a:rPr sz="5000" b="1" i="0">
                <a:solidFill>
                  <a:srgbClr val="00A2FF"/>
                </a:solidFill>
              </a:rPr>
              <a:t>✈  SkyMind</a:t>
            </a:r>
          </a:p>
        </p:txBody>
      </p:sp>
      <p:sp>
        <p:nvSpPr>
          <p:cNvPr id="9" name="TextBox 8"/>
          <p:cNvSpPr txBox="1"/>
          <p:nvPr/>
        </p:nvSpPr>
        <p:spPr>
          <a:xfrm>
            <a:off x="0" y="2103120"/>
            <a:ext cx="12188952" cy="731520"/>
          </a:xfrm>
          <a:prstGeom prst="rect">
            <a:avLst/>
          </a:prstGeom>
          <a:noFill/>
        </p:spPr>
        <p:txBody>
          <a:bodyPr wrap="square">
            <a:spAutoFit/>
          </a:bodyPr>
          <a:lstStyle/>
          <a:p>
            <a:pPr algn="ctr"/>
            <a:r>
              <a:rPr sz="3600" b="1" i="0">
                <a:solidFill>
                  <a:srgbClr val="FFFFFF"/>
                </a:solidFill>
              </a:rPr>
              <a:t>با تشکر از توجه شما</a:t>
            </a:r>
          </a:p>
        </p:txBody>
      </p:sp>
      <p:sp>
        <p:nvSpPr>
          <p:cNvPr id="10" name="TextBox 9"/>
          <p:cNvSpPr txBox="1"/>
          <p:nvPr/>
        </p:nvSpPr>
        <p:spPr>
          <a:xfrm>
            <a:off x="0" y="2926080"/>
            <a:ext cx="12188952" cy="640080"/>
          </a:xfrm>
          <a:prstGeom prst="rect">
            <a:avLst/>
          </a:prstGeom>
          <a:noFill/>
        </p:spPr>
        <p:txBody>
          <a:bodyPr wrap="square">
            <a:spAutoFit/>
          </a:bodyPr>
          <a:lstStyle/>
          <a:p>
            <a:pPr algn="ctr"/>
            <a:r>
              <a:rPr sz="2200" b="0" i="0">
                <a:solidFill>
                  <a:srgbClr val="00E6D2"/>
                </a:solidFill>
              </a:rPr>
              <a:t>🙋  آماده پاسخگویی به سوالات هستم</a:t>
            </a:r>
          </a:p>
        </p:txBody>
      </p:sp>
      <p:sp>
        <p:nvSpPr>
          <p:cNvPr id="11" name="Rectangle 10"/>
          <p:cNvSpPr/>
          <p:nvPr/>
        </p:nvSpPr>
        <p:spPr>
          <a:xfrm>
            <a:off x="3200400" y="3749039"/>
            <a:ext cx="5760720" cy="36576"/>
          </a:xfrm>
          <a:prstGeom prst="rect">
            <a:avLst/>
          </a:prstGeom>
          <a:solidFill>
            <a:srgbClr val="00A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0" y="4023360"/>
            <a:ext cx="12188952" cy="1371600"/>
          </a:xfrm>
          <a:prstGeom prst="rect">
            <a:avLst/>
          </a:prstGeom>
          <a:noFill/>
        </p:spPr>
        <p:txBody>
          <a:bodyPr wrap="square">
            <a:spAutoFit/>
          </a:bodyPr>
          <a:lstStyle/>
          <a:p>
            <a:pPr algn="ctr"/>
            <a:r>
              <a:rPr sz="1600" b="1" i="0">
                <a:solidFill>
                  <a:srgbClr val="FFFFFF"/>
                </a:solidFill>
              </a:rPr>
              <a:t>[نام دانشجو]</a:t>
            </a:r>
          </a:p>
          <a:p>
            <a:pPr algn="ctr"/>
            <a:r>
              <a:rPr sz="1300" b="0" i="0">
                <a:solidFill>
                  <a:srgbClr val="C8D2E6"/>
                </a:solidFill>
              </a:rPr>
              <a:t>[ایمیل دانشجو]</a:t>
            </a:r>
          </a:p>
          <a:p>
            <a:pPr algn="ctr"/>
            <a:r>
              <a:rPr sz="1300" b="0" i="0">
                <a:solidFill>
                  <a:srgbClr val="788CAA"/>
                </a:solidFill>
              </a:rPr>
              <a:t>بهمن ۱۴۰۴</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