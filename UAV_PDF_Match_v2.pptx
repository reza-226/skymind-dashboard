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66847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98300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66886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34640" y="152671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293468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277072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336182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5289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207181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99613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151416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97764" y="130304"/>
            <a:ext cx="822960" cy="168547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20724" y="130304"/>
            <a:ext cx="822960" cy="68586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43684" y="184675"/>
            <a:ext cx="822960" cy="14215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66644" y="184675"/>
            <a:ext cx="822960" cy="140797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89604" y="309076"/>
            <a:ext cx="822960" cy="16396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12564" y="309076"/>
            <a:ext cx="822960" cy="59110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35524" y="147293"/>
            <a:ext cx="822960" cy="220893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58484" y="147293"/>
            <a:ext cx="822960" cy="91892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81444" y="131617"/>
            <a:ext cx="822960" cy="107568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04404" y="131617"/>
            <a:ext cx="822960" cy="51803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7764" y="198890"/>
            <a:ext cx="1645920" cy="99961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43684" y="198890"/>
            <a:ext cx="1645920" cy="126582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89604" y="325472"/>
            <a:ext cx="1645920" cy="42714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35524" y="239185"/>
            <a:ext cx="1645920" cy="129001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81444" y="183420"/>
            <a:ext cx="1645920" cy="55765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760720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916168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71616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227064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382512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537960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693408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1371600"/>
            <a:ext cx="8229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ارائه راهکاری برای بهبود ارتباطات</a:t>
            </a:r>
          </a:p>
          <a:p>
            <a:pPr algn="ctr">
              <a:defRPr sz="3600" b="1">
                <a:solidFill>
                  <a:srgbClr val="FFFFFF"/>
                </a:solidFill>
              </a:defRPr>
            </a:pPr>
            <a:r>
              <a:t>پرنده‌های بدون سرنشین (UAV)</a:t>
            </a:r>
          </a:p>
          <a:p>
            <a:pPr algn="ctr">
              <a:defRPr sz="3200" b="1">
                <a:solidFill>
                  <a:srgbClr val="00D9FF"/>
                </a:solidFill>
              </a:defRPr>
            </a:pPr>
            <a:r>
              <a:t>مبتنی بر رایانش مه و لبه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371600" y="3429000"/>
            <a:ext cx="64008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5029200" y="3611880"/>
          <a:ext cx="3657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</a:tblGrid>
              <a:tr h="426720"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دانشجو: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[نام دانشجو]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استاد راهنما: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[نام استاد]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دانشگاه: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[نام دانشگاه]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دانشکده: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[نام دانشکده]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تاریخ دفاع: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FFFFFF"/>
                          </a:solidFill>
                        </a:defRPr>
                      </a:pPr>
                      <a:r>
                        <a:t>۱۴۰۴/۱۱/۱۸</a:t>
                      </a:r>
                    </a:p>
                  </a:txBody>
                  <a:tcPr>
                    <a:noFill/>
                    <a:lnL w="6350" cap="flat" cmpd="sng">
                      <a:solidFill>
                        <a:srgbClr val="FFFFFF"/>
                      </a:solidFill>
                      <a:prstDash val="solid"/>
                    </a:lnL>
                    <a:lnR w="6350" cap="flat" cmpd="sng">
                      <a:solidFill>
                        <a:srgbClr val="FFFFFF"/>
                      </a:solidFill>
                      <a:prstDash val="solid"/>
                    </a:lnR>
                    <a:lnT w="6350" cap="flat" cmpd="sng">
                      <a:solidFill>
                        <a:srgbClr val="FFFFFF"/>
                      </a:solidFill>
                      <a:prstDash val="solid"/>
                    </a:lnT>
                    <a:lnB w="6350" cap="flat" cmpd="sng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5760720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0" y="5916168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6071616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6227064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6382512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6537960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6693408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74320" y="182880"/>
            <a:ext cx="8595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انگیزه و چالش‌ها: شکاف میان داده و منابع</a:t>
            </a:r>
          </a:p>
        </p:txBody>
      </p:sp>
      <p:sp>
        <p:nvSpPr>
          <p:cNvPr id="10" name="Smiley Face 9"/>
          <p:cNvSpPr/>
          <p:nvPr/>
        </p:nvSpPr>
        <p:spPr>
          <a:xfrm>
            <a:off x="274320" y="914400"/>
            <a:ext cx="3657600" cy="2560320"/>
          </a:xfrm>
          <a:prstGeom prst="smileyFace">
            <a:avLst/>
          </a:prstGeom>
          <a:solidFill>
            <a:srgbClr val="004D66"/>
          </a:solidFill>
          <a:ln w="317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انفجار داده IoT</a:t>
            </a:r>
          </a:p>
          <a:p>
            <a:pPr algn="ctr">
              <a:defRPr sz="900">
                <a:solidFill>
                  <a:srgbClr val="00D9FF"/>
                </a:solidFill>
                <a:latin typeface="Courier New"/>
              </a:defRPr>
            </a:pPr>
            <a:r>
              <a:t>01101001  10110100</a:t>
            </a:r>
            <a:br/>
            <a:r>
              <a:t>11010010  01001011</a:t>
            </a:r>
            <a:br/>
            <a:r>
              <a:t>10011101  11000101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749039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▸  رشد داده‌ها:</a:t>
            </a:r>
          </a:p>
          <a:p>
            <a:pPr>
              <a:defRPr sz="1300">
                <a:solidFill>
                  <a:srgbClr val="00D9FF"/>
                </a:solidFill>
              </a:defRPr>
            </a:pPr>
            <a:r>
              <a:t>    44 زتابایت (2020)  ⟹  175 زتابایت (2025)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▸  نیاز به پاسخ آنی (10–50 میلی‌ثانیه)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914400"/>
            <a:ext cx="27432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760720" y="1645920"/>
            <a:ext cx="2011680" cy="1280160"/>
          </a:xfrm>
          <a:prstGeom prst="round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93852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96328" y="193852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271576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96328" y="2715768"/>
            <a:ext cx="146304" cy="1463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1874519"/>
            <a:ext cx="914400" cy="502920"/>
          </a:xfrm>
          <a:prstGeom prst="roundRect">
            <a:avLst/>
          </a:prstGeom>
          <a:solidFill>
            <a:srgbClr val="FF6B35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⚡ باتری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310896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فقر منابع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49039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▸  باتری محدود پهپاد</a:t>
            </a:r>
          </a:p>
          <a:p>
            <a:pPr>
              <a:defRPr sz="1300">
                <a:solidFill>
                  <a:srgbClr val="FF6B35"/>
                </a:solidFill>
              </a:defRPr>
            </a:pPr>
            <a:r>
              <a:t>    (5000 میلی‌آمپر)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▸  محدودیت پوشش در مناطق بحرانی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5394960"/>
            <a:ext cx="7315200" cy="685800"/>
          </a:xfrm>
          <a:prstGeom prst="roundRect">
            <a:avLst/>
          </a:prstGeom>
          <a:solidFill>
            <a:srgbClr val="1E3A5F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💡  راه‌حل: استفاده از پهپادها به عنوان سرورهای لبه متحرک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A1628"/>
            </a:gs>
            <a:gs pos="100000">
              <a:srgbClr val="1A294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66847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88720" y="98300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0" y="166886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834640" y="152671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293468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480560" y="277072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336182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0" y="115289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49440" y="207181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99613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95360" y="151416"/>
            <a:ext cx="64008" cy="64008"/>
          </a:xfrm>
          <a:prstGeom prst="rect">
            <a:avLst/>
          </a:prstGeom>
          <a:solidFill>
            <a:srgbClr val="00D9FF"/>
          </a:solidFill>
          <a:ln w="6350">
            <a:solidFill>
              <a:srgbClr val="00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 flipV="1">
            <a:off x="397764" y="130304"/>
            <a:ext cx="822960" cy="168547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220724" y="130304"/>
            <a:ext cx="822960" cy="68586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2043684" y="184675"/>
            <a:ext cx="822960" cy="14215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66644" y="184675"/>
            <a:ext cx="822960" cy="140797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3689604" y="309076"/>
            <a:ext cx="822960" cy="16396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512564" y="309076"/>
            <a:ext cx="822960" cy="59110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335524" y="147293"/>
            <a:ext cx="822960" cy="220893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158484" y="147293"/>
            <a:ext cx="822960" cy="91892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981444" y="131617"/>
            <a:ext cx="822960" cy="107568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04404" y="131617"/>
            <a:ext cx="822960" cy="51803"/>
          </a:xfrm>
          <a:prstGeom prst="line">
            <a:avLst/>
          </a:prstGeom>
          <a:ln w="9525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397764" y="198890"/>
            <a:ext cx="1645920" cy="99961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043684" y="198890"/>
            <a:ext cx="1645920" cy="126582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89604" y="325472"/>
            <a:ext cx="1645920" cy="42714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335524" y="239185"/>
            <a:ext cx="1645920" cy="129001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981444" y="183420"/>
            <a:ext cx="1645920" cy="55765"/>
          </a:xfrm>
          <a:prstGeom prst="line">
            <a:avLst/>
          </a:prstGeom>
          <a:ln w="508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0" y="5760720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5916168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0" y="6071616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0" y="6227064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6382512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0" y="6537960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0" y="6693408"/>
            <a:ext cx="9144000" cy="0"/>
          </a:xfrm>
          <a:prstGeom prst="line">
            <a:avLst/>
          </a:prstGeom>
          <a:ln w="7620">
            <a:solidFill>
              <a:srgbClr val="00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  اهداف تحقیق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1143000"/>
            <a:ext cx="36576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1371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9FF"/>
                </a:solidFill>
              </a:defRPr>
            </a:pPr>
            <a:r>
              <a:t>هدف اصلی:</a:t>
            </a:r>
          </a:p>
          <a:p>
            <a:pPr algn="r">
              <a:defRPr sz="1500">
                <a:solidFill>
                  <a:srgbClr val="FFFFFF"/>
                </a:solidFill>
              </a:defRPr>
            </a:pPr>
            <a:r>
              <a:t>طراحی سیستم بهینه‌سازی تخلیه محاسباتی برای شبکه‌های پهپادی</a:t>
            </a:r>
            <a:br/>
            <a:r>
              <a:t>با استفاده از یادگیری تقویتی عمیق چندعاملی (MADRL)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214884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00D9FF"/>
                </a:solidFill>
              </a:defRPr>
            </a:pPr>
            <a:r>
              <a:t>اهداف فرعی: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271576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1️⃣ کاهش تأخیر پردازش وظایف در شبکه‌های پهپادی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3282696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2️⃣ بهینه‌سازی مصرف انرژی پهپادها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3849624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3️⃣ افزایش نرخ موفقیت انجام وظایف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416552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FFFFFF"/>
                </a:solidFill>
              </a:defRPr>
            </a:pPr>
            <a:r>
              <a:t>4️⃣ تضمین انصاف در دسترسی به منابع محاسباتی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